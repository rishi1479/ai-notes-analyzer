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2"/>
  </p:notesMasterIdLst>
  <p:sldIdLst>
    <p:sldId id="338" r:id="rId2"/>
    <p:sldId id="342" r:id="rId3"/>
    <p:sldId id="343" r:id="rId4"/>
    <p:sldId id="344" r:id="rId5"/>
    <p:sldId id="345" r:id="rId6"/>
    <p:sldId id="340" r:id="rId7"/>
    <p:sldId id="256" r:id="rId8"/>
    <p:sldId id="257" r:id="rId9"/>
    <p:sldId id="258" r:id="rId10"/>
    <p:sldId id="349" r:id="rId11"/>
    <p:sldId id="347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346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288" r:id="rId43"/>
    <p:sldId id="289" r:id="rId44"/>
    <p:sldId id="290" r:id="rId45"/>
    <p:sldId id="291" r:id="rId46"/>
    <p:sldId id="292" r:id="rId47"/>
    <p:sldId id="293" r:id="rId48"/>
    <p:sldId id="294" r:id="rId49"/>
    <p:sldId id="295" r:id="rId50"/>
    <p:sldId id="296" r:id="rId51"/>
    <p:sldId id="297" r:id="rId52"/>
    <p:sldId id="298" r:id="rId53"/>
    <p:sldId id="299" r:id="rId54"/>
    <p:sldId id="300" r:id="rId55"/>
    <p:sldId id="301" r:id="rId56"/>
    <p:sldId id="302" r:id="rId57"/>
    <p:sldId id="303" r:id="rId58"/>
    <p:sldId id="304" r:id="rId59"/>
    <p:sldId id="305" r:id="rId60"/>
    <p:sldId id="306" r:id="rId61"/>
    <p:sldId id="307" r:id="rId62"/>
    <p:sldId id="308" r:id="rId63"/>
    <p:sldId id="309" r:id="rId64"/>
    <p:sldId id="310" r:id="rId65"/>
    <p:sldId id="311" r:id="rId66"/>
    <p:sldId id="312" r:id="rId67"/>
    <p:sldId id="313" r:id="rId68"/>
    <p:sldId id="314" r:id="rId69"/>
    <p:sldId id="315" r:id="rId70"/>
    <p:sldId id="316" r:id="rId71"/>
    <p:sldId id="317" r:id="rId72"/>
    <p:sldId id="318" r:id="rId73"/>
    <p:sldId id="319" r:id="rId74"/>
    <p:sldId id="350" r:id="rId75"/>
    <p:sldId id="320" r:id="rId76"/>
    <p:sldId id="321" r:id="rId77"/>
    <p:sldId id="322" r:id="rId78"/>
    <p:sldId id="323" r:id="rId79"/>
    <p:sldId id="324" r:id="rId80"/>
    <p:sldId id="325" r:id="rId81"/>
    <p:sldId id="326" r:id="rId82"/>
    <p:sldId id="327" r:id="rId83"/>
    <p:sldId id="328" r:id="rId84"/>
    <p:sldId id="329" r:id="rId85"/>
    <p:sldId id="330" r:id="rId86"/>
    <p:sldId id="331" r:id="rId87"/>
    <p:sldId id="332" r:id="rId88"/>
    <p:sldId id="333" r:id="rId89"/>
    <p:sldId id="334" r:id="rId90"/>
    <p:sldId id="335" r:id="rId91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80DFB5-7DB7-4F12-9765-CEB5F49B5CE1}" v="4" dt="2025-12-29T04:53:59.24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>
      <p:cViewPr varScale="1">
        <p:scale>
          <a:sx n="55" d="100"/>
          <a:sy n="55" d="100"/>
        </p:scale>
        <p:origin x="1624" y="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heme" Target="theme/theme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microsoft.com/office/2015/10/relationships/revisionInfo" Target="revisionInfo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147D38-9783-4D3F-B63C-181D5D52A9FF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F9851C-5B1C-454A-B462-6D8D51A764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7158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>
            <a:extLst>
              <a:ext uri="{FF2B5EF4-FFF2-40B4-BE49-F238E27FC236}">
                <a16:creationId xmlns:a16="http://schemas.microsoft.com/office/drawing/2014/main" id="{BBF30C7C-F0CC-A028-F8AE-89CBB6DF4D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98A1A41-0557-4722-AD25-F9F4600B0793}" type="slidenum">
              <a:rPr lang="en-US" altLang="en-US" smtClean="0"/>
              <a:pPr/>
              <a:t>1</a:t>
            </a:fld>
            <a:endParaRPr lang="en-US" altLang="en-US"/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CCF7DD1E-C7DE-466C-02A0-34A4BBD5BB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41438" y="915988"/>
            <a:ext cx="4176712" cy="3132137"/>
          </a:xfrm>
          <a:solidFill>
            <a:srgbClr val="FFFFFF"/>
          </a:solidFill>
          <a:ln/>
        </p:spPr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F896FD88-B1F0-66E5-9344-23CDC78355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6163" y="4352925"/>
            <a:ext cx="4770437" cy="34766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33339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33339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33339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33339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A68F175-C94F-1675-97E3-F20D0E9C454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5C87FCC-8733-5D67-B692-4B77ED05196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EC3DBE7-3056-8D91-952C-2FEB70E13F0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C5F798-7A26-4321-823F-B34855E400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459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940" y="333882"/>
            <a:ext cx="8072119" cy="10013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33339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5140" y="1625853"/>
            <a:ext cx="7920990" cy="3684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A35B7DC0-51DD-2018-E9EC-846EDF2656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228599" y="781050"/>
            <a:ext cx="9024938" cy="1111073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marL="1185863" defTabSz="414338" eaLnBrk="1">
              <a:lnSpc>
                <a:spcPct val="95000"/>
              </a:lnSpc>
              <a:buClr>
                <a:srgbClr val="000000"/>
              </a:buClr>
              <a:buSzPct val="45000"/>
              <a:buFont typeface="StarSymbol" charset="0"/>
              <a:buNone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  <a:tab pos="5910263" algn="l"/>
                <a:tab pos="6565900" algn="l"/>
                <a:tab pos="7223125" algn="l"/>
              </a:tabLst>
            </a:pPr>
            <a:r>
              <a:rPr lang="en-US" altLang="en-US" sz="4000" b="1" dirty="0">
                <a:solidFill>
                  <a:srgbClr val="E4005C"/>
                </a:solidFill>
              </a:rPr>
              <a:t>Design and Analysis of </a:t>
            </a:r>
            <a:r>
              <a:rPr lang="en-US" altLang="en-US" b="1" dirty="0">
                <a:solidFill>
                  <a:srgbClr val="E4005C"/>
                </a:solidFill>
              </a:rPr>
              <a:t>Algorithms</a:t>
            </a:r>
            <a:endParaRPr lang="en-GB" altLang="en-US" b="1" dirty="0">
              <a:solidFill>
                <a:srgbClr val="E4005C"/>
              </a:solidFill>
            </a:endParaRP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45CDC84F-0FC2-C786-9BB3-8B1E8F44961D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701675" y="1567792"/>
            <a:ext cx="7807325" cy="3232808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ctr" defTabSz="457200" eaLnBrk="1" hangingPunct="1">
              <a:lnSpc>
                <a:spcPct val="75000"/>
              </a:lnSpc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endParaRPr lang="en-GB" altLang="en-US" sz="3500" b="1" dirty="0">
              <a:solidFill>
                <a:srgbClr val="800080"/>
              </a:solidFill>
            </a:endParaRPr>
          </a:p>
          <a:p>
            <a:pPr algn="ctr" defTabSz="457200" eaLnBrk="1" hangingPunct="1">
              <a:lnSpc>
                <a:spcPct val="75000"/>
              </a:lnSpc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endParaRPr lang="en-GB" altLang="en-US" sz="3500" b="1" dirty="0">
              <a:solidFill>
                <a:srgbClr val="800080"/>
              </a:solidFill>
            </a:endParaRPr>
          </a:p>
          <a:p>
            <a:pPr algn="ctr" defTabSz="457200" eaLnBrk="1" hangingPunct="1">
              <a:lnSpc>
                <a:spcPct val="75000"/>
              </a:lnSpc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endParaRPr lang="en-GB" altLang="en-US" sz="3500" b="1" dirty="0">
              <a:solidFill>
                <a:srgbClr val="800080"/>
              </a:solidFill>
            </a:endParaRPr>
          </a:p>
          <a:p>
            <a:pPr algn="ctr" defTabSz="457200" eaLnBrk="1" hangingPunct="1">
              <a:lnSpc>
                <a:spcPct val="75000"/>
              </a:lnSpc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endParaRPr lang="en-GB" altLang="en-US" sz="3500" b="1" dirty="0">
              <a:solidFill>
                <a:srgbClr val="800080"/>
              </a:solidFill>
            </a:endParaRPr>
          </a:p>
          <a:p>
            <a:pPr algn="ctr" defTabSz="457200" eaLnBrk="1" hangingPunct="1">
              <a:lnSpc>
                <a:spcPct val="75000"/>
              </a:lnSpc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endParaRPr lang="en-GB" altLang="en-US" sz="3500" b="1" dirty="0">
              <a:solidFill>
                <a:srgbClr val="800080"/>
              </a:solidFill>
            </a:endParaRPr>
          </a:p>
          <a:p>
            <a:pPr algn="ctr" defTabSz="457200" eaLnBrk="1" hangingPunct="1">
              <a:lnSpc>
                <a:spcPct val="75000"/>
              </a:lnSpc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endParaRPr lang="en-GB" altLang="en-US" sz="3500" b="1" dirty="0">
              <a:solidFill>
                <a:srgbClr val="800080"/>
              </a:solidFill>
            </a:endParaRPr>
          </a:p>
          <a:p>
            <a:pPr algn="ctr" defTabSz="457200" eaLnBrk="1" hangingPunct="1">
              <a:lnSpc>
                <a:spcPct val="75000"/>
              </a:lnSpc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endParaRPr lang="en-GB" altLang="en-US" sz="3500" b="1" dirty="0">
              <a:solidFill>
                <a:srgbClr val="800080"/>
              </a:solidFill>
            </a:endParaRPr>
          </a:p>
          <a:p>
            <a:pPr algn="ctr" defTabSz="457200" eaLnBrk="1" hangingPunct="1">
              <a:lnSpc>
                <a:spcPct val="75000"/>
              </a:lnSpc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en-GB" altLang="en-US" sz="3500" b="1" dirty="0">
                <a:solidFill>
                  <a:srgbClr val="800080"/>
                </a:solidFill>
              </a:rPr>
              <a:t>  </a:t>
            </a:r>
          </a:p>
        </p:txBody>
      </p:sp>
      <p:sp>
        <p:nvSpPr>
          <p:cNvPr id="3076" name="AutoShape 4">
            <a:extLst>
              <a:ext uri="{FF2B5EF4-FFF2-40B4-BE49-F238E27FC236}">
                <a16:creationId xmlns:a16="http://schemas.microsoft.com/office/drawing/2014/main" id="{0C01692E-97AC-B9DB-C7D1-FD9BD8A23C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565150"/>
          </a:xfrm>
          <a:prstGeom prst="roundRect">
            <a:avLst>
              <a:gd name="adj" fmla="val 255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IN" altLang="en-US" sz="1800"/>
          </a:p>
        </p:txBody>
      </p:sp>
      <p:sp>
        <p:nvSpPr>
          <p:cNvPr id="3077" name="AutoShape 5">
            <a:extLst>
              <a:ext uri="{FF2B5EF4-FFF2-40B4-BE49-F238E27FC236}">
                <a16:creationId xmlns:a16="http://schemas.microsoft.com/office/drawing/2014/main" id="{31E68DFF-993F-CC3B-85A9-A120B0A49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13" y="1481138"/>
            <a:ext cx="247650" cy="249237"/>
          </a:xfrm>
          <a:prstGeom prst="roundRect">
            <a:avLst>
              <a:gd name="adj" fmla="val 579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IN" altLang="en-US" sz="1800"/>
          </a:p>
        </p:txBody>
      </p:sp>
      <p:sp>
        <p:nvSpPr>
          <p:cNvPr id="3078" name="AutoShape 6">
            <a:extLst>
              <a:ext uri="{FF2B5EF4-FFF2-40B4-BE49-F238E27FC236}">
                <a16:creationId xmlns:a16="http://schemas.microsoft.com/office/drawing/2014/main" id="{4D0A49F0-BD4D-362B-5EA2-4368456270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538" y="1604963"/>
            <a:ext cx="247650" cy="247650"/>
          </a:xfrm>
          <a:prstGeom prst="roundRect">
            <a:avLst>
              <a:gd name="adj" fmla="val 579"/>
            </a:avLst>
          </a:prstGeom>
          <a:solidFill>
            <a:srgbClr val="00B8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IN" altLang="en-US" sz="1800"/>
          </a:p>
        </p:txBody>
      </p:sp>
      <p:sp>
        <p:nvSpPr>
          <p:cNvPr id="3079" name="AutoShape 7">
            <a:extLst>
              <a:ext uri="{FF2B5EF4-FFF2-40B4-BE49-F238E27FC236}">
                <a16:creationId xmlns:a16="http://schemas.microsoft.com/office/drawing/2014/main" id="{E404DE2D-1AC3-E1F7-B6E3-CA504DB92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9963" y="1828800"/>
            <a:ext cx="7407275" cy="34925"/>
          </a:xfrm>
          <a:prstGeom prst="roundRect">
            <a:avLst>
              <a:gd name="adj" fmla="val 4167"/>
            </a:avLst>
          </a:prstGeom>
          <a:gradFill rotWithShape="0">
            <a:gsLst>
              <a:gs pos="0">
                <a:srgbClr val="800080"/>
              </a:gs>
              <a:gs pos="100000">
                <a:srgbClr val="008000"/>
              </a:gs>
            </a:gsLst>
            <a:lin ang="9000000" scaled="1"/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IN" altLang="en-US" sz="1800"/>
          </a:p>
        </p:txBody>
      </p:sp>
      <p:sp>
        <p:nvSpPr>
          <p:cNvPr id="3080" name="Rectangle 9">
            <a:extLst>
              <a:ext uri="{FF2B5EF4-FFF2-40B4-BE49-F238E27FC236}">
                <a16:creationId xmlns:a16="http://schemas.microsoft.com/office/drawing/2014/main" id="{939CC8D9-32F9-B7E2-0705-E15F3C1C4B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5434013"/>
            <a:ext cx="7807325" cy="55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marL="342900" indent="-342900" defTabSz="457200">
              <a:spcBef>
                <a:spcPct val="20000"/>
              </a:spcBef>
              <a:buChar char="•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57200">
              <a:spcBef>
                <a:spcPct val="20000"/>
              </a:spcBef>
              <a:buChar char="–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57200">
              <a:spcBef>
                <a:spcPct val="20000"/>
              </a:spcBef>
              <a:buChar char="•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57200">
              <a:spcBef>
                <a:spcPct val="20000"/>
              </a:spcBef>
              <a:buChar char="–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57200">
              <a:spcBef>
                <a:spcPct val="20000"/>
              </a:spcBef>
              <a:buChar char="»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75000"/>
              </a:lnSpc>
              <a:buFontTx/>
              <a:buNone/>
            </a:pPr>
            <a:endParaRPr lang="en-GB" altLang="en-US" sz="1800" b="1" dirty="0">
              <a:solidFill>
                <a:srgbClr val="800080"/>
              </a:solidFill>
            </a:endParaRPr>
          </a:p>
          <a:p>
            <a:pPr algn="ctr" eaLnBrk="1" hangingPunct="1">
              <a:lnSpc>
                <a:spcPct val="75000"/>
              </a:lnSpc>
              <a:buFontTx/>
              <a:buNone/>
            </a:pPr>
            <a:endParaRPr lang="en-GB" altLang="en-US" sz="1800" b="1" dirty="0">
              <a:solidFill>
                <a:srgbClr val="800080"/>
              </a:solidFill>
            </a:endParaRPr>
          </a:p>
          <a:p>
            <a:pPr algn="ctr" eaLnBrk="1" hangingPunct="1">
              <a:lnSpc>
                <a:spcPct val="75000"/>
              </a:lnSpc>
              <a:buFontTx/>
              <a:buNone/>
            </a:pPr>
            <a:endParaRPr lang="en-GB" altLang="en-US" sz="1800" b="1" dirty="0">
              <a:solidFill>
                <a:srgbClr val="800080"/>
              </a:solidFill>
            </a:endParaRPr>
          </a:p>
          <a:p>
            <a:pPr eaLnBrk="1" hangingPunct="1">
              <a:buFontTx/>
              <a:buNone/>
            </a:pPr>
            <a:r>
              <a:rPr lang="en-GB" altLang="en-US" sz="2400" b="1" dirty="0">
                <a:solidFill>
                  <a:srgbClr val="800080"/>
                </a:solidFill>
              </a:rPr>
              <a:t>Dr. D. Sudha</a:t>
            </a:r>
          </a:p>
          <a:p>
            <a:pPr eaLnBrk="1" hangingPunct="1">
              <a:buFontTx/>
              <a:buNone/>
            </a:pPr>
            <a:r>
              <a:rPr lang="en-GB" altLang="en-US" sz="1800" b="1" dirty="0">
                <a:solidFill>
                  <a:srgbClr val="800080"/>
                </a:solidFill>
              </a:rPr>
              <a:t>Assistant professor</a:t>
            </a:r>
          </a:p>
          <a:p>
            <a:pPr eaLnBrk="1" hangingPunct="1">
              <a:buFontTx/>
              <a:buNone/>
            </a:pPr>
            <a:r>
              <a:rPr lang="en-GB" altLang="en-US" sz="1800" b="1" dirty="0">
                <a:solidFill>
                  <a:srgbClr val="800080"/>
                </a:solidFill>
              </a:rPr>
              <a:t>Department of CSE</a:t>
            </a:r>
          </a:p>
          <a:p>
            <a:pPr eaLnBrk="1" hangingPunct="1">
              <a:buFontTx/>
              <a:buNone/>
            </a:pPr>
            <a:r>
              <a:rPr lang="en-GB" altLang="en-US" sz="1800" b="1" dirty="0">
                <a:solidFill>
                  <a:srgbClr val="800080"/>
                </a:solidFill>
              </a:rPr>
              <a:t>Kakatiya Institute of Technology</a:t>
            </a:r>
          </a:p>
          <a:p>
            <a:pPr eaLnBrk="1" hangingPunct="1">
              <a:buFontTx/>
              <a:buNone/>
            </a:pPr>
            <a:r>
              <a:rPr lang="en-GB" altLang="en-US" sz="1800" b="1" dirty="0">
                <a:solidFill>
                  <a:srgbClr val="800080"/>
                </a:solidFill>
              </a:rPr>
              <a:t>Warangal, INDIA</a:t>
            </a:r>
            <a:r>
              <a:rPr lang="en-GB" altLang="en-US" sz="2000" b="1" dirty="0">
                <a:solidFill>
                  <a:srgbClr val="800080"/>
                </a:solidFill>
                <a:latin typeface="Times" panose="02020603050405020304" pitchFamily="18" charset="0"/>
              </a:rPr>
              <a:t> </a:t>
            </a:r>
          </a:p>
          <a:p>
            <a:pPr algn="ctr" eaLnBrk="1" hangingPunct="1">
              <a:lnSpc>
                <a:spcPct val="75000"/>
              </a:lnSpc>
              <a:buFontTx/>
              <a:buNone/>
            </a:pPr>
            <a:endParaRPr lang="en-GB" altLang="en-US" sz="2000" b="1" dirty="0">
              <a:solidFill>
                <a:srgbClr val="800080"/>
              </a:solidFill>
              <a:latin typeface="Times" panose="02020603050405020304" pitchFamily="18" charset="0"/>
            </a:endParaRPr>
          </a:p>
          <a:p>
            <a:pPr algn="ctr" eaLnBrk="1" hangingPunct="1">
              <a:lnSpc>
                <a:spcPct val="75000"/>
              </a:lnSpc>
              <a:buFontTx/>
              <a:buNone/>
            </a:pPr>
            <a:r>
              <a:rPr lang="en-US" altLang="en-US" sz="1400" dirty="0">
                <a:solidFill>
                  <a:srgbClr val="000066"/>
                </a:solidFill>
              </a:rPr>
              <a:t>(Ph : 2597371, Email : navi@iitk.ac.in)</a:t>
            </a:r>
            <a:endParaRPr lang="en-GB" altLang="en-US" sz="2000" b="1" dirty="0">
              <a:solidFill>
                <a:srgbClr val="800080"/>
              </a:solidFill>
              <a:latin typeface="Times" panose="02020603050405020304" pitchFamily="18" charset="0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6DB46-93B5-8E01-F086-8D7730720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940" y="333882"/>
            <a:ext cx="8072119" cy="553998"/>
          </a:xfrm>
        </p:spPr>
        <p:txBody>
          <a:bodyPr/>
          <a:lstStyle/>
          <a:p>
            <a:r>
              <a:rPr lang="en-IN" dirty="0"/>
              <a:t>Syllabus: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9C6EFA-2322-220B-E493-B57FA28A1D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5140" y="1625853"/>
            <a:ext cx="7920990" cy="4062651"/>
          </a:xfrm>
        </p:spPr>
        <p:txBody>
          <a:bodyPr/>
          <a:lstStyle/>
          <a:p>
            <a:r>
              <a:rPr lang="en-IN" b="1" dirty="0"/>
              <a:t>UNIT-I </a:t>
            </a:r>
          </a:p>
          <a:p>
            <a:r>
              <a:rPr lang="en-US" b="1" dirty="0"/>
              <a:t>Introduction: </a:t>
            </a:r>
            <a:r>
              <a:rPr lang="en-US" dirty="0"/>
              <a:t>Algorithm analysis, Performance analysis, Space complexity and time complexity, Big „O‟</a:t>
            </a:r>
          </a:p>
          <a:p>
            <a:r>
              <a:rPr lang="en-US" dirty="0"/>
              <a:t>notation, Omega notation, Theta notation, Different mathematical </a:t>
            </a:r>
            <a:r>
              <a:rPr lang="en-US" dirty="0" err="1"/>
              <a:t>approach‟s</a:t>
            </a:r>
            <a:r>
              <a:rPr lang="en-US" dirty="0"/>
              <a:t> for solving time complexity of</a:t>
            </a:r>
          </a:p>
          <a:p>
            <a:r>
              <a:rPr lang="en-IN" dirty="0"/>
              <a:t>algorithms</a:t>
            </a:r>
          </a:p>
          <a:p>
            <a:r>
              <a:rPr lang="en-US" b="1" dirty="0"/>
              <a:t>Sets and Disjoint Set Union</a:t>
            </a:r>
            <a:r>
              <a:rPr lang="en-US" dirty="0"/>
              <a:t>: Introduction, Union, Find operations</a:t>
            </a:r>
          </a:p>
          <a:p>
            <a:r>
              <a:rPr lang="en-US" b="1" dirty="0"/>
              <a:t>Divide and Conquer: </a:t>
            </a:r>
            <a:r>
              <a:rPr lang="en-US" dirty="0"/>
              <a:t>General method, Binary search, Merge sort, Quick sort, </a:t>
            </a:r>
            <a:r>
              <a:rPr lang="en-US" dirty="0" err="1"/>
              <a:t>Strassen‟s</a:t>
            </a:r>
            <a:r>
              <a:rPr lang="en-US" dirty="0"/>
              <a:t> matrix multiplication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7826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776F7-A637-10F4-E894-730665688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59C2A8-C1A9-7E1C-6153-8B3DE21A34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5140" y="1625853"/>
            <a:ext cx="7920990" cy="5170646"/>
          </a:xfrm>
        </p:spPr>
        <p:txBody>
          <a:bodyPr/>
          <a:lstStyle/>
          <a:p>
            <a:r>
              <a:rPr lang="en-IN" b="1" dirty="0"/>
              <a:t>UNIT-II </a:t>
            </a:r>
          </a:p>
          <a:p>
            <a:r>
              <a:rPr lang="en-US" b="1" dirty="0"/>
              <a:t>Greedy Method: </a:t>
            </a:r>
            <a:r>
              <a:rPr lang="en-US" dirty="0"/>
              <a:t>General method, Knapsack problem, Job sequencing with deadlines, Optimal storage on</a:t>
            </a:r>
          </a:p>
          <a:p>
            <a:r>
              <a:rPr lang="en-US" dirty="0"/>
              <a:t>tapes, Optimal merge patterns, Single source shortest paths</a:t>
            </a:r>
          </a:p>
          <a:p>
            <a:r>
              <a:rPr lang="en-US" b="1" dirty="0"/>
              <a:t>Back Tracking: </a:t>
            </a:r>
            <a:r>
              <a:rPr lang="en-US" dirty="0"/>
              <a:t>General method, N-Queens problem, Sum of subsets, Graph coloring problem.</a:t>
            </a:r>
          </a:p>
          <a:p>
            <a:r>
              <a:rPr lang="en-IN" b="1" dirty="0"/>
              <a:t>UNIT-III (9)</a:t>
            </a:r>
          </a:p>
          <a:p>
            <a:r>
              <a:rPr lang="en-US" b="1" dirty="0"/>
              <a:t>Dynamic Programming: </a:t>
            </a:r>
            <a:r>
              <a:rPr lang="en-US" dirty="0"/>
              <a:t>General method, Multistage graphs, All pairs shortest paths, Single source shortest</a:t>
            </a:r>
          </a:p>
          <a:p>
            <a:r>
              <a:rPr lang="en-US" dirty="0"/>
              <a:t>paths, Optimal binary search trees, String editing, 0/1 Knapsack problem, Reliability design problem,</a:t>
            </a:r>
          </a:p>
          <a:p>
            <a:r>
              <a:rPr lang="en-IN" dirty="0"/>
              <a:t>Travelling sales person problem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1933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F7C5F-6BB9-38AB-BD87-083F98CBC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2DA5A4-DA75-485F-395D-284B9E2FB7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5140" y="1625853"/>
            <a:ext cx="7920990" cy="4062651"/>
          </a:xfrm>
        </p:spPr>
        <p:txBody>
          <a:bodyPr/>
          <a:lstStyle/>
          <a:p>
            <a:r>
              <a:rPr lang="en-IN" b="1" dirty="0"/>
              <a:t>UNIT-IV (9)</a:t>
            </a:r>
          </a:p>
          <a:p>
            <a:r>
              <a:rPr lang="en-US" b="1" dirty="0"/>
              <a:t>Branch and Bound: </a:t>
            </a:r>
            <a:r>
              <a:rPr lang="en-US" dirty="0"/>
              <a:t>General method, Least cost (LC) search, The 15-puzzle problem, Control abstractions for</a:t>
            </a:r>
          </a:p>
          <a:p>
            <a:r>
              <a:rPr lang="en-IN" dirty="0"/>
              <a:t>LC search, 0/1 Knapsack problem, Travelling sales person problem</a:t>
            </a:r>
          </a:p>
          <a:p>
            <a:r>
              <a:rPr lang="en-US" b="1" dirty="0"/>
              <a:t>NP Hard and NP Complete Problems</a:t>
            </a:r>
            <a:r>
              <a:rPr lang="en-US" dirty="0"/>
              <a:t>: Basic concepts - Nondeterministic algorithms, The classes NP hard and</a:t>
            </a:r>
          </a:p>
          <a:p>
            <a:r>
              <a:rPr lang="en-US" dirty="0"/>
              <a:t>NP complete; COOK‟s theorem, NP hard graph problems - Clique decision problem, Node cover decision</a:t>
            </a:r>
          </a:p>
          <a:p>
            <a:r>
              <a:rPr lang="en-IN" dirty="0"/>
              <a:t>problem, Traveling sales person decision problem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2149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1ED26-4414-707C-5D50-F4D8652DC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D06EED-3D0E-DA67-3476-3B938B6C7F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5140" y="1625853"/>
            <a:ext cx="7920990" cy="2585323"/>
          </a:xfrm>
        </p:spPr>
        <p:txBody>
          <a:bodyPr/>
          <a:lstStyle/>
          <a:p>
            <a:r>
              <a:rPr lang="en-IN" b="1" dirty="0"/>
              <a:t>Text Book:</a:t>
            </a:r>
          </a:p>
          <a:p>
            <a:endParaRPr lang="en-IN" b="1" dirty="0"/>
          </a:p>
          <a:p>
            <a:endParaRPr lang="en-IN" b="1" dirty="0"/>
          </a:p>
          <a:p>
            <a:r>
              <a:rPr lang="en-IN" dirty="0"/>
              <a:t>[1] </a:t>
            </a:r>
            <a:r>
              <a:rPr lang="en-IN" dirty="0" err="1"/>
              <a:t>E.</a:t>
            </a:r>
            <a:r>
              <a:rPr lang="en-IN" b="1" dirty="0" err="1"/>
              <a:t>Horowitz</a:t>
            </a:r>
            <a:r>
              <a:rPr lang="en-IN" b="1" dirty="0"/>
              <a:t>, </a:t>
            </a:r>
            <a:r>
              <a:rPr lang="en-IN" dirty="0" err="1"/>
              <a:t>S.Sahni</a:t>
            </a:r>
            <a:r>
              <a:rPr lang="en-IN" dirty="0"/>
              <a:t>, </a:t>
            </a:r>
            <a:r>
              <a:rPr lang="en-IN" dirty="0" err="1"/>
              <a:t>S.Rajasekaran</a:t>
            </a:r>
            <a:r>
              <a:rPr lang="en-IN" dirty="0"/>
              <a:t>, </a:t>
            </a:r>
            <a:r>
              <a:rPr lang="en-IN" b="1" i="1" dirty="0"/>
              <a:t>Fundamentals of Computer Algorithms,</a:t>
            </a:r>
            <a:r>
              <a:rPr lang="en-IN" i="1" dirty="0"/>
              <a:t> </a:t>
            </a:r>
            <a:r>
              <a:rPr lang="en-IN" dirty="0"/>
              <a:t>2nd ed</a:t>
            </a:r>
            <a:r>
              <a:rPr lang="en-IN" i="1" dirty="0"/>
              <a:t>. </a:t>
            </a:r>
            <a:r>
              <a:rPr lang="en-IN" dirty="0"/>
              <a:t>Hyderabad: Universities</a:t>
            </a:r>
          </a:p>
          <a:p>
            <a:r>
              <a:rPr lang="en-IN" dirty="0"/>
              <a:t>Press, 2018</a:t>
            </a:r>
          </a:p>
        </p:txBody>
      </p:sp>
    </p:spTree>
    <p:extLst>
      <p:ext uri="{BB962C8B-B14F-4D97-AF65-F5344CB8AC3E}">
        <p14:creationId xmlns:p14="http://schemas.microsoft.com/office/powerpoint/2010/main" val="662812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C2481-DAE1-1A10-AF72-DC3400115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13DB463-E9B7-C125-7163-021FAD3765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63164" y="781557"/>
            <a:ext cx="5614036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4400" spc="-10" dirty="0">
                <a:solidFill>
                  <a:srgbClr val="FF0000"/>
                </a:solidFill>
              </a:rPr>
              <a:t>Course Outcomes</a:t>
            </a:r>
            <a:endParaRPr sz="440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421E068-53E4-3B49-9F9B-4F0AA0AFE7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85140" y="1625853"/>
            <a:ext cx="7920990" cy="4335033"/>
          </a:xfrm>
          <a:prstGeom prst="rect">
            <a:avLst/>
          </a:prstGeom>
        </p:spPr>
        <p:txBody>
          <a:bodyPr vert="horz" wrap="square" lIns="0" tIns="513588" rIns="0" bIns="0" rtlCol="0">
            <a:spAutoFit/>
          </a:bodyPr>
          <a:lstStyle/>
          <a:p>
            <a:r>
              <a:rPr lang="en-US" i="1" dirty="0"/>
              <a:t>CO1: apply </a:t>
            </a:r>
            <a:r>
              <a:rPr lang="en-US" b="1" i="1" dirty="0"/>
              <a:t>divide and conquer strategy </a:t>
            </a:r>
            <a:r>
              <a:rPr lang="en-US" i="1" dirty="0"/>
              <a:t>for searching and sorting techniques with</a:t>
            </a:r>
          </a:p>
          <a:p>
            <a:r>
              <a:rPr lang="en-IN" i="1" dirty="0"/>
              <a:t>performance</a:t>
            </a:r>
          </a:p>
          <a:p>
            <a:r>
              <a:rPr lang="en-US" i="1" dirty="0"/>
              <a:t>CO2: analyze algorithms using </a:t>
            </a:r>
            <a:r>
              <a:rPr lang="en-US" b="1" i="1" dirty="0"/>
              <a:t>greedy and backtracking methods</a:t>
            </a:r>
          </a:p>
          <a:p>
            <a:r>
              <a:rPr lang="en-US" i="1" dirty="0"/>
              <a:t>CO3</a:t>
            </a:r>
            <a:r>
              <a:rPr lang="en-US" dirty="0"/>
              <a:t>: </a:t>
            </a:r>
            <a:r>
              <a:rPr lang="en-US" i="1" dirty="0"/>
              <a:t>design of algorithms using </a:t>
            </a:r>
            <a:r>
              <a:rPr lang="en-US" b="1" i="1" dirty="0"/>
              <a:t>dynamic programming approach</a:t>
            </a:r>
          </a:p>
          <a:p>
            <a:r>
              <a:rPr lang="en-US" i="1" dirty="0"/>
              <a:t>CO4: evaluate the classes </a:t>
            </a:r>
            <a:r>
              <a:rPr lang="en-US" b="1" i="1" dirty="0"/>
              <a:t>P, NP ,NP-Hard and NP-Complete</a:t>
            </a:r>
          </a:p>
          <a:p>
            <a:endParaRPr sz="3200" b="1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25730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63164" y="781557"/>
            <a:ext cx="42189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>
                <a:solidFill>
                  <a:srgbClr val="FF0000"/>
                </a:solidFill>
              </a:rPr>
              <a:t>Unit-</a:t>
            </a:r>
            <a:r>
              <a:rPr sz="4400" dirty="0">
                <a:solidFill>
                  <a:srgbClr val="FF0000"/>
                </a:solidFill>
              </a:rPr>
              <a:t>I</a:t>
            </a:r>
            <a:r>
              <a:rPr sz="4400" spc="65" dirty="0">
                <a:solidFill>
                  <a:srgbClr val="FF0000"/>
                </a:solidFill>
              </a:rPr>
              <a:t> </a:t>
            </a:r>
            <a:r>
              <a:rPr sz="4400" spc="-10" dirty="0">
                <a:solidFill>
                  <a:srgbClr val="FF0000"/>
                </a:solidFill>
              </a:rPr>
              <a:t>Chapter-</a:t>
            </a:r>
            <a:r>
              <a:rPr sz="4400" spc="-50" dirty="0">
                <a:solidFill>
                  <a:srgbClr val="FF0000"/>
                </a:solidFill>
              </a:rPr>
              <a:t>1</a:t>
            </a:r>
            <a:endParaRPr sz="44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13588" rIns="0" bIns="0" rtlCol="0">
            <a:spAutoFit/>
          </a:bodyPr>
          <a:lstStyle/>
          <a:p>
            <a:pPr marL="254000" algn="ctr">
              <a:lnSpc>
                <a:spcPct val="100000"/>
              </a:lnSpc>
              <a:spcBef>
                <a:spcPts val="105"/>
              </a:spcBef>
            </a:pPr>
            <a:r>
              <a:rPr sz="3200" b="1" spc="-10" dirty="0">
                <a:solidFill>
                  <a:srgbClr val="6B6BCF"/>
                </a:solidFill>
                <a:latin typeface="Arial"/>
                <a:cs typeface="Arial"/>
              </a:rPr>
              <a:t>Introduction,</a:t>
            </a:r>
            <a:endParaRPr sz="3200">
              <a:latin typeface="Arial"/>
              <a:cs typeface="Arial"/>
            </a:endParaRPr>
          </a:p>
          <a:p>
            <a:pPr marL="264795" marR="5080" algn="ctr">
              <a:lnSpc>
                <a:spcPct val="100000"/>
              </a:lnSpc>
            </a:pPr>
            <a:r>
              <a:rPr sz="3200" b="1" dirty="0">
                <a:solidFill>
                  <a:srgbClr val="6B6BCF"/>
                </a:solidFill>
                <a:latin typeface="Arial"/>
                <a:cs typeface="Arial"/>
              </a:rPr>
              <a:t>Time</a:t>
            </a:r>
            <a:r>
              <a:rPr sz="3200" b="1" spc="-45" dirty="0">
                <a:solidFill>
                  <a:srgbClr val="6B6BC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6B6BCF"/>
                </a:solidFill>
                <a:latin typeface="Arial"/>
                <a:cs typeface="Arial"/>
              </a:rPr>
              <a:t>complexity</a:t>
            </a:r>
            <a:r>
              <a:rPr sz="3200" b="1" spc="-60" dirty="0">
                <a:solidFill>
                  <a:srgbClr val="6B6BC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6B6BCF"/>
                </a:solidFill>
                <a:latin typeface="Arial"/>
                <a:cs typeface="Arial"/>
              </a:rPr>
              <a:t>&amp;</a:t>
            </a:r>
            <a:r>
              <a:rPr sz="3200" b="1" spc="-25" dirty="0">
                <a:solidFill>
                  <a:srgbClr val="6B6BC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6B6BCF"/>
                </a:solidFill>
                <a:latin typeface="Arial"/>
                <a:cs typeface="Arial"/>
              </a:rPr>
              <a:t>Space</a:t>
            </a:r>
            <a:r>
              <a:rPr sz="3200" b="1" spc="-45" dirty="0">
                <a:solidFill>
                  <a:srgbClr val="6B6BCF"/>
                </a:solidFill>
                <a:latin typeface="Arial"/>
                <a:cs typeface="Arial"/>
              </a:rPr>
              <a:t> </a:t>
            </a:r>
            <a:r>
              <a:rPr sz="3200" b="1" spc="-10" dirty="0">
                <a:solidFill>
                  <a:srgbClr val="6B6BCF"/>
                </a:solidFill>
                <a:latin typeface="Arial"/>
                <a:cs typeface="Arial"/>
              </a:rPr>
              <a:t>Complexity; </a:t>
            </a:r>
            <a:r>
              <a:rPr sz="3200" b="1" dirty="0">
                <a:solidFill>
                  <a:srgbClr val="6B6BCF"/>
                </a:solidFill>
                <a:latin typeface="Arial"/>
                <a:cs typeface="Arial"/>
              </a:rPr>
              <a:t>Asymptotic</a:t>
            </a:r>
            <a:r>
              <a:rPr sz="3200" b="1" spc="-65" dirty="0">
                <a:solidFill>
                  <a:srgbClr val="6B6BCF"/>
                </a:solidFill>
                <a:latin typeface="Arial"/>
                <a:cs typeface="Arial"/>
              </a:rPr>
              <a:t> </a:t>
            </a:r>
            <a:r>
              <a:rPr sz="3200" b="1" spc="-10" dirty="0">
                <a:solidFill>
                  <a:srgbClr val="6B6BCF"/>
                </a:solidFill>
                <a:latin typeface="Arial"/>
                <a:cs typeface="Arial"/>
              </a:rPr>
              <a:t>notations</a:t>
            </a:r>
            <a:endParaRPr sz="32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86863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77946" y="437133"/>
            <a:ext cx="238823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spc="-10" dirty="0">
                <a:solidFill>
                  <a:srgbClr val="000000"/>
                </a:solidFill>
                <a:latin typeface="Arial MT"/>
                <a:cs typeface="Arial MT"/>
              </a:rPr>
              <a:t>Algorithm</a:t>
            </a:r>
            <a:endParaRPr sz="4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2140" y="1259204"/>
            <a:ext cx="7973059" cy="23298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46100" indent="-533400">
              <a:lnSpc>
                <a:spcPct val="100000"/>
              </a:lnSpc>
              <a:spcBef>
                <a:spcPts val="95"/>
              </a:spcBef>
              <a:buChar char="•"/>
              <a:tabLst>
                <a:tab pos="546100" algn="l"/>
              </a:tabLst>
            </a:pPr>
            <a:r>
              <a:rPr sz="2800" spc="-10" dirty="0">
                <a:latin typeface="Arial MT"/>
                <a:cs typeface="Arial MT"/>
              </a:rPr>
              <a:t>Definition</a:t>
            </a:r>
            <a:endParaRPr sz="2800">
              <a:latin typeface="Arial MT"/>
              <a:cs typeface="Arial MT"/>
            </a:endParaRPr>
          </a:p>
          <a:p>
            <a:pPr marL="546100" marR="356235">
              <a:lnSpc>
                <a:spcPct val="100000"/>
              </a:lnSpc>
            </a:pPr>
            <a:r>
              <a:rPr sz="2800" dirty="0">
                <a:latin typeface="Arial MT"/>
                <a:cs typeface="Arial MT"/>
              </a:rPr>
              <a:t>An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i="1" dirty="0">
                <a:solidFill>
                  <a:srgbClr val="CC3300"/>
                </a:solidFill>
                <a:latin typeface="Arial"/>
                <a:cs typeface="Arial"/>
              </a:rPr>
              <a:t>algorithm</a:t>
            </a:r>
            <a:r>
              <a:rPr sz="2800" i="1" spc="-30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finite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set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instructions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that </a:t>
            </a:r>
            <a:r>
              <a:rPr sz="2800" dirty="0">
                <a:latin typeface="Arial MT"/>
                <a:cs typeface="Arial MT"/>
              </a:rPr>
              <a:t>accomplishes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particular</a:t>
            </a:r>
            <a:r>
              <a:rPr sz="2800" spc="-11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task.</a:t>
            </a:r>
            <a:endParaRPr sz="2800">
              <a:latin typeface="Arial MT"/>
              <a:cs typeface="Arial MT"/>
            </a:endParaRPr>
          </a:p>
          <a:p>
            <a:pPr marL="504825">
              <a:lnSpc>
                <a:spcPct val="100000"/>
              </a:lnSpc>
              <a:spcBef>
                <a:spcPts val="675"/>
              </a:spcBef>
            </a:pPr>
            <a:r>
              <a:rPr sz="2800" dirty="0">
                <a:latin typeface="Arial MT"/>
                <a:cs typeface="Arial MT"/>
              </a:rPr>
              <a:t>All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algorithms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must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satisfy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following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criteria.</a:t>
            </a:r>
            <a:endParaRPr sz="2800">
              <a:latin typeface="Arial MT"/>
              <a:cs typeface="Arial MT"/>
            </a:endParaRPr>
          </a:p>
          <a:p>
            <a:pPr marL="546100" indent="-533400">
              <a:lnSpc>
                <a:spcPct val="100000"/>
              </a:lnSpc>
              <a:spcBef>
                <a:spcPts val="670"/>
              </a:spcBef>
              <a:buChar char="•"/>
              <a:tabLst>
                <a:tab pos="546100" algn="l"/>
              </a:tabLst>
            </a:pPr>
            <a:r>
              <a:rPr sz="2800" spc="-10" dirty="0">
                <a:latin typeface="Arial MT"/>
                <a:cs typeface="Arial MT"/>
              </a:rPr>
              <a:t>Criteria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9644" y="3638804"/>
            <a:ext cx="11607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</a:tabLst>
            </a:pPr>
            <a:r>
              <a:rPr sz="2400" spc="-25" dirty="0">
                <a:latin typeface="Arial MT"/>
                <a:cs typeface="Arial MT"/>
              </a:rPr>
              <a:t>1.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Input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55975" y="3638804"/>
            <a:ext cx="5257800" cy="1196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1610" marR="5080" indent="-16954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: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00"/>
                </a:solidFill>
                <a:latin typeface="Arial MT"/>
                <a:cs typeface="Arial MT"/>
              </a:rPr>
              <a:t>Zero</a:t>
            </a:r>
            <a:r>
              <a:rPr sz="2400" spc="-50" dirty="0">
                <a:solidFill>
                  <a:srgbClr val="008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00"/>
                </a:solidFill>
                <a:latin typeface="Arial MT"/>
                <a:cs typeface="Arial MT"/>
              </a:rPr>
              <a:t>or</a:t>
            </a:r>
            <a:r>
              <a:rPr sz="2400" spc="-55" dirty="0">
                <a:solidFill>
                  <a:srgbClr val="008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00"/>
                </a:solidFill>
                <a:latin typeface="Arial MT"/>
                <a:cs typeface="Arial MT"/>
              </a:rPr>
              <a:t>more</a:t>
            </a:r>
            <a:r>
              <a:rPr sz="2400" spc="-50" dirty="0">
                <a:solidFill>
                  <a:srgbClr val="008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00"/>
                </a:solidFill>
                <a:latin typeface="Arial MT"/>
                <a:cs typeface="Arial MT"/>
              </a:rPr>
              <a:t>quantities</a:t>
            </a:r>
            <a:r>
              <a:rPr sz="2400" spc="-40" dirty="0">
                <a:solidFill>
                  <a:srgbClr val="008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00"/>
                </a:solidFill>
                <a:latin typeface="Arial MT"/>
                <a:cs typeface="Arial MT"/>
              </a:rPr>
              <a:t>are</a:t>
            </a:r>
            <a:r>
              <a:rPr sz="2400" spc="-50" dirty="0">
                <a:solidFill>
                  <a:srgbClr val="0080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8000"/>
                </a:solidFill>
                <a:latin typeface="Arial MT"/>
                <a:cs typeface="Arial MT"/>
              </a:rPr>
              <a:t>externally supplied</a:t>
            </a:r>
            <a:r>
              <a:rPr sz="2400" spc="-10" dirty="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Arial MT"/>
                <a:cs typeface="Arial MT"/>
              </a:rPr>
              <a:t>: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00"/>
                </a:solidFill>
                <a:latin typeface="Arial MT"/>
                <a:cs typeface="Arial MT"/>
              </a:rPr>
              <a:t>At</a:t>
            </a:r>
            <a:r>
              <a:rPr sz="2400" spc="-35" dirty="0">
                <a:solidFill>
                  <a:srgbClr val="008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00"/>
                </a:solidFill>
                <a:latin typeface="Arial MT"/>
                <a:cs typeface="Arial MT"/>
              </a:rPr>
              <a:t>least</a:t>
            </a:r>
            <a:r>
              <a:rPr sz="2400" spc="-25" dirty="0">
                <a:solidFill>
                  <a:srgbClr val="008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00"/>
                </a:solidFill>
                <a:latin typeface="Arial MT"/>
                <a:cs typeface="Arial MT"/>
              </a:rPr>
              <a:t>one</a:t>
            </a:r>
            <a:r>
              <a:rPr sz="2400" spc="-20" dirty="0">
                <a:solidFill>
                  <a:srgbClr val="008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00"/>
                </a:solidFill>
                <a:latin typeface="Arial MT"/>
                <a:cs typeface="Arial MT"/>
              </a:rPr>
              <a:t>quantity</a:t>
            </a:r>
            <a:r>
              <a:rPr sz="2400" spc="-20" dirty="0">
                <a:solidFill>
                  <a:srgbClr val="008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00"/>
                </a:solidFill>
                <a:latin typeface="Arial MT"/>
                <a:cs typeface="Arial MT"/>
              </a:rPr>
              <a:t>is</a:t>
            </a:r>
            <a:r>
              <a:rPr sz="2400" spc="-30" dirty="0">
                <a:solidFill>
                  <a:srgbClr val="0080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8000"/>
                </a:solidFill>
                <a:latin typeface="Arial MT"/>
                <a:cs typeface="Arial MT"/>
              </a:rPr>
              <a:t>produced.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69644" y="4370701"/>
            <a:ext cx="6328410" cy="1983739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670"/>
              </a:spcBef>
              <a:buAutoNum type="arabicPeriod" startAt="2"/>
              <a:tabLst>
                <a:tab pos="469265" algn="l"/>
              </a:tabLst>
            </a:pPr>
            <a:r>
              <a:rPr sz="2400" spc="-10" dirty="0">
                <a:latin typeface="Arial MT"/>
                <a:cs typeface="Arial MT"/>
              </a:rPr>
              <a:t>Output</a:t>
            </a:r>
            <a:endParaRPr sz="240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spcBef>
                <a:spcPts val="580"/>
              </a:spcBef>
              <a:buAutoNum type="arabicPeriod" startAt="2"/>
              <a:tabLst>
                <a:tab pos="469265" algn="l"/>
                <a:tab pos="2298700" algn="l"/>
              </a:tabLst>
            </a:pPr>
            <a:r>
              <a:rPr sz="2400" spc="-10" dirty="0">
                <a:latin typeface="Arial MT"/>
                <a:cs typeface="Arial MT"/>
              </a:rPr>
              <a:t>Definiteness</a:t>
            </a:r>
            <a:r>
              <a:rPr sz="2400" dirty="0">
                <a:latin typeface="Arial MT"/>
                <a:cs typeface="Arial MT"/>
              </a:rPr>
              <a:t>	: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00"/>
                </a:solidFill>
                <a:latin typeface="Arial MT"/>
                <a:cs typeface="Arial MT"/>
              </a:rPr>
              <a:t>Each</a:t>
            </a:r>
            <a:r>
              <a:rPr sz="2400" spc="-40" dirty="0">
                <a:solidFill>
                  <a:srgbClr val="008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00"/>
                </a:solidFill>
                <a:latin typeface="Arial MT"/>
                <a:cs typeface="Arial MT"/>
              </a:rPr>
              <a:t>instruction</a:t>
            </a:r>
            <a:r>
              <a:rPr sz="2400" spc="-35" dirty="0">
                <a:solidFill>
                  <a:srgbClr val="008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00"/>
                </a:solidFill>
                <a:latin typeface="Arial MT"/>
                <a:cs typeface="Arial MT"/>
              </a:rPr>
              <a:t>is</a:t>
            </a:r>
            <a:r>
              <a:rPr sz="2400" spc="-45" dirty="0">
                <a:solidFill>
                  <a:srgbClr val="008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00"/>
                </a:solidFill>
                <a:latin typeface="Arial MT"/>
                <a:cs typeface="Arial MT"/>
              </a:rPr>
              <a:t>clear</a:t>
            </a:r>
            <a:r>
              <a:rPr sz="2400" spc="-35" dirty="0">
                <a:solidFill>
                  <a:srgbClr val="008000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008000"/>
                </a:solidFill>
                <a:latin typeface="Arial MT"/>
                <a:cs typeface="Arial MT"/>
              </a:rPr>
              <a:t>and</a:t>
            </a:r>
            <a:endParaRPr sz="2400">
              <a:latin typeface="Arial MT"/>
              <a:cs typeface="Arial MT"/>
            </a:endParaRPr>
          </a:p>
          <a:p>
            <a:pPr marL="2467610">
              <a:lnSpc>
                <a:spcPct val="100000"/>
              </a:lnSpc>
            </a:pPr>
            <a:r>
              <a:rPr sz="2400" spc="-10" dirty="0">
                <a:solidFill>
                  <a:srgbClr val="008000"/>
                </a:solidFill>
                <a:latin typeface="Arial MT"/>
                <a:cs typeface="Arial MT"/>
              </a:rPr>
              <a:t>unambiguous.</a:t>
            </a:r>
            <a:endParaRPr sz="2400">
              <a:latin typeface="Arial MT"/>
              <a:cs typeface="Arial MT"/>
            </a:endParaRPr>
          </a:p>
          <a:p>
            <a:pPr marL="2467610">
              <a:lnSpc>
                <a:spcPct val="100000"/>
              </a:lnSpc>
              <a:spcBef>
                <a:spcPts val="1175"/>
              </a:spcBef>
            </a:pPr>
            <a:r>
              <a:rPr sz="1800" dirty="0">
                <a:latin typeface="Arial MT"/>
                <a:cs typeface="Arial MT"/>
              </a:rPr>
              <a:t>Statements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such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FF3399"/>
                </a:solidFill>
                <a:latin typeface="Arial"/>
                <a:cs typeface="Arial"/>
              </a:rPr>
              <a:t>“add</a:t>
            </a:r>
            <a:r>
              <a:rPr sz="1800" b="1" spc="-10" dirty="0">
                <a:solidFill>
                  <a:srgbClr val="FF339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3399"/>
                </a:solidFill>
                <a:latin typeface="Arial"/>
                <a:cs typeface="Arial"/>
              </a:rPr>
              <a:t>6</a:t>
            </a:r>
            <a:r>
              <a:rPr sz="1800" b="1" spc="-20" dirty="0">
                <a:solidFill>
                  <a:srgbClr val="FF339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3399"/>
                </a:solidFill>
                <a:latin typeface="Arial"/>
                <a:cs typeface="Arial"/>
              </a:rPr>
              <a:t>or</a:t>
            </a:r>
            <a:r>
              <a:rPr sz="1800" b="1" spc="-10" dirty="0">
                <a:solidFill>
                  <a:srgbClr val="FF339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3399"/>
                </a:solidFill>
                <a:latin typeface="Arial"/>
                <a:cs typeface="Arial"/>
              </a:rPr>
              <a:t>7</a:t>
            </a:r>
            <a:r>
              <a:rPr sz="1800" b="1" spc="-20" dirty="0">
                <a:solidFill>
                  <a:srgbClr val="FF339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3399"/>
                </a:solidFill>
                <a:latin typeface="Arial"/>
                <a:cs typeface="Arial"/>
              </a:rPr>
              <a:t>to</a:t>
            </a:r>
            <a:r>
              <a:rPr sz="1800" b="1" spc="-15" dirty="0">
                <a:solidFill>
                  <a:srgbClr val="FF3399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FF3399"/>
                </a:solidFill>
                <a:latin typeface="Arial"/>
                <a:cs typeface="Arial"/>
              </a:rPr>
              <a:t>x”</a:t>
            </a:r>
            <a:endParaRPr sz="1800">
              <a:latin typeface="Arial"/>
              <a:cs typeface="Arial"/>
            </a:endParaRPr>
          </a:p>
          <a:p>
            <a:pPr marL="2489200">
              <a:lnSpc>
                <a:spcPct val="100000"/>
              </a:lnSpc>
              <a:spcBef>
                <a:spcPts val="135"/>
              </a:spcBef>
            </a:pPr>
            <a:r>
              <a:rPr sz="1800" dirty="0">
                <a:latin typeface="Arial MT"/>
                <a:cs typeface="Arial MT"/>
              </a:rPr>
              <a:t>or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FF3399"/>
                </a:solidFill>
                <a:latin typeface="Arial"/>
                <a:cs typeface="Arial"/>
              </a:rPr>
              <a:t>“Compute</a:t>
            </a:r>
            <a:r>
              <a:rPr sz="1800" b="1" spc="-20" dirty="0">
                <a:solidFill>
                  <a:srgbClr val="FF339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3399"/>
                </a:solidFill>
                <a:latin typeface="Arial"/>
                <a:cs typeface="Arial"/>
              </a:rPr>
              <a:t>5/0”</a:t>
            </a:r>
            <a:r>
              <a:rPr sz="1800" b="1" spc="-20" dirty="0">
                <a:solidFill>
                  <a:srgbClr val="FF3399"/>
                </a:solidFill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permitted”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3444" y="1625853"/>
            <a:ext cx="175196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4. </a:t>
            </a:r>
            <a:r>
              <a:rPr sz="2400" spc="-10" dirty="0">
                <a:latin typeface="Arial MT"/>
                <a:cs typeface="Arial MT"/>
              </a:rPr>
              <a:t>Finiteness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79775" y="1625853"/>
            <a:ext cx="517652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1610" marR="5080" indent="-169545">
              <a:lnSpc>
                <a:spcPct val="100000"/>
              </a:lnSpc>
              <a:spcBef>
                <a:spcPts val="100"/>
              </a:spcBef>
              <a:tabLst>
                <a:tab pos="3197860" algn="l"/>
              </a:tabLst>
            </a:pPr>
            <a:r>
              <a:rPr sz="2400" dirty="0">
                <a:latin typeface="Arial MT"/>
                <a:cs typeface="Arial MT"/>
              </a:rPr>
              <a:t>: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00"/>
                </a:solidFill>
                <a:latin typeface="Arial MT"/>
                <a:cs typeface="Arial MT"/>
              </a:rPr>
              <a:t>The</a:t>
            </a:r>
            <a:r>
              <a:rPr sz="2400" spc="-60" dirty="0">
                <a:solidFill>
                  <a:srgbClr val="008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00"/>
                </a:solidFill>
                <a:latin typeface="Arial MT"/>
                <a:cs typeface="Arial MT"/>
              </a:rPr>
              <a:t>algorithm</a:t>
            </a:r>
            <a:r>
              <a:rPr sz="2400" spc="-30" dirty="0">
                <a:solidFill>
                  <a:srgbClr val="0080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8000"/>
                </a:solidFill>
                <a:latin typeface="Arial MT"/>
                <a:cs typeface="Arial MT"/>
              </a:rPr>
              <a:t>should</a:t>
            </a:r>
            <a:r>
              <a:rPr sz="2400" dirty="0">
                <a:solidFill>
                  <a:srgbClr val="008000"/>
                </a:solidFill>
                <a:latin typeface="Arial MT"/>
                <a:cs typeface="Arial MT"/>
              </a:rPr>
              <a:t>	terminate</a:t>
            </a:r>
            <a:r>
              <a:rPr sz="2400" spc="-114" dirty="0">
                <a:solidFill>
                  <a:srgbClr val="0080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8000"/>
                </a:solidFill>
                <a:latin typeface="Arial MT"/>
                <a:cs typeface="Arial MT"/>
              </a:rPr>
              <a:t>after </a:t>
            </a:r>
            <a:r>
              <a:rPr sz="2400" dirty="0">
                <a:solidFill>
                  <a:srgbClr val="008000"/>
                </a:solidFill>
                <a:latin typeface="Arial MT"/>
                <a:cs typeface="Arial MT"/>
              </a:rPr>
              <a:t>a</a:t>
            </a:r>
            <a:r>
              <a:rPr sz="2400" spc="-55" dirty="0">
                <a:solidFill>
                  <a:srgbClr val="008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00"/>
                </a:solidFill>
                <a:latin typeface="Arial MT"/>
                <a:cs typeface="Arial MT"/>
              </a:rPr>
              <a:t>finite</a:t>
            </a:r>
            <a:r>
              <a:rPr sz="2400" spc="-45" dirty="0">
                <a:solidFill>
                  <a:srgbClr val="008000"/>
                </a:solidFill>
                <a:latin typeface="Arial MT"/>
                <a:cs typeface="Arial MT"/>
              </a:rPr>
              <a:t> </a:t>
            </a:r>
            <a:r>
              <a:rPr sz="2400" dirty="0" err="1">
                <a:solidFill>
                  <a:srgbClr val="008000"/>
                </a:solidFill>
                <a:latin typeface="Arial MT"/>
                <a:cs typeface="Arial MT"/>
              </a:rPr>
              <a:t>numbe</a:t>
            </a:r>
            <a:r>
              <a:rPr lang="en-US" sz="2400" dirty="0">
                <a:solidFill>
                  <a:srgbClr val="008000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008000"/>
                </a:solidFill>
                <a:latin typeface="Arial MT"/>
                <a:cs typeface="Arial MT"/>
              </a:rPr>
              <a:t>r</a:t>
            </a:r>
            <a:r>
              <a:rPr sz="2400" spc="-30" dirty="0">
                <a:solidFill>
                  <a:srgbClr val="008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00"/>
                </a:solidFill>
                <a:latin typeface="Arial MT"/>
                <a:cs typeface="Arial MT"/>
              </a:rPr>
              <a:t>of</a:t>
            </a:r>
            <a:r>
              <a:rPr sz="2400" spc="-65" dirty="0">
                <a:solidFill>
                  <a:srgbClr val="0080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8000"/>
                </a:solidFill>
                <a:latin typeface="Arial MT"/>
                <a:cs typeface="Arial MT"/>
              </a:rPr>
              <a:t>steps.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3444" y="2430907"/>
            <a:ext cx="68516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98700" algn="l"/>
              </a:tabLst>
            </a:pPr>
            <a:r>
              <a:rPr sz="2400" dirty="0">
                <a:latin typeface="Arial MT"/>
                <a:cs typeface="Arial MT"/>
              </a:rPr>
              <a:t>5. </a:t>
            </a:r>
            <a:r>
              <a:rPr sz="2400" spc="-10" dirty="0">
                <a:latin typeface="Arial MT"/>
                <a:cs typeface="Arial MT"/>
              </a:rPr>
              <a:t>Effectiveness</a:t>
            </a:r>
            <a:r>
              <a:rPr sz="2400" dirty="0">
                <a:latin typeface="Arial MT"/>
                <a:cs typeface="Arial MT"/>
              </a:rPr>
              <a:t>	: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</a:t>
            </a:r>
            <a:r>
              <a:rPr sz="2400" dirty="0">
                <a:solidFill>
                  <a:srgbClr val="008000"/>
                </a:solidFill>
                <a:latin typeface="Arial MT"/>
                <a:cs typeface="Arial MT"/>
              </a:rPr>
              <a:t>nstruction</a:t>
            </a:r>
            <a:r>
              <a:rPr sz="2400" spc="-50" dirty="0">
                <a:solidFill>
                  <a:srgbClr val="008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00"/>
                </a:solidFill>
                <a:latin typeface="Arial MT"/>
                <a:cs typeface="Arial MT"/>
              </a:rPr>
              <a:t>is</a:t>
            </a:r>
            <a:r>
              <a:rPr sz="2400" spc="-45" dirty="0">
                <a:solidFill>
                  <a:srgbClr val="008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00"/>
                </a:solidFill>
                <a:latin typeface="Arial MT"/>
                <a:cs typeface="Arial MT"/>
              </a:rPr>
              <a:t>basic</a:t>
            </a:r>
            <a:r>
              <a:rPr sz="2400" spc="-45" dirty="0">
                <a:solidFill>
                  <a:srgbClr val="008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00"/>
                </a:solidFill>
                <a:latin typeface="Arial MT"/>
                <a:cs typeface="Arial MT"/>
              </a:rPr>
              <a:t>enough</a:t>
            </a:r>
            <a:r>
              <a:rPr sz="2400" spc="-25" dirty="0">
                <a:solidFill>
                  <a:srgbClr val="008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00"/>
                </a:solidFill>
                <a:latin typeface="Arial MT"/>
                <a:cs typeface="Arial MT"/>
              </a:rPr>
              <a:t>to</a:t>
            </a:r>
            <a:r>
              <a:rPr sz="2400" spc="-50" dirty="0">
                <a:solidFill>
                  <a:srgbClr val="008000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008000"/>
                </a:solidFill>
                <a:latin typeface="Arial MT"/>
                <a:cs typeface="Arial MT"/>
              </a:rPr>
              <a:t>be</a:t>
            </a:r>
            <a:endParaRPr sz="2400">
              <a:latin typeface="Arial MT"/>
              <a:cs typeface="Arial MT"/>
            </a:endParaRPr>
          </a:p>
          <a:p>
            <a:pPr marL="2467610">
              <a:lnSpc>
                <a:spcPct val="100000"/>
              </a:lnSpc>
            </a:pPr>
            <a:r>
              <a:rPr sz="2400" dirty="0">
                <a:solidFill>
                  <a:srgbClr val="008000"/>
                </a:solidFill>
                <a:latin typeface="Arial MT"/>
                <a:cs typeface="Arial MT"/>
              </a:rPr>
              <a:t>carried</a:t>
            </a:r>
            <a:r>
              <a:rPr sz="2400" spc="-90" dirty="0">
                <a:solidFill>
                  <a:srgbClr val="008000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008000"/>
                </a:solidFill>
                <a:latin typeface="Arial MT"/>
                <a:cs typeface="Arial MT"/>
              </a:rPr>
              <a:t>out.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C204A-8ABB-837E-3337-E7386071B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7A5A0DD-0D27-A36B-A161-3F606B66407E}"/>
              </a:ext>
            </a:extLst>
          </p:cNvPr>
          <p:cNvSpPr txBox="1"/>
          <p:nvPr/>
        </p:nvSpPr>
        <p:spPr>
          <a:xfrm>
            <a:off x="993444" y="1625853"/>
            <a:ext cx="350235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400" b="1" dirty="0">
                <a:latin typeface="Arial MT"/>
                <a:cs typeface="Arial MT"/>
              </a:rPr>
              <a:t>Algorithm Vs Program:</a:t>
            </a:r>
            <a:endParaRPr sz="2400" b="1" dirty="0">
              <a:latin typeface="Arial MT"/>
              <a:cs typeface="Arial MT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99EF9B95-CE7F-6344-99C4-7884A5943B47}"/>
              </a:ext>
            </a:extLst>
          </p:cNvPr>
          <p:cNvSpPr txBox="1"/>
          <p:nvPr/>
        </p:nvSpPr>
        <p:spPr>
          <a:xfrm>
            <a:off x="993444" y="2513444"/>
            <a:ext cx="3502356" cy="31649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A step-by-step logical procedure to solve a problem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Independent of any programming language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Focuses on logic and problem-solving strategy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Written using plain language, pseudocode, or flowcharts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Used for design and analysis (time &amp; space complexity)</a:t>
            </a: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sz="2400" dirty="0">
              <a:latin typeface="Arial MT"/>
              <a:cs typeface="Arial M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9E3959-129A-5B8B-1AB2-E8E795EB9454}"/>
              </a:ext>
            </a:extLst>
          </p:cNvPr>
          <p:cNvSpPr txBox="1"/>
          <p:nvPr/>
        </p:nvSpPr>
        <p:spPr>
          <a:xfrm>
            <a:off x="4495800" y="2533201"/>
            <a:ext cx="4572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Implementation of an algorithm using a programming language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Language-dependent (C, C++, Python, Java, etc.)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Focuses on syntax and execution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Written using specific programming constructs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Used for actual execution on a computer</a:t>
            </a:r>
          </a:p>
        </p:txBody>
      </p:sp>
    </p:spTree>
    <p:extLst>
      <p:ext uri="{BB962C8B-B14F-4D97-AF65-F5344CB8AC3E}">
        <p14:creationId xmlns:p14="http://schemas.microsoft.com/office/powerpoint/2010/main" val="980634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E931EB-7CF7-BBB3-F667-1A9161BFD96B}"/>
              </a:ext>
            </a:extLst>
          </p:cNvPr>
          <p:cNvSpPr txBox="1"/>
          <p:nvPr/>
        </p:nvSpPr>
        <p:spPr>
          <a:xfrm>
            <a:off x="762000" y="1644134"/>
            <a:ext cx="33810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 err="1"/>
              <a:t>Anaysis</a:t>
            </a:r>
            <a:r>
              <a:rPr lang="en-IN" sz="2400" b="1" dirty="0"/>
              <a:t> of Algorithm: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E1E90-4C9B-452C-24DF-9B033807D8D1}"/>
              </a:ext>
            </a:extLst>
          </p:cNvPr>
          <p:cNvSpPr txBox="1"/>
          <p:nvPr/>
        </p:nvSpPr>
        <p:spPr>
          <a:xfrm>
            <a:off x="3200400" y="2514600"/>
            <a:ext cx="48006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Priori Analysis</a:t>
            </a:r>
          </a:p>
          <a:p>
            <a:r>
              <a:rPr lang="en-IN" sz="2400" dirty="0"/>
              <a:t>    - done before execution, H/w independent.</a:t>
            </a:r>
          </a:p>
          <a:p>
            <a:r>
              <a:rPr lang="en-IN" sz="2400" dirty="0"/>
              <a:t>    - Approximate analysis</a:t>
            </a:r>
          </a:p>
          <a:p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Posteriori Analysis</a:t>
            </a:r>
          </a:p>
          <a:p>
            <a:r>
              <a:rPr lang="en-IN" sz="2400" dirty="0"/>
              <a:t>    - after running on sys, H/w dependent</a:t>
            </a:r>
          </a:p>
          <a:p>
            <a:r>
              <a:rPr lang="en-IN" sz="2400" dirty="0"/>
              <a:t>    -accurate</a:t>
            </a:r>
          </a:p>
        </p:txBody>
      </p:sp>
    </p:spTree>
    <p:extLst>
      <p:ext uri="{BB962C8B-B14F-4D97-AF65-F5344CB8AC3E}">
        <p14:creationId xmlns:p14="http://schemas.microsoft.com/office/powerpoint/2010/main" val="4118414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Pseudo</a:t>
            </a:r>
            <a:r>
              <a:rPr b="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code</a:t>
            </a:r>
            <a:r>
              <a:rPr b="0" spc="-4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for</a:t>
            </a:r>
            <a:r>
              <a:rPr b="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expressing</a:t>
            </a:r>
            <a:r>
              <a:rPr b="0" spc="-3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 MT"/>
                <a:cs typeface="Arial MT"/>
              </a:rPr>
              <a:t>algorithms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64894"/>
            <a:ext cx="7407909" cy="574675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824865" marR="5080" indent="-812800">
              <a:lnSpc>
                <a:spcPct val="80000"/>
              </a:lnSpc>
              <a:spcBef>
                <a:spcPts val="585"/>
              </a:spcBef>
              <a:buChar char="•"/>
              <a:tabLst>
                <a:tab pos="824865" algn="l"/>
              </a:tabLst>
            </a:pPr>
            <a:r>
              <a:rPr sz="2000" dirty="0">
                <a:latin typeface="Arial MT"/>
                <a:cs typeface="Arial MT"/>
              </a:rPr>
              <a:t>We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present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most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our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algorithms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using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pseudo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code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that </a:t>
            </a:r>
            <a:r>
              <a:rPr sz="2000" dirty="0">
                <a:latin typeface="Arial MT"/>
                <a:cs typeface="Arial MT"/>
              </a:rPr>
              <a:t>resembles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Pascal.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3444" y="2481198"/>
            <a:ext cx="2152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1.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25" dirty="0">
                <a:latin typeface="Arial MT"/>
                <a:cs typeface="Arial MT"/>
              </a:rPr>
              <a:t>2.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05101" y="2481198"/>
            <a:ext cx="58261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Comments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begin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//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continue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until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line. </a:t>
            </a:r>
            <a:r>
              <a:rPr sz="1800" dirty="0">
                <a:latin typeface="Arial MT"/>
                <a:cs typeface="Arial MT"/>
              </a:rPr>
              <a:t>Blocks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indicated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matching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braces: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{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45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}.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07794" y="3029838"/>
            <a:ext cx="15494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5" dirty="0">
                <a:latin typeface="Arial MT"/>
                <a:cs typeface="Arial MT"/>
              </a:rPr>
              <a:t>i.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400" spc="-25" dirty="0">
                <a:latin typeface="Arial MT"/>
                <a:cs typeface="Arial MT"/>
              </a:rPr>
              <a:t>ii.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15285" y="3029838"/>
            <a:ext cx="1853564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Arial MT"/>
                <a:cs typeface="Arial MT"/>
              </a:rPr>
              <a:t>A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compound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statement </a:t>
            </a:r>
            <a:r>
              <a:rPr sz="1400" dirty="0">
                <a:latin typeface="Arial MT"/>
                <a:cs typeface="Arial MT"/>
              </a:rPr>
              <a:t>Body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of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</a:t>
            </a:r>
            <a:r>
              <a:rPr sz="1400" spc="-10" dirty="0">
                <a:latin typeface="Arial MT"/>
                <a:cs typeface="Arial MT"/>
              </a:rPr>
              <a:t> procedure.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93444" y="3670172"/>
            <a:ext cx="7545070" cy="2251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3.</a:t>
            </a:r>
            <a:endParaRPr sz="1800">
              <a:latin typeface="Arial MT"/>
              <a:cs typeface="Arial MT"/>
            </a:endParaRPr>
          </a:p>
          <a:p>
            <a:pPr marL="685165" indent="-215900">
              <a:lnSpc>
                <a:spcPct val="100000"/>
              </a:lnSpc>
              <a:spcBef>
                <a:spcPts val="5"/>
              </a:spcBef>
              <a:buAutoNum type="romanLcPeriod"/>
              <a:tabLst>
                <a:tab pos="685165" algn="l"/>
              </a:tabLst>
            </a:pPr>
            <a:r>
              <a:rPr sz="1600" dirty="0">
                <a:latin typeface="Arial MT"/>
                <a:cs typeface="Arial MT"/>
              </a:rPr>
              <a:t>An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identifier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begins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with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letter.</a:t>
            </a:r>
            <a:endParaRPr sz="1600">
              <a:latin typeface="Arial MT"/>
              <a:cs typeface="Arial MT"/>
            </a:endParaRPr>
          </a:p>
          <a:p>
            <a:pPr marL="670560" indent="-201295">
              <a:lnSpc>
                <a:spcPct val="100000"/>
              </a:lnSpc>
              <a:buAutoNum type="romanLcPeriod"/>
              <a:tabLst>
                <a:tab pos="670560" algn="l"/>
              </a:tabLst>
            </a:pP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data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types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variables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are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not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explicitly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declared.</a:t>
            </a:r>
            <a:endParaRPr sz="1600">
              <a:latin typeface="Arial MT"/>
              <a:cs typeface="Arial MT"/>
            </a:endParaRPr>
          </a:p>
          <a:p>
            <a:pPr marL="714375" indent="-245110">
              <a:lnSpc>
                <a:spcPct val="100000"/>
              </a:lnSpc>
              <a:buAutoNum type="romanLcPeriod"/>
              <a:tabLst>
                <a:tab pos="714375" algn="l"/>
              </a:tabLst>
            </a:pP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types will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clear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from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context.</a:t>
            </a:r>
            <a:endParaRPr sz="1600">
              <a:latin typeface="Arial MT"/>
              <a:cs typeface="Arial MT"/>
            </a:endParaRPr>
          </a:p>
          <a:p>
            <a:pPr marL="728345" marR="5080" indent="-259079">
              <a:lnSpc>
                <a:spcPct val="100000"/>
              </a:lnSpc>
              <a:buAutoNum type="romanLcPeriod"/>
              <a:tabLst>
                <a:tab pos="754380" algn="l"/>
              </a:tabLst>
            </a:pPr>
            <a:r>
              <a:rPr sz="1600" dirty="0">
                <a:latin typeface="Arial MT"/>
                <a:cs typeface="Arial MT"/>
              </a:rPr>
              <a:t>Whether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variable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global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or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local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procedure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will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also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evident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from 	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context.</a:t>
            </a:r>
            <a:endParaRPr sz="1600">
              <a:latin typeface="Arial MT"/>
              <a:cs typeface="Arial MT"/>
            </a:endParaRPr>
          </a:p>
          <a:p>
            <a:pPr marL="684530" indent="-215265">
              <a:lnSpc>
                <a:spcPct val="100000"/>
              </a:lnSpc>
              <a:buAutoNum type="romanLcPeriod"/>
              <a:tabLst>
                <a:tab pos="684530" algn="l"/>
                <a:tab pos="6871334" algn="l"/>
              </a:tabLst>
            </a:pPr>
            <a:r>
              <a:rPr sz="1600" dirty="0">
                <a:latin typeface="Arial MT"/>
                <a:cs typeface="Arial MT"/>
              </a:rPr>
              <a:t>We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assume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simple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data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types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such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integer,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float,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char,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boolean,</a:t>
            </a:r>
            <a:r>
              <a:rPr sz="1600" dirty="0">
                <a:latin typeface="Arial MT"/>
                <a:cs typeface="Arial MT"/>
              </a:rPr>
              <a:t>	and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so</a:t>
            </a:r>
            <a:endParaRPr sz="1600">
              <a:latin typeface="Arial MT"/>
              <a:cs typeface="Arial MT"/>
            </a:endParaRPr>
          </a:p>
          <a:p>
            <a:pPr marL="754380">
              <a:lnSpc>
                <a:spcPct val="100000"/>
              </a:lnSpc>
              <a:spcBef>
                <a:spcPts val="5"/>
              </a:spcBef>
            </a:pPr>
            <a:r>
              <a:rPr sz="1600" spc="-25" dirty="0">
                <a:latin typeface="Arial MT"/>
                <a:cs typeface="Arial MT"/>
              </a:rPr>
              <a:t>on.</a:t>
            </a:r>
            <a:endParaRPr sz="1600">
              <a:latin typeface="Arial MT"/>
              <a:cs typeface="Arial MT"/>
            </a:endParaRPr>
          </a:p>
          <a:p>
            <a:pPr marL="728345" indent="-259079">
              <a:lnSpc>
                <a:spcPct val="100000"/>
              </a:lnSpc>
              <a:buAutoNum type="romanLcPeriod" startAt="6"/>
              <a:tabLst>
                <a:tab pos="728345" algn="l"/>
              </a:tabLst>
            </a:pPr>
            <a:r>
              <a:rPr sz="1600" dirty="0">
                <a:latin typeface="Arial MT"/>
                <a:cs typeface="Arial MT"/>
              </a:rPr>
              <a:t>Compound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data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types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can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be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formed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with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records.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8839" y="401523"/>
            <a:ext cx="167132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0" dirty="0">
                <a:solidFill>
                  <a:srgbClr val="000000"/>
                </a:solidFill>
                <a:latin typeface="Arial MT"/>
                <a:cs typeface="Arial MT"/>
              </a:rPr>
              <a:t>node</a:t>
            </a:r>
            <a:r>
              <a:rPr sz="2000" b="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000" b="0" dirty="0">
                <a:solidFill>
                  <a:srgbClr val="000000"/>
                </a:solidFill>
                <a:latin typeface="Arial MT"/>
                <a:cs typeface="Arial MT"/>
              </a:rPr>
              <a:t>=</a:t>
            </a:r>
            <a:r>
              <a:rPr sz="2000" b="0" spc="-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0000"/>
                </a:solidFill>
              </a:rPr>
              <a:t>record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8839" y="742543"/>
            <a:ext cx="4458335" cy="295211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584200">
              <a:lnSpc>
                <a:spcPct val="100000"/>
              </a:lnSpc>
              <a:spcBef>
                <a:spcPts val="580"/>
              </a:spcBef>
            </a:pPr>
            <a:r>
              <a:rPr sz="2000" spc="-50" dirty="0">
                <a:latin typeface="Arial MT"/>
                <a:cs typeface="Arial MT"/>
              </a:rPr>
              <a:t>{</a:t>
            </a:r>
            <a:endParaRPr sz="2000">
              <a:latin typeface="Arial MT"/>
              <a:cs typeface="Arial MT"/>
            </a:endParaRPr>
          </a:p>
          <a:p>
            <a:pPr marL="149860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Arial MT"/>
                <a:cs typeface="Arial MT"/>
              </a:rPr>
              <a:t>datatype_1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data_1;</a:t>
            </a:r>
            <a:endParaRPr sz="2000">
              <a:latin typeface="Arial MT"/>
              <a:cs typeface="Arial MT"/>
            </a:endParaRPr>
          </a:p>
          <a:p>
            <a:pPr marL="2413635">
              <a:lnSpc>
                <a:spcPct val="100000"/>
              </a:lnSpc>
              <a:spcBef>
                <a:spcPts val="480"/>
              </a:spcBef>
            </a:pPr>
            <a:r>
              <a:rPr sz="2000" spc="-50" dirty="0">
                <a:latin typeface="Arial MT"/>
                <a:cs typeface="Arial MT"/>
              </a:rPr>
              <a:t>:</a:t>
            </a:r>
            <a:endParaRPr sz="2000">
              <a:latin typeface="Arial MT"/>
              <a:cs typeface="Arial MT"/>
            </a:endParaRPr>
          </a:p>
          <a:p>
            <a:pPr marL="149860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Arial MT"/>
                <a:cs typeface="Arial MT"/>
              </a:rPr>
              <a:t>datatype_n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data_n;</a:t>
            </a:r>
            <a:endParaRPr sz="2000">
              <a:latin typeface="Arial MT"/>
              <a:cs typeface="Arial MT"/>
            </a:endParaRPr>
          </a:p>
          <a:p>
            <a:pPr marL="1498600">
              <a:lnSpc>
                <a:spcPct val="100000"/>
              </a:lnSpc>
              <a:spcBef>
                <a:spcPts val="480"/>
              </a:spcBef>
              <a:tabLst>
                <a:tab pos="2413000" algn="l"/>
              </a:tabLst>
            </a:pPr>
            <a:r>
              <a:rPr sz="2000" spc="-20" dirty="0">
                <a:latin typeface="Arial MT"/>
                <a:cs typeface="Arial MT"/>
              </a:rPr>
              <a:t>node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*link</a:t>
            </a:r>
            <a:endParaRPr sz="2000">
              <a:latin typeface="Arial MT"/>
              <a:cs typeface="Arial MT"/>
            </a:endParaRPr>
          </a:p>
          <a:p>
            <a:pPr marL="584200">
              <a:lnSpc>
                <a:spcPct val="100000"/>
              </a:lnSpc>
              <a:spcBef>
                <a:spcPts val="480"/>
              </a:spcBef>
            </a:pPr>
            <a:r>
              <a:rPr sz="2000" spc="-50" dirty="0">
                <a:latin typeface="Arial MT"/>
                <a:cs typeface="Arial MT"/>
              </a:rPr>
              <a:t>}</a:t>
            </a:r>
            <a:endParaRPr sz="2000">
              <a:latin typeface="Arial MT"/>
              <a:cs typeface="Arial MT"/>
            </a:endParaRPr>
          </a:p>
          <a:p>
            <a:pPr marL="18415" marR="5080" indent="-6350">
              <a:lnSpc>
                <a:spcPct val="120000"/>
              </a:lnSpc>
              <a:tabLst>
                <a:tab pos="611505" algn="l"/>
              </a:tabLst>
            </a:pPr>
            <a:r>
              <a:rPr sz="2000" dirty="0">
                <a:latin typeface="Arial MT"/>
                <a:cs typeface="Arial MT"/>
              </a:rPr>
              <a:t>data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items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record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accessed </a:t>
            </a:r>
            <a:r>
              <a:rPr sz="2000" spc="-20" dirty="0">
                <a:latin typeface="Arial MT"/>
                <a:cs typeface="Arial MT"/>
              </a:rPr>
              <a:t>with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dirty="0">
                <a:latin typeface="Wingdings"/>
                <a:cs typeface="Wingdings"/>
              </a:rPr>
              <a:t>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period(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.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50" dirty="0">
                <a:latin typeface="Arial MT"/>
                <a:cs typeface="Arial MT"/>
              </a:rPr>
              <a:t>)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15000" y="609600"/>
            <a:ext cx="3048000" cy="373380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1526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695"/>
              </a:spcBef>
            </a:pPr>
            <a:r>
              <a:rPr sz="1800" b="1" dirty="0">
                <a:latin typeface="Arial"/>
                <a:cs typeface="Arial"/>
              </a:rPr>
              <a:t>C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style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:-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800">
              <a:latin typeface="Arial"/>
              <a:cs typeface="Arial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Arial MT"/>
                <a:cs typeface="Arial MT"/>
              </a:rPr>
              <a:t>struct</a:t>
            </a:r>
            <a:r>
              <a:rPr sz="1800" spc="484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node</a:t>
            </a:r>
            <a:endParaRPr sz="1800">
              <a:latin typeface="Arial MT"/>
              <a:cs typeface="Arial MT"/>
            </a:endParaRPr>
          </a:p>
          <a:p>
            <a:pPr marL="92075">
              <a:lnSpc>
                <a:spcPct val="100000"/>
              </a:lnSpc>
            </a:pPr>
            <a:r>
              <a:rPr sz="1800" spc="-50" dirty="0">
                <a:latin typeface="Arial MT"/>
                <a:cs typeface="Arial MT"/>
              </a:rPr>
              <a:t>{</a:t>
            </a:r>
            <a:endParaRPr sz="1800">
              <a:latin typeface="Arial MT"/>
              <a:cs typeface="Arial MT"/>
            </a:endParaRPr>
          </a:p>
          <a:p>
            <a:pPr marL="40894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datatype_1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data_1;</a:t>
            </a:r>
            <a:endParaRPr sz="1800">
              <a:latin typeface="Arial MT"/>
              <a:cs typeface="Arial MT"/>
            </a:endParaRPr>
          </a:p>
          <a:p>
            <a:pPr marL="1006475">
              <a:lnSpc>
                <a:spcPct val="100000"/>
              </a:lnSpc>
            </a:pPr>
            <a:r>
              <a:rPr sz="1800" spc="-50" dirty="0">
                <a:latin typeface="Arial MT"/>
                <a:cs typeface="Arial MT"/>
              </a:rPr>
              <a:t>:</a:t>
            </a:r>
            <a:endParaRPr sz="1800">
              <a:latin typeface="Arial MT"/>
              <a:cs typeface="Arial MT"/>
            </a:endParaRPr>
          </a:p>
          <a:p>
            <a:pPr marL="408940">
              <a:lnSpc>
                <a:spcPct val="100000"/>
              </a:lnSpc>
              <a:tabLst>
                <a:tab pos="1666239" algn="l"/>
              </a:tabLst>
            </a:pPr>
            <a:r>
              <a:rPr sz="1800" spc="-10" dirty="0">
                <a:latin typeface="Arial MT"/>
                <a:cs typeface="Arial MT"/>
              </a:rPr>
              <a:t>datatype_n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10" dirty="0">
                <a:latin typeface="Arial MT"/>
                <a:cs typeface="Arial MT"/>
              </a:rPr>
              <a:t>data_n;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 MT"/>
              <a:cs typeface="Arial MT"/>
            </a:endParaRPr>
          </a:p>
          <a:p>
            <a:pPr marL="40894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struct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node</a:t>
            </a:r>
            <a:r>
              <a:rPr sz="1800" spc="484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*link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 MT"/>
              <a:cs typeface="Arial MT"/>
            </a:endParaRPr>
          </a:p>
          <a:p>
            <a:pPr marL="92075">
              <a:lnSpc>
                <a:spcPct val="100000"/>
              </a:lnSpc>
            </a:pPr>
            <a:r>
              <a:rPr sz="1800" spc="-50" dirty="0">
                <a:latin typeface="Arial MT"/>
                <a:cs typeface="Arial MT"/>
              </a:rPr>
              <a:t>}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3444" y="335991"/>
            <a:ext cx="7546975" cy="5525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6400" indent="-393700">
              <a:lnSpc>
                <a:spcPts val="2925"/>
              </a:lnSpc>
              <a:buSzPct val="116666"/>
              <a:buAutoNum type="arabicPeriod" startAt="4"/>
              <a:tabLst>
                <a:tab pos="406400" algn="l"/>
              </a:tabLst>
            </a:pPr>
            <a:r>
              <a:rPr sz="2400" dirty="0">
                <a:latin typeface="Arial MT"/>
                <a:cs typeface="Arial MT"/>
              </a:rPr>
              <a:t>Assignment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values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variables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done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using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</a:t>
            </a:r>
            <a:endParaRPr sz="2400">
              <a:latin typeface="Arial MT"/>
              <a:cs typeface="Arial MT"/>
            </a:endParaRPr>
          </a:p>
          <a:p>
            <a:pPr marL="299085">
              <a:lnSpc>
                <a:spcPts val="2745"/>
              </a:lnSpc>
            </a:pPr>
            <a:r>
              <a:rPr sz="2400" dirty="0">
                <a:latin typeface="Arial MT"/>
                <a:cs typeface="Arial MT"/>
              </a:rPr>
              <a:t>assignment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statement.</a:t>
            </a:r>
            <a:endParaRPr sz="2400">
              <a:latin typeface="Arial MT"/>
              <a:cs typeface="Arial MT"/>
            </a:endParaRPr>
          </a:p>
          <a:p>
            <a:pPr marL="1383665">
              <a:lnSpc>
                <a:spcPct val="100000"/>
              </a:lnSpc>
              <a:spcBef>
                <a:spcPts val="285"/>
              </a:spcBef>
            </a:pPr>
            <a:r>
              <a:rPr sz="2400" dirty="0">
                <a:latin typeface="Arial MT"/>
                <a:cs typeface="Arial MT"/>
              </a:rPr>
              <a:t>&lt;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variable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&gt;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:=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&lt;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expression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&gt;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85"/>
              </a:spcBef>
            </a:pPr>
            <a:endParaRPr sz="2400">
              <a:latin typeface="Arial MT"/>
              <a:cs typeface="Arial MT"/>
            </a:endParaRPr>
          </a:p>
          <a:p>
            <a:pPr marL="299085" marR="57150" indent="-287020">
              <a:lnSpc>
                <a:spcPct val="90000"/>
              </a:lnSpc>
              <a:buAutoNum type="arabicPeriod" startAt="5"/>
              <a:tabLst>
                <a:tab pos="299085" algn="l"/>
                <a:tab pos="349250" algn="l"/>
              </a:tabLst>
            </a:pPr>
            <a:r>
              <a:rPr sz="2400" dirty="0">
                <a:latin typeface="Arial MT"/>
                <a:cs typeface="Arial MT"/>
              </a:rPr>
              <a:t>	There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two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boolean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values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true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false.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spc="-25" dirty="0">
                <a:latin typeface="Arial MT"/>
                <a:cs typeface="Arial MT"/>
              </a:rPr>
              <a:t>To </a:t>
            </a:r>
            <a:r>
              <a:rPr sz="2400" dirty="0">
                <a:latin typeface="Arial MT"/>
                <a:cs typeface="Arial MT"/>
              </a:rPr>
              <a:t>produce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these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values,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logical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operators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and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or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sz="2400" spc="-25" dirty="0">
                <a:latin typeface="Arial MT"/>
                <a:cs typeface="Arial MT"/>
              </a:rPr>
              <a:t>and </a:t>
            </a:r>
            <a:r>
              <a:rPr sz="2400" b="1" dirty="0">
                <a:latin typeface="Arial"/>
                <a:cs typeface="Arial"/>
              </a:rPr>
              <a:t>not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relational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operators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&lt;,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≤,=,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≠,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≥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&gt;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spc="-25" dirty="0">
                <a:latin typeface="Arial MT"/>
                <a:cs typeface="Arial MT"/>
              </a:rPr>
              <a:t>are </a:t>
            </a:r>
            <a:r>
              <a:rPr sz="2400" spc="-10" dirty="0">
                <a:latin typeface="Arial MT"/>
                <a:cs typeface="Arial MT"/>
              </a:rPr>
              <a:t>provided.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25"/>
              </a:spcBef>
              <a:buAutoNum type="arabicPeriod" startAt="5"/>
            </a:pPr>
            <a:endParaRPr sz="2400">
              <a:latin typeface="Arial MT"/>
              <a:cs typeface="Arial MT"/>
            </a:endParaRPr>
          </a:p>
          <a:p>
            <a:pPr marL="299085" marR="391160" indent="-287020" algn="just">
              <a:lnSpc>
                <a:spcPts val="2590"/>
              </a:lnSpc>
              <a:buAutoNum type="arabicPeriod" startAt="5"/>
              <a:tabLst>
                <a:tab pos="299085" algn="l"/>
                <a:tab pos="349885" algn="l"/>
              </a:tabLst>
            </a:pPr>
            <a:r>
              <a:rPr sz="2400" dirty="0">
                <a:latin typeface="Arial MT"/>
                <a:cs typeface="Arial MT"/>
              </a:rPr>
              <a:t>	Elements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multidimensional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arrays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accessed </a:t>
            </a:r>
            <a:r>
              <a:rPr sz="2400" dirty="0">
                <a:latin typeface="Arial MT"/>
                <a:cs typeface="Arial MT"/>
              </a:rPr>
              <a:t>using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[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].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example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(i,j)th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element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</a:t>
            </a:r>
            <a:r>
              <a:rPr sz="2400" dirty="0">
                <a:latin typeface="Arial MT"/>
                <a:cs typeface="Arial MT"/>
              </a:rPr>
              <a:t>array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denoted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A[i,j].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94"/>
              </a:spcBef>
              <a:buAutoNum type="arabicPeriod" startAt="5"/>
            </a:pPr>
            <a:endParaRPr sz="2400">
              <a:latin typeface="Arial MT"/>
              <a:cs typeface="Arial MT"/>
            </a:endParaRPr>
          </a:p>
          <a:p>
            <a:pPr marL="299085" marR="5080" indent="-287020">
              <a:lnSpc>
                <a:spcPts val="2590"/>
              </a:lnSpc>
              <a:buAutoNum type="arabicPeriod" startAt="5"/>
              <a:tabLst>
                <a:tab pos="299085" algn="l"/>
                <a:tab pos="349885" algn="l"/>
              </a:tabLst>
            </a:pPr>
            <a:r>
              <a:rPr sz="2400" dirty="0">
                <a:latin typeface="Arial MT"/>
                <a:cs typeface="Arial MT"/>
              </a:rPr>
              <a:t>	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following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looping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statements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used: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for,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while,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repeat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until.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8839" y="249123"/>
            <a:ext cx="60229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dirty="0">
                <a:solidFill>
                  <a:srgbClr val="000000"/>
                </a:solidFill>
                <a:latin typeface="Arial MT"/>
                <a:cs typeface="Arial MT"/>
              </a:rPr>
              <a:t>The</a:t>
            </a:r>
            <a:r>
              <a:rPr sz="3200" b="0" spc="-5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200" b="0" dirty="0">
                <a:solidFill>
                  <a:srgbClr val="000000"/>
                </a:solidFill>
                <a:latin typeface="Arial MT"/>
                <a:cs typeface="Arial MT"/>
              </a:rPr>
              <a:t>general</a:t>
            </a:r>
            <a:r>
              <a:rPr sz="3200" b="0" spc="-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200" b="0" dirty="0">
                <a:solidFill>
                  <a:srgbClr val="000000"/>
                </a:solidFill>
                <a:latin typeface="Arial MT"/>
                <a:cs typeface="Arial MT"/>
              </a:rPr>
              <a:t>form</a:t>
            </a:r>
            <a:r>
              <a:rPr sz="3200" b="0" spc="-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200" b="0" dirty="0">
                <a:solidFill>
                  <a:srgbClr val="000000"/>
                </a:solidFill>
                <a:latin typeface="Arial MT"/>
                <a:cs typeface="Arial MT"/>
              </a:rPr>
              <a:t>of</a:t>
            </a:r>
            <a:r>
              <a:rPr sz="3200" b="0" spc="-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200" b="0" dirty="0">
                <a:solidFill>
                  <a:srgbClr val="000000"/>
                </a:solidFill>
                <a:latin typeface="Arial MT"/>
                <a:cs typeface="Arial MT"/>
              </a:rPr>
              <a:t>a</a:t>
            </a:r>
            <a:r>
              <a:rPr sz="3200" b="0" spc="-5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000000"/>
                </a:solidFill>
              </a:rPr>
              <a:t>while</a:t>
            </a:r>
            <a:r>
              <a:rPr sz="3200" spc="-45" dirty="0">
                <a:solidFill>
                  <a:srgbClr val="000000"/>
                </a:solidFill>
              </a:rPr>
              <a:t> </a:t>
            </a:r>
            <a:r>
              <a:rPr sz="3200" b="0" spc="-10" dirty="0">
                <a:solidFill>
                  <a:srgbClr val="000000"/>
                </a:solidFill>
                <a:latin typeface="Arial MT"/>
                <a:cs typeface="Arial MT"/>
              </a:rPr>
              <a:t>loop: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64994" y="891895"/>
            <a:ext cx="2411730" cy="229044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while</a:t>
            </a:r>
            <a:r>
              <a:rPr sz="2000" dirty="0">
                <a:latin typeface="Arial MT"/>
                <a:cs typeface="Arial MT"/>
              </a:rPr>
              <a:t>(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condition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)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FF3399"/>
                </a:solidFill>
                <a:latin typeface="Arial MT"/>
                <a:cs typeface="Arial MT"/>
              </a:rPr>
              <a:t>do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000" spc="-50" dirty="0">
                <a:latin typeface="Arial MT"/>
                <a:cs typeface="Arial MT"/>
              </a:rPr>
              <a:t>{</a:t>
            </a:r>
            <a:endParaRPr sz="200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  <a:spcBef>
                <a:spcPts val="480"/>
              </a:spcBef>
            </a:pPr>
            <a:r>
              <a:rPr sz="2000" spc="-10" dirty="0">
                <a:latin typeface="Arial MT"/>
                <a:cs typeface="Arial MT"/>
              </a:rPr>
              <a:t>statement_1;</a:t>
            </a:r>
            <a:endParaRPr sz="2000">
              <a:latin typeface="Arial MT"/>
              <a:cs typeface="Arial MT"/>
            </a:endParaRPr>
          </a:p>
          <a:p>
            <a:pPr marL="1276350">
              <a:lnSpc>
                <a:spcPct val="100000"/>
              </a:lnSpc>
              <a:spcBef>
                <a:spcPts val="484"/>
              </a:spcBef>
            </a:pPr>
            <a:r>
              <a:rPr sz="2000" spc="-50" dirty="0">
                <a:latin typeface="Arial MT"/>
                <a:cs typeface="Arial MT"/>
              </a:rPr>
              <a:t>:</a:t>
            </a:r>
            <a:endParaRPr sz="200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  <a:spcBef>
                <a:spcPts val="480"/>
              </a:spcBef>
            </a:pPr>
            <a:r>
              <a:rPr sz="2000" spc="-10" dirty="0">
                <a:latin typeface="Arial MT"/>
                <a:cs typeface="Arial MT"/>
              </a:rPr>
              <a:t>statement_n;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spc="-50" dirty="0">
                <a:latin typeface="Arial MT"/>
                <a:cs typeface="Arial MT"/>
              </a:rPr>
              <a:t>}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8839" y="524382"/>
            <a:ext cx="555053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dirty="0">
                <a:solidFill>
                  <a:srgbClr val="000000"/>
                </a:solidFill>
                <a:latin typeface="Arial MT"/>
                <a:cs typeface="Arial MT"/>
              </a:rPr>
              <a:t>The</a:t>
            </a:r>
            <a:r>
              <a:rPr sz="3200" b="0" spc="-3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200" b="0" dirty="0">
                <a:solidFill>
                  <a:srgbClr val="000000"/>
                </a:solidFill>
                <a:latin typeface="Arial MT"/>
                <a:cs typeface="Arial MT"/>
              </a:rPr>
              <a:t>general</a:t>
            </a:r>
            <a:r>
              <a:rPr sz="3200" b="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200" b="0" dirty="0">
                <a:solidFill>
                  <a:srgbClr val="000000"/>
                </a:solidFill>
                <a:latin typeface="Arial MT"/>
                <a:cs typeface="Arial MT"/>
              </a:rPr>
              <a:t>form</a:t>
            </a:r>
            <a:r>
              <a:rPr sz="3200" b="0" spc="-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200" b="0" dirty="0">
                <a:solidFill>
                  <a:srgbClr val="000000"/>
                </a:solidFill>
                <a:latin typeface="Arial MT"/>
                <a:cs typeface="Arial MT"/>
              </a:rPr>
              <a:t>of</a:t>
            </a:r>
            <a:r>
              <a:rPr sz="3200" b="0" spc="-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200" b="0" dirty="0">
                <a:solidFill>
                  <a:srgbClr val="000000"/>
                </a:solidFill>
                <a:latin typeface="Arial MT"/>
                <a:cs typeface="Arial MT"/>
              </a:rPr>
              <a:t>a</a:t>
            </a:r>
            <a:r>
              <a:rPr sz="3200" b="0" spc="-6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000000"/>
                </a:solidFill>
              </a:rPr>
              <a:t>for</a:t>
            </a:r>
            <a:r>
              <a:rPr sz="3200" spc="-20" dirty="0">
                <a:solidFill>
                  <a:srgbClr val="000000"/>
                </a:solidFill>
              </a:rPr>
              <a:t> </a:t>
            </a:r>
            <a:r>
              <a:rPr sz="3200" b="0" spc="-10" dirty="0">
                <a:solidFill>
                  <a:srgbClr val="000000"/>
                </a:solidFill>
                <a:latin typeface="Arial MT"/>
                <a:cs typeface="Arial MT"/>
              </a:rPr>
              <a:t>loop: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3444" y="1211707"/>
            <a:ext cx="7397750" cy="2623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>
              <a:lnSpc>
                <a:spcPct val="100000"/>
              </a:lnSpc>
              <a:spcBef>
                <a:spcPts val="100"/>
              </a:spcBef>
              <a:tabLst>
                <a:tab pos="5596890" algn="l"/>
              </a:tabLst>
            </a:pPr>
            <a:r>
              <a:rPr sz="2400" b="1" dirty="0">
                <a:solidFill>
                  <a:srgbClr val="FF3399"/>
                </a:solidFill>
                <a:latin typeface="Arial"/>
                <a:cs typeface="Arial"/>
              </a:rPr>
              <a:t>for</a:t>
            </a:r>
            <a:r>
              <a:rPr sz="2400" b="1" spc="-65" dirty="0">
                <a:solidFill>
                  <a:srgbClr val="FF3399"/>
                </a:solidFill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variable</a:t>
            </a:r>
            <a:r>
              <a:rPr sz="2400" i="1" spc="-3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:=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value1</a:t>
            </a:r>
            <a:r>
              <a:rPr sz="2400" i="1" spc="-40" dirty="0"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3399"/>
                </a:solidFill>
                <a:latin typeface="Arial"/>
                <a:cs typeface="Arial"/>
              </a:rPr>
              <a:t>to</a:t>
            </a:r>
            <a:r>
              <a:rPr sz="2400" b="1" spc="-70" dirty="0">
                <a:solidFill>
                  <a:srgbClr val="FF3399"/>
                </a:solidFill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value2</a:t>
            </a:r>
            <a:r>
              <a:rPr sz="2400" i="1" spc="-35" dirty="0">
                <a:latin typeface="Arial"/>
                <a:cs typeface="Arial"/>
              </a:rPr>
              <a:t> </a:t>
            </a:r>
            <a:r>
              <a:rPr sz="2400" b="1" spc="-20" dirty="0">
                <a:solidFill>
                  <a:srgbClr val="FF3399"/>
                </a:solidFill>
                <a:latin typeface="Arial"/>
                <a:cs typeface="Arial"/>
              </a:rPr>
              <a:t>step</a:t>
            </a:r>
            <a:r>
              <a:rPr sz="2400" b="1" dirty="0">
                <a:solidFill>
                  <a:srgbClr val="FF3399"/>
                </a:solidFill>
                <a:latin typeface="Arial"/>
                <a:cs typeface="Arial"/>
              </a:rPr>
              <a:t>	</a:t>
            </a:r>
            <a:r>
              <a:rPr sz="2400" i="1" dirty="0">
                <a:latin typeface="Arial"/>
                <a:cs typeface="Arial"/>
              </a:rPr>
              <a:t>step</a:t>
            </a:r>
            <a:r>
              <a:rPr sz="2400" i="1" spc="-70" dirty="0"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FF3399"/>
                </a:solidFill>
                <a:latin typeface="Arial"/>
                <a:cs typeface="Arial"/>
              </a:rPr>
              <a:t>do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70"/>
              </a:spcBef>
            </a:pPr>
            <a:endParaRPr sz="24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Char char="–"/>
              <a:tabLst>
                <a:tab pos="299085" algn="l"/>
              </a:tabLst>
            </a:pPr>
            <a:r>
              <a:rPr sz="2000" dirty="0">
                <a:latin typeface="Arial MT"/>
                <a:cs typeface="Arial MT"/>
              </a:rPr>
              <a:t>Here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value1,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value2,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step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arithmetic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expressions.</a:t>
            </a:r>
            <a:endParaRPr sz="2000">
              <a:latin typeface="Arial MT"/>
              <a:cs typeface="Arial MT"/>
            </a:endParaRPr>
          </a:p>
          <a:p>
            <a:pPr marL="299085" marR="5080" indent="-287020">
              <a:lnSpc>
                <a:spcPct val="100000"/>
              </a:lnSpc>
              <a:spcBef>
                <a:spcPts val="480"/>
              </a:spcBef>
              <a:buChar char="–"/>
              <a:tabLst>
                <a:tab pos="299085" algn="l"/>
              </a:tabLst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clause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“</a:t>
            </a:r>
            <a:r>
              <a:rPr sz="2000" b="1" dirty="0">
                <a:latin typeface="Arial"/>
                <a:cs typeface="Arial"/>
              </a:rPr>
              <a:t>step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step”</a:t>
            </a:r>
            <a:r>
              <a:rPr sz="2000" i="1" spc="-25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optional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taken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+1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if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does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not </a:t>
            </a:r>
            <a:r>
              <a:rPr sz="2000" spc="-10" dirty="0">
                <a:latin typeface="Arial MT"/>
                <a:cs typeface="Arial MT"/>
              </a:rPr>
              <a:t>occur.</a:t>
            </a:r>
            <a:endParaRPr sz="20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480"/>
              </a:spcBef>
              <a:buFont typeface="Arial MT"/>
              <a:buChar char="–"/>
              <a:tabLst>
                <a:tab pos="299085" algn="l"/>
              </a:tabLst>
            </a:pPr>
            <a:r>
              <a:rPr sz="2000" i="1" dirty="0">
                <a:latin typeface="Arial"/>
                <a:cs typeface="Arial"/>
              </a:rPr>
              <a:t>step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could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either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positive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negative.</a:t>
            </a:r>
            <a:endParaRPr sz="20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480"/>
              </a:spcBef>
              <a:buFont typeface="Arial MT"/>
              <a:buChar char="–"/>
              <a:tabLst>
                <a:tab pos="299085" algn="l"/>
              </a:tabLst>
            </a:pPr>
            <a:r>
              <a:rPr sz="2000" i="1" dirty="0">
                <a:latin typeface="Arial"/>
                <a:cs typeface="Arial"/>
              </a:rPr>
              <a:t>variable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tested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termination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start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each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iteration.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75056"/>
            <a:ext cx="6837045" cy="1196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  <a:tabLst>
                <a:tab pos="2585720" algn="l"/>
              </a:tabLst>
            </a:pPr>
            <a:r>
              <a:rPr sz="3200" b="0" dirty="0">
                <a:solidFill>
                  <a:srgbClr val="000000"/>
                </a:solidFill>
                <a:latin typeface="Arial MT"/>
                <a:cs typeface="Arial MT"/>
              </a:rPr>
              <a:t>The</a:t>
            </a:r>
            <a:r>
              <a:rPr sz="3200" b="0" spc="-5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200" b="0" dirty="0">
                <a:solidFill>
                  <a:srgbClr val="000000"/>
                </a:solidFill>
                <a:latin typeface="Arial MT"/>
                <a:cs typeface="Arial MT"/>
              </a:rPr>
              <a:t>for</a:t>
            </a:r>
            <a:r>
              <a:rPr sz="3200" b="0" spc="-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200" b="0" dirty="0">
                <a:solidFill>
                  <a:srgbClr val="000000"/>
                </a:solidFill>
                <a:latin typeface="Arial MT"/>
                <a:cs typeface="Arial MT"/>
              </a:rPr>
              <a:t>loop</a:t>
            </a:r>
            <a:r>
              <a:rPr sz="3200" b="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200" b="0" dirty="0">
                <a:solidFill>
                  <a:srgbClr val="000000"/>
                </a:solidFill>
                <a:latin typeface="Arial MT"/>
                <a:cs typeface="Arial MT"/>
              </a:rPr>
              <a:t>can</a:t>
            </a:r>
            <a:r>
              <a:rPr sz="3200" b="0" spc="-5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200" b="0" dirty="0">
                <a:solidFill>
                  <a:srgbClr val="000000"/>
                </a:solidFill>
                <a:latin typeface="Arial MT"/>
                <a:cs typeface="Arial MT"/>
              </a:rPr>
              <a:t>be</a:t>
            </a:r>
            <a:r>
              <a:rPr sz="3200" b="0" spc="-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200" b="0" dirty="0">
                <a:solidFill>
                  <a:srgbClr val="000000"/>
                </a:solidFill>
                <a:latin typeface="Arial MT"/>
                <a:cs typeface="Arial MT"/>
              </a:rPr>
              <a:t>implemented</a:t>
            </a:r>
            <a:r>
              <a:rPr sz="3200" b="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200" b="0" dirty="0">
                <a:solidFill>
                  <a:srgbClr val="000000"/>
                </a:solidFill>
                <a:latin typeface="Arial MT"/>
                <a:cs typeface="Arial MT"/>
              </a:rPr>
              <a:t>as</a:t>
            </a:r>
            <a:r>
              <a:rPr sz="3200" b="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200" b="0" spc="-50" dirty="0">
                <a:solidFill>
                  <a:srgbClr val="000000"/>
                </a:solidFill>
                <a:latin typeface="Arial MT"/>
                <a:cs typeface="Arial MT"/>
              </a:rPr>
              <a:t>a </a:t>
            </a:r>
            <a:r>
              <a:rPr sz="3200" b="0" dirty="0">
                <a:solidFill>
                  <a:srgbClr val="000000"/>
                </a:solidFill>
                <a:latin typeface="Arial MT"/>
                <a:cs typeface="Arial MT"/>
              </a:rPr>
              <a:t>while</a:t>
            </a:r>
            <a:r>
              <a:rPr sz="3200" b="0" spc="-4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200" b="0" dirty="0">
                <a:solidFill>
                  <a:srgbClr val="000000"/>
                </a:solidFill>
                <a:latin typeface="Arial MT"/>
                <a:cs typeface="Arial MT"/>
              </a:rPr>
              <a:t>loop</a:t>
            </a:r>
            <a:r>
              <a:rPr sz="3200" b="0" spc="-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200" b="0" spc="-25" dirty="0">
                <a:solidFill>
                  <a:srgbClr val="000000"/>
                </a:solidFill>
                <a:latin typeface="Arial MT"/>
                <a:cs typeface="Arial MT"/>
              </a:rPr>
              <a:t>as</a:t>
            </a:r>
            <a:r>
              <a:rPr sz="3200" b="0" dirty="0">
                <a:solidFill>
                  <a:srgbClr val="000000"/>
                </a:solidFill>
                <a:latin typeface="Arial MT"/>
                <a:cs typeface="Arial MT"/>
              </a:rPr>
              <a:t>	</a:t>
            </a:r>
            <a:r>
              <a:rPr sz="3200" b="0" spc="-10" dirty="0">
                <a:solidFill>
                  <a:srgbClr val="000000"/>
                </a:solidFill>
                <a:latin typeface="Arial MT"/>
                <a:cs typeface="Arial MT"/>
              </a:rPr>
              <a:t>follows: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63056" rIns="0" bIns="0" rtlCol="0">
            <a:spAutoFit/>
          </a:bodyPr>
          <a:lstStyle/>
          <a:p>
            <a:pPr marL="520700">
              <a:lnSpc>
                <a:spcPct val="100000"/>
              </a:lnSpc>
              <a:spcBef>
                <a:spcPts val="580"/>
              </a:spcBef>
            </a:pPr>
            <a:r>
              <a:rPr sz="2000" spc="-10" dirty="0"/>
              <a:t>variable:=value1;</a:t>
            </a:r>
            <a:endParaRPr sz="2000"/>
          </a:p>
          <a:p>
            <a:pPr marL="520700">
              <a:lnSpc>
                <a:spcPct val="100000"/>
              </a:lnSpc>
              <a:spcBef>
                <a:spcPts val="484"/>
              </a:spcBef>
            </a:pPr>
            <a:r>
              <a:rPr sz="2000" spc="-10" dirty="0"/>
              <a:t>incr:=step;</a:t>
            </a:r>
            <a:endParaRPr sz="2000"/>
          </a:p>
          <a:p>
            <a:pPr marL="520700">
              <a:lnSpc>
                <a:spcPct val="100000"/>
              </a:lnSpc>
              <a:spcBef>
                <a:spcPts val="480"/>
              </a:spcBef>
            </a:pPr>
            <a:r>
              <a:rPr sz="2000" dirty="0"/>
              <a:t>while(</a:t>
            </a:r>
            <a:r>
              <a:rPr sz="2000" spc="-30" dirty="0"/>
              <a:t> </a:t>
            </a:r>
            <a:r>
              <a:rPr sz="2000" dirty="0"/>
              <a:t>(</a:t>
            </a:r>
            <a:r>
              <a:rPr sz="2000" spc="-30" dirty="0"/>
              <a:t> </a:t>
            </a:r>
            <a:r>
              <a:rPr sz="2000" dirty="0"/>
              <a:t>variable</a:t>
            </a:r>
            <a:r>
              <a:rPr sz="2000" spc="-15" dirty="0"/>
              <a:t> </a:t>
            </a:r>
            <a:r>
              <a:rPr sz="2000" dirty="0"/>
              <a:t>–</a:t>
            </a:r>
            <a:r>
              <a:rPr sz="2000" spc="-30" dirty="0"/>
              <a:t> </a:t>
            </a:r>
            <a:r>
              <a:rPr sz="2000" dirty="0"/>
              <a:t>value2)*step</a:t>
            </a:r>
            <a:r>
              <a:rPr sz="2000" spc="-60" dirty="0"/>
              <a:t> </a:t>
            </a:r>
            <a:r>
              <a:rPr sz="2000" dirty="0"/>
              <a:t>≤</a:t>
            </a:r>
            <a:r>
              <a:rPr sz="2000" spc="-30" dirty="0"/>
              <a:t> </a:t>
            </a:r>
            <a:r>
              <a:rPr sz="2000" dirty="0"/>
              <a:t>0)</a:t>
            </a:r>
            <a:r>
              <a:rPr sz="2000" spc="-30" dirty="0"/>
              <a:t> </a:t>
            </a:r>
            <a:r>
              <a:rPr sz="2000" spc="-25" dirty="0"/>
              <a:t>do</a:t>
            </a:r>
            <a:endParaRPr sz="2000"/>
          </a:p>
          <a:p>
            <a:pPr marL="520700">
              <a:lnSpc>
                <a:spcPct val="100000"/>
              </a:lnSpc>
              <a:spcBef>
                <a:spcPts val="480"/>
              </a:spcBef>
            </a:pPr>
            <a:r>
              <a:rPr sz="2000" spc="-50" dirty="0"/>
              <a:t>{</a:t>
            </a:r>
            <a:endParaRPr sz="2000"/>
          </a:p>
          <a:p>
            <a:pPr marL="977265">
              <a:lnSpc>
                <a:spcPct val="100000"/>
              </a:lnSpc>
              <a:spcBef>
                <a:spcPts val="480"/>
              </a:spcBef>
            </a:pPr>
            <a:r>
              <a:rPr sz="2000" dirty="0"/>
              <a:t>&lt;statement</a:t>
            </a:r>
            <a:r>
              <a:rPr sz="2000" spc="-85" dirty="0"/>
              <a:t> </a:t>
            </a:r>
            <a:r>
              <a:rPr sz="2000" spc="-25" dirty="0"/>
              <a:t>1&gt;</a:t>
            </a:r>
            <a:endParaRPr sz="2000"/>
          </a:p>
          <a:p>
            <a:pPr marL="1891664">
              <a:lnSpc>
                <a:spcPct val="100000"/>
              </a:lnSpc>
              <a:spcBef>
                <a:spcPts val="480"/>
              </a:spcBef>
            </a:pPr>
            <a:r>
              <a:rPr sz="2000" spc="-50" dirty="0"/>
              <a:t>:</a:t>
            </a:r>
            <a:endParaRPr sz="2000"/>
          </a:p>
          <a:p>
            <a:pPr marL="876935">
              <a:lnSpc>
                <a:spcPct val="100000"/>
              </a:lnSpc>
              <a:spcBef>
                <a:spcPts val="480"/>
              </a:spcBef>
            </a:pPr>
            <a:r>
              <a:rPr sz="2000" dirty="0"/>
              <a:t>&lt;statement</a:t>
            </a:r>
            <a:r>
              <a:rPr sz="2000" spc="-70" dirty="0"/>
              <a:t> </a:t>
            </a:r>
            <a:r>
              <a:rPr sz="2000" spc="-25" dirty="0"/>
              <a:t>n&gt;</a:t>
            </a:r>
            <a:endParaRPr sz="2000"/>
          </a:p>
          <a:p>
            <a:pPr marL="876935">
              <a:lnSpc>
                <a:spcPct val="100000"/>
              </a:lnSpc>
              <a:spcBef>
                <a:spcPts val="480"/>
              </a:spcBef>
            </a:pPr>
            <a:r>
              <a:rPr sz="2000" dirty="0"/>
              <a:t>variable</a:t>
            </a:r>
            <a:r>
              <a:rPr sz="2000" spc="-50" dirty="0"/>
              <a:t> </a:t>
            </a:r>
            <a:r>
              <a:rPr sz="2000" spc="-10" dirty="0"/>
              <a:t>:=variable+incr;</a:t>
            </a:r>
            <a:endParaRPr sz="2000"/>
          </a:p>
          <a:p>
            <a:pPr marL="520700">
              <a:lnSpc>
                <a:spcPct val="100000"/>
              </a:lnSpc>
              <a:spcBef>
                <a:spcPts val="480"/>
              </a:spcBef>
            </a:pPr>
            <a:r>
              <a:rPr sz="2000" spc="-50" dirty="0"/>
              <a:t>}</a:t>
            </a:r>
            <a:endParaRPr sz="2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524382"/>
            <a:ext cx="7561580" cy="4176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general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form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b="1" spc="-10" dirty="0">
                <a:latin typeface="Arial"/>
                <a:cs typeface="Arial"/>
              </a:rPr>
              <a:t>repeat-</a:t>
            </a:r>
            <a:r>
              <a:rPr sz="3200" b="1" dirty="0">
                <a:latin typeface="Arial"/>
                <a:cs typeface="Arial"/>
              </a:rPr>
              <a:t>until</a:t>
            </a:r>
            <a:r>
              <a:rPr sz="3200" b="1" spc="-50" dirty="0">
                <a:latin typeface="Arial"/>
                <a:cs typeface="Arial"/>
              </a:rPr>
              <a:t> </a:t>
            </a:r>
            <a:r>
              <a:rPr sz="3200" spc="-10" dirty="0">
                <a:latin typeface="Arial MT"/>
                <a:cs typeface="Arial MT"/>
              </a:rPr>
              <a:t>loop: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35"/>
              </a:spcBef>
            </a:pPr>
            <a:endParaRPr sz="3200">
              <a:latin typeface="Arial MT"/>
              <a:cs typeface="Arial MT"/>
            </a:endParaRPr>
          </a:p>
          <a:p>
            <a:pPr marR="5356225" algn="ctr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latin typeface="Arial MT"/>
                <a:cs typeface="Arial MT"/>
              </a:rPr>
              <a:t>repeat</a:t>
            </a:r>
            <a:endParaRPr sz="2400">
              <a:latin typeface="Arial MT"/>
              <a:cs typeface="Arial MT"/>
            </a:endParaRPr>
          </a:p>
          <a:p>
            <a:pPr marR="1921510" algn="ctr">
              <a:lnSpc>
                <a:spcPct val="100000"/>
              </a:lnSpc>
              <a:spcBef>
                <a:spcPts val="670"/>
              </a:spcBef>
            </a:pPr>
            <a:r>
              <a:rPr sz="2400" dirty="0">
                <a:latin typeface="Arial MT"/>
                <a:cs typeface="Arial MT"/>
              </a:rPr>
              <a:t>&lt;statement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1&gt;</a:t>
            </a:r>
            <a:endParaRPr sz="2400">
              <a:latin typeface="Arial MT"/>
              <a:cs typeface="Arial MT"/>
            </a:endParaRPr>
          </a:p>
          <a:p>
            <a:pPr marR="1955164" algn="ctr">
              <a:lnSpc>
                <a:spcPct val="100000"/>
              </a:lnSpc>
              <a:spcBef>
                <a:spcPts val="580"/>
              </a:spcBef>
            </a:pPr>
            <a:r>
              <a:rPr sz="2400" spc="-50" dirty="0">
                <a:latin typeface="Arial MT"/>
                <a:cs typeface="Arial MT"/>
              </a:rPr>
              <a:t>:</a:t>
            </a:r>
            <a:endParaRPr sz="2400">
              <a:latin typeface="Arial MT"/>
              <a:cs typeface="Arial MT"/>
            </a:endParaRPr>
          </a:p>
          <a:p>
            <a:pPr marL="638810" marR="3679825" indent="1285875">
              <a:lnSpc>
                <a:spcPct val="120000"/>
              </a:lnSpc>
            </a:pPr>
            <a:r>
              <a:rPr sz="2400" dirty="0">
                <a:latin typeface="Arial MT"/>
                <a:cs typeface="Arial MT"/>
              </a:rPr>
              <a:t>&lt;statement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n&gt; </a:t>
            </a:r>
            <a:r>
              <a:rPr sz="2400" dirty="0">
                <a:latin typeface="Arial MT"/>
                <a:cs typeface="Arial MT"/>
              </a:rPr>
              <a:t>until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condition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)</a:t>
            </a:r>
            <a:endParaRPr sz="2400">
              <a:latin typeface="Arial MT"/>
              <a:cs typeface="Arial MT"/>
            </a:endParaRPr>
          </a:p>
          <a:p>
            <a:pPr marL="469900" marR="1661160">
              <a:lnSpc>
                <a:spcPct val="120000"/>
              </a:lnSpc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statements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executed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long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as </a:t>
            </a:r>
            <a:r>
              <a:rPr sz="2400" dirty="0">
                <a:latin typeface="Arial MT"/>
                <a:cs typeface="Arial MT"/>
              </a:rPr>
              <a:t>condition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false.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670"/>
              </a:spcBef>
            </a:pPr>
            <a:r>
              <a:rPr sz="2400" b="0" dirty="0">
                <a:solidFill>
                  <a:srgbClr val="000000"/>
                </a:solidFill>
                <a:latin typeface="Arial MT"/>
                <a:cs typeface="Arial MT"/>
              </a:rPr>
              <a:t>8.</a:t>
            </a:r>
            <a:r>
              <a:rPr sz="2400" b="0" spc="-5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 MT"/>
                <a:cs typeface="Arial MT"/>
              </a:rPr>
              <a:t>A</a:t>
            </a:r>
            <a:r>
              <a:rPr sz="2400" b="0" spc="-5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 MT"/>
                <a:cs typeface="Arial MT"/>
              </a:rPr>
              <a:t>conditional statement</a:t>
            </a:r>
            <a:r>
              <a:rPr sz="2400" b="0" spc="-6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 MT"/>
                <a:cs typeface="Arial MT"/>
              </a:rPr>
              <a:t>has</a:t>
            </a:r>
            <a:r>
              <a:rPr sz="2400" b="0" spc="-4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 MT"/>
                <a:cs typeface="Arial MT"/>
              </a:rPr>
              <a:t>the</a:t>
            </a:r>
            <a:r>
              <a:rPr sz="2400" b="0" spc="-4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400" b="0" spc="-10" dirty="0">
                <a:solidFill>
                  <a:srgbClr val="000000"/>
                </a:solidFill>
                <a:latin typeface="Arial MT"/>
                <a:cs typeface="Arial MT"/>
              </a:rPr>
              <a:t>following</a:t>
            </a:r>
            <a:endParaRPr sz="2400">
              <a:latin typeface="Arial MT"/>
              <a:cs typeface="Arial MT"/>
            </a:endParaRPr>
          </a:p>
          <a:p>
            <a:pPr marL="862965">
              <a:lnSpc>
                <a:spcPct val="100000"/>
              </a:lnSpc>
              <a:spcBef>
                <a:spcPts val="655"/>
              </a:spcBef>
            </a:pPr>
            <a:r>
              <a:rPr sz="2800" b="0" spc="-10" dirty="0">
                <a:solidFill>
                  <a:srgbClr val="000000"/>
                </a:solidFill>
                <a:latin typeface="Arial MT"/>
                <a:cs typeface="Arial MT"/>
              </a:rPr>
              <a:t>forms: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3444" y="1386076"/>
            <a:ext cx="7534909" cy="233870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299085">
              <a:lnSpc>
                <a:spcPct val="100000"/>
              </a:lnSpc>
              <a:spcBef>
                <a:spcPts val="755"/>
              </a:spcBef>
            </a:pPr>
            <a:r>
              <a:rPr sz="2000" b="1" dirty="0">
                <a:latin typeface="Arial"/>
                <a:cs typeface="Arial"/>
              </a:rPr>
              <a:t>if</a:t>
            </a:r>
            <a:r>
              <a:rPr sz="2000" dirty="0">
                <a:latin typeface="Arial MT"/>
                <a:cs typeface="Arial MT"/>
              </a:rPr>
              <a:t>&lt;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i="1" dirty="0">
                <a:latin typeface="Arial"/>
                <a:cs typeface="Arial"/>
              </a:rPr>
              <a:t>condition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&gt;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b="1" dirty="0">
                <a:latin typeface="Arial"/>
                <a:cs typeface="Arial"/>
              </a:rPr>
              <a:t>then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&lt;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i="1" dirty="0">
                <a:latin typeface="Arial"/>
                <a:cs typeface="Arial"/>
              </a:rPr>
              <a:t>statement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spc="-50" dirty="0">
                <a:latin typeface="Arial MT"/>
                <a:cs typeface="Arial MT"/>
              </a:rPr>
              <a:t>&gt;</a:t>
            </a:r>
            <a:endParaRPr sz="2000">
              <a:latin typeface="Arial MT"/>
              <a:cs typeface="Arial MT"/>
            </a:endParaRPr>
          </a:p>
          <a:p>
            <a:pPr marL="220979">
              <a:lnSpc>
                <a:spcPct val="100000"/>
              </a:lnSpc>
              <a:spcBef>
                <a:spcPts val="660"/>
              </a:spcBef>
            </a:pPr>
            <a:r>
              <a:rPr sz="2000" b="1" dirty="0">
                <a:latin typeface="Arial"/>
                <a:cs typeface="Arial"/>
              </a:rPr>
              <a:t>if</a:t>
            </a:r>
            <a:r>
              <a:rPr sz="2000" dirty="0">
                <a:latin typeface="Arial MT"/>
                <a:cs typeface="Arial MT"/>
              </a:rPr>
              <a:t>&lt;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i="1" dirty="0">
                <a:latin typeface="Arial"/>
                <a:cs typeface="Arial"/>
              </a:rPr>
              <a:t>condition</a:t>
            </a:r>
            <a:r>
              <a:rPr sz="2000" i="1" spc="-25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&gt;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b="1" dirty="0">
                <a:latin typeface="Arial"/>
                <a:cs typeface="Arial"/>
              </a:rPr>
              <a:t>then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&lt;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i="1" dirty="0">
                <a:latin typeface="Arial"/>
                <a:cs typeface="Arial"/>
              </a:rPr>
              <a:t>statement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1&gt;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else</a:t>
            </a:r>
            <a:endParaRPr sz="2000">
              <a:latin typeface="Arial MT"/>
              <a:cs typeface="Arial MT"/>
            </a:endParaRPr>
          </a:p>
          <a:p>
            <a:pPr marL="368935">
              <a:lnSpc>
                <a:spcPct val="100000"/>
              </a:lnSpc>
              <a:spcBef>
                <a:spcPts val="484"/>
              </a:spcBef>
            </a:pPr>
            <a:r>
              <a:rPr sz="2000" dirty="0">
                <a:latin typeface="Arial MT"/>
                <a:cs typeface="Arial MT"/>
              </a:rPr>
              <a:t>&lt;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i="1" dirty="0">
                <a:latin typeface="Arial"/>
                <a:cs typeface="Arial"/>
              </a:rPr>
              <a:t>statement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spc="-25" dirty="0">
                <a:latin typeface="Arial MT"/>
                <a:cs typeface="Arial MT"/>
              </a:rPr>
              <a:t>2&gt;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9.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Input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output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done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using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instructions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b="1" spc="-20" dirty="0">
                <a:latin typeface="Arial"/>
                <a:cs typeface="Arial"/>
              </a:rPr>
              <a:t>read</a:t>
            </a:r>
            <a:endParaRPr sz="2400">
              <a:latin typeface="Arial"/>
              <a:cs typeface="Arial"/>
            </a:endParaRPr>
          </a:p>
          <a:p>
            <a:pPr marL="299085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b="1" spc="-10" dirty="0">
                <a:latin typeface="Arial"/>
                <a:cs typeface="Arial"/>
              </a:rPr>
              <a:t>write.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8839" y="423798"/>
            <a:ext cx="62426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0" dirty="0">
                <a:solidFill>
                  <a:srgbClr val="000000"/>
                </a:solidFill>
                <a:latin typeface="Arial MT"/>
                <a:cs typeface="Arial MT"/>
              </a:rPr>
              <a:t>10.</a:t>
            </a:r>
            <a:r>
              <a:rPr sz="2800" b="0" spc="-6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 MT"/>
                <a:cs typeface="Arial MT"/>
              </a:rPr>
              <a:t>Procedure</a:t>
            </a:r>
            <a:r>
              <a:rPr sz="2400" b="0" spc="-4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 MT"/>
                <a:cs typeface="Arial MT"/>
              </a:rPr>
              <a:t>or</a:t>
            </a:r>
            <a:r>
              <a:rPr sz="2400" b="0" spc="-5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 MT"/>
                <a:cs typeface="Arial MT"/>
              </a:rPr>
              <a:t>function</a:t>
            </a:r>
            <a:r>
              <a:rPr sz="2400" b="0" spc="-6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 MT"/>
                <a:cs typeface="Arial MT"/>
              </a:rPr>
              <a:t>starts</a:t>
            </a:r>
            <a:r>
              <a:rPr sz="2400" b="0" spc="-7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 MT"/>
                <a:cs typeface="Arial MT"/>
              </a:rPr>
              <a:t>with</a:t>
            </a:r>
            <a:r>
              <a:rPr sz="2400" b="0" spc="-4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 MT"/>
                <a:cs typeface="Arial MT"/>
              </a:rPr>
              <a:t>the</a:t>
            </a:r>
            <a:r>
              <a:rPr sz="2400" b="0" spc="-5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400" b="0" spc="-20" dirty="0">
                <a:solidFill>
                  <a:srgbClr val="000000"/>
                </a:solidFill>
                <a:latin typeface="Arial MT"/>
                <a:cs typeface="Arial MT"/>
              </a:rPr>
              <a:t>word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3444" y="937386"/>
            <a:ext cx="7480934" cy="4854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0059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Arial"/>
                <a:cs typeface="Arial"/>
              </a:rPr>
              <a:t>Algorithm.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>
              <a:latin typeface="Arial"/>
              <a:cs typeface="Arial"/>
            </a:endParaRPr>
          </a:p>
          <a:p>
            <a:pPr marL="228600">
              <a:lnSpc>
                <a:spcPct val="100000"/>
              </a:lnSpc>
              <a:tabLst>
                <a:tab pos="1482725" algn="l"/>
              </a:tabLst>
            </a:pPr>
            <a:r>
              <a:rPr sz="2400" spc="-10" dirty="0">
                <a:latin typeface="Arial MT"/>
                <a:cs typeface="Arial MT"/>
              </a:rPr>
              <a:t>General</a:t>
            </a:r>
            <a:r>
              <a:rPr sz="2400" dirty="0">
                <a:latin typeface="Arial MT"/>
                <a:cs typeface="Arial MT"/>
              </a:rPr>
              <a:t>	form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:</a:t>
            </a:r>
            <a:endParaRPr sz="2400">
              <a:latin typeface="Arial MT"/>
              <a:cs typeface="Arial MT"/>
            </a:endParaRPr>
          </a:p>
          <a:p>
            <a:pPr marL="469265">
              <a:lnSpc>
                <a:spcPct val="100000"/>
              </a:lnSpc>
              <a:spcBef>
                <a:spcPts val="1140"/>
              </a:spcBef>
            </a:pPr>
            <a:r>
              <a:rPr sz="2800" b="1" dirty="0">
                <a:latin typeface="Arial"/>
                <a:cs typeface="Arial"/>
              </a:rPr>
              <a:t>Algorithm</a:t>
            </a:r>
            <a:r>
              <a:rPr sz="2800" b="1" spc="-90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Name</a:t>
            </a:r>
            <a:r>
              <a:rPr sz="2800" dirty="0">
                <a:latin typeface="Arial MT"/>
                <a:cs typeface="Arial MT"/>
              </a:rPr>
              <a:t>(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&lt;parameter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list&gt;</a:t>
            </a:r>
            <a:r>
              <a:rPr sz="2800" spc="-114" dirty="0">
                <a:latin typeface="Arial MT"/>
                <a:cs typeface="Arial MT"/>
              </a:rPr>
              <a:t> </a:t>
            </a:r>
            <a:r>
              <a:rPr sz="2800" spc="-50" dirty="0">
                <a:latin typeface="Arial MT"/>
                <a:cs typeface="Arial MT"/>
              </a:rPr>
              <a:t>)</a:t>
            </a:r>
            <a:endParaRPr sz="2800">
              <a:latin typeface="Arial MT"/>
              <a:cs typeface="Arial MT"/>
            </a:endParaRPr>
          </a:p>
          <a:p>
            <a:pPr marL="469265">
              <a:lnSpc>
                <a:spcPct val="100000"/>
              </a:lnSpc>
              <a:spcBef>
                <a:spcPts val="765"/>
              </a:spcBef>
            </a:pPr>
            <a:r>
              <a:rPr sz="2800" spc="-50" dirty="0">
                <a:latin typeface="Arial MT"/>
                <a:cs typeface="Arial MT"/>
              </a:rPr>
              <a:t>{</a:t>
            </a:r>
            <a:endParaRPr sz="2800">
              <a:latin typeface="Arial MT"/>
              <a:cs typeface="Arial MT"/>
            </a:endParaRPr>
          </a:p>
          <a:p>
            <a:pPr marL="1383665">
              <a:lnSpc>
                <a:spcPct val="100000"/>
              </a:lnSpc>
              <a:spcBef>
                <a:spcPts val="675"/>
              </a:spcBef>
            </a:pPr>
            <a:r>
              <a:rPr sz="2800" spc="-20" dirty="0">
                <a:latin typeface="Arial MT"/>
                <a:cs typeface="Arial MT"/>
              </a:rPr>
              <a:t>body</a:t>
            </a:r>
            <a:endParaRPr sz="2800">
              <a:latin typeface="Arial MT"/>
              <a:cs typeface="Arial MT"/>
            </a:endParaRPr>
          </a:p>
          <a:p>
            <a:pPr marL="469265">
              <a:lnSpc>
                <a:spcPct val="100000"/>
              </a:lnSpc>
              <a:spcBef>
                <a:spcPts val="675"/>
              </a:spcBef>
            </a:pPr>
            <a:r>
              <a:rPr sz="2800" spc="-50" dirty="0">
                <a:latin typeface="Arial MT"/>
                <a:cs typeface="Arial MT"/>
              </a:rPr>
              <a:t>}</a:t>
            </a:r>
            <a:endParaRPr sz="2800">
              <a:latin typeface="Arial MT"/>
              <a:cs typeface="Arial MT"/>
            </a:endParaRPr>
          </a:p>
          <a:p>
            <a:pPr marL="231775">
              <a:lnSpc>
                <a:spcPct val="100000"/>
              </a:lnSpc>
              <a:spcBef>
                <a:spcPts val="1150"/>
              </a:spcBef>
            </a:pPr>
            <a:r>
              <a:rPr sz="2800" dirty="0">
                <a:latin typeface="Arial MT"/>
                <a:cs typeface="Arial MT"/>
              </a:rPr>
              <a:t>where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i="1" dirty="0">
                <a:latin typeface="Arial"/>
                <a:cs typeface="Arial"/>
              </a:rPr>
              <a:t>Name</a:t>
            </a:r>
            <a:r>
              <a:rPr sz="2800" i="1" spc="-30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name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procedure.</a:t>
            </a:r>
            <a:endParaRPr sz="2800">
              <a:latin typeface="Arial MT"/>
              <a:cs typeface="Arial MT"/>
            </a:endParaRPr>
          </a:p>
          <a:p>
            <a:pPr marL="382905" indent="-370205">
              <a:lnSpc>
                <a:spcPct val="100000"/>
              </a:lnSpc>
              <a:spcBef>
                <a:spcPts val="690"/>
              </a:spcBef>
              <a:buChar char="–"/>
              <a:tabLst>
                <a:tab pos="382905" algn="l"/>
              </a:tabLst>
            </a:pPr>
            <a:r>
              <a:rPr sz="2400" dirty="0">
                <a:latin typeface="Arial MT"/>
                <a:cs typeface="Arial MT"/>
              </a:rPr>
              <a:t>Simple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variables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procedures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passed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value.</a:t>
            </a:r>
            <a:endParaRPr sz="2400">
              <a:latin typeface="Arial MT"/>
              <a:cs typeface="Arial MT"/>
            </a:endParaRPr>
          </a:p>
          <a:p>
            <a:pPr marL="382905" indent="-370205">
              <a:lnSpc>
                <a:spcPct val="100000"/>
              </a:lnSpc>
              <a:spcBef>
                <a:spcPts val="575"/>
              </a:spcBef>
              <a:buChar char="–"/>
              <a:tabLst>
                <a:tab pos="382905" algn="l"/>
              </a:tabLst>
            </a:pPr>
            <a:r>
              <a:rPr sz="2400" dirty="0">
                <a:latin typeface="Arial MT"/>
                <a:cs typeface="Arial MT"/>
              </a:rPr>
              <a:t>Arrays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records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passed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reference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02005" marR="5080" indent="-789940">
              <a:lnSpc>
                <a:spcPct val="100000"/>
              </a:lnSpc>
              <a:spcBef>
                <a:spcPts val="100"/>
              </a:spcBef>
            </a:pPr>
            <a:r>
              <a:rPr sz="3200" b="0" dirty="0">
                <a:solidFill>
                  <a:srgbClr val="000000"/>
                </a:solidFill>
                <a:latin typeface="Arial MT"/>
                <a:cs typeface="Arial MT"/>
              </a:rPr>
              <a:t>Ex:-Algorithm</a:t>
            </a:r>
            <a:r>
              <a:rPr sz="3200" b="0" spc="-6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200" b="0" dirty="0">
                <a:solidFill>
                  <a:srgbClr val="000000"/>
                </a:solidFill>
                <a:latin typeface="Arial MT"/>
                <a:cs typeface="Arial MT"/>
              </a:rPr>
              <a:t>that</a:t>
            </a:r>
            <a:r>
              <a:rPr sz="3200" b="0" spc="-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200" b="0" dirty="0">
                <a:solidFill>
                  <a:srgbClr val="000000"/>
                </a:solidFill>
                <a:latin typeface="Arial MT"/>
                <a:cs typeface="Arial MT"/>
              </a:rPr>
              <a:t>finds</a:t>
            </a:r>
            <a:r>
              <a:rPr sz="3200" b="0" spc="-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200" b="0" dirty="0">
                <a:solidFill>
                  <a:srgbClr val="000000"/>
                </a:solidFill>
                <a:latin typeface="Arial MT"/>
                <a:cs typeface="Arial MT"/>
              </a:rPr>
              <a:t>and</a:t>
            </a:r>
            <a:r>
              <a:rPr sz="3200" b="0" spc="-4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200" b="0" dirty="0">
                <a:solidFill>
                  <a:srgbClr val="000000"/>
                </a:solidFill>
                <a:latin typeface="Arial MT"/>
                <a:cs typeface="Arial MT"/>
              </a:rPr>
              <a:t>returns</a:t>
            </a:r>
            <a:r>
              <a:rPr sz="3200" b="0" spc="-5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200" b="0" spc="-25" dirty="0">
                <a:solidFill>
                  <a:srgbClr val="000000"/>
                </a:solidFill>
                <a:latin typeface="Arial MT"/>
                <a:cs typeface="Arial MT"/>
              </a:rPr>
              <a:t>the </a:t>
            </a:r>
            <a:r>
              <a:rPr sz="3200" b="0" dirty="0">
                <a:solidFill>
                  <a:srgbClr val="000000"/>
                </a:solidFill>
                <a:latin typeface="Arial MT"/>
                <a:cs typeface="Arial MT"/>
              </a:rPr>
              <a:t>maximum</a:t>
            </a:r>
            <a:r>
              <a:rPr sz="3200" b="0" spc="-4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200" b="0" dirty="0">
                <a:solidFill>
                  <a:srgbClr val="000000"/>
                </a:solidFill>
                <a:latin typeface="Arial MT"/>
                <a:cs typeface="Arial MT"/>
              </a:rPr>
              <a:t>of</a:t>
            </a:r>
            <a:r>
              <a:rPr sz="3200" b="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200" b="0" dirty="0">
                <a:solidFill>
                  <a:srgbClr val="000000"/>
                </a:solidFill>
                <a:latin typeface="Arial MT"/>
                <a:cs typeface="Arial MT"/>
              </a:rPr>
              <a:t>n</a:t>
            </a:r>
            <a:r>
              <a:rPr sz="3200" b="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200" b="0" dirty="0">
                <a:solidFill>
                  <a:srgbClr val="000000"/>
                </a:solidFill>
                <a:latin typeface="Arial MT"/>
                <a:cs typeface="Arial MT"/>
              </a:rPr>
              <a:t>given</a:t>
            </a:r>
            <a:r>
              <a:rPr sz="3200" b="0" spc="-3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200" b="0" spc="-10" dirty="0">
                <a:solidFill>
                  <a:srgbClr val="000000"/>
                </a:solidFill>
                <a:latin typeface="Arial MT"/>
                <a:cs typeface="Arial MT"/>
              </a:rPr>
              <a:t>numbers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4267" y="1514677"/>
            <a:ext cx="4477385" cy="32994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0" dirty="0">
                <a:latin typeface="Arial MT"/>
                <a:cs typeface="Arial MT"/>
              </a:rPr>
              <a:t>Algorithm(a,n)</a:t>
            </a:r>
            <a:endParaRPr sz="3200">
              <a:latin typeface="Arial MT"/>
              <a:cs typeface="Arial MT"/>
            </a:endParaRPr>
          </a:p>
          <a:p>
            <a:pPr marL="17145">
              <a:lnSpc>
                <a:spcPct val="100000"/>
              </a:lnSpc>
              <a:spcBef>
                <a:spcPts val="1970"/>
              </a:spcBef>
            </a:pPr>
            <a:r>
              <a:rPr sz="2000" dirty="0">
                <a:latin typeface="Arial MT"/>
                <a:cs typeface="Arial MT"/>
              </a:rPr>
              <a:t>//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 an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array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size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0" dirty="0">
                <a:latin typeface="Arial MT"/>
                <a:cs typeface="Arial MT"/>
              </a:rPr>
              <a:t>n</a:t>
            </a:r>
            <a:endParaRPr sz="2000">
              <a:latin typeface="Arial MT"/>
              <a:cs typeface="Arial MT"/>
            </a:endParaRPr>
          </a:p>
          <a:p>
            <a:pPr marL="17145">
              <a:lnSpc>
                <a:spcPct val="100000"/>
              </a:lnSpc>
              <a:spcBef>
                <a:spcPts val="755"/>
              </a:spcBef>
            </a:pPr>
            <a:r>
              <a:rPr sz="2000" spc="-50" dirty="0">
                <a:latin typeface="Arial MT"/>
                <a:cs typeface="Arial MT"/>
              </a:rPr>
              <a:t>{</a:t>
            </a:r>
            <a:endParaRPr sz="2000">
              <a:latin typeface="Arial MT"/>
              <a:cs typeface="Arial MT"/>
            </a:endParaRPr>
          </a:p>
          <a:p>
            <a:pPr marL="728980">
              <a:lnSpc>
                <a:spcPct val="100000"/>
              </a:lnSpc>
              <a:spcBef>
                <a:spcPts val="480"/>
              </a:spcBef>
            </a:pPr>
            <a:r>
              <a:rPr sz="2000" spc="-10" dirty="0">
                <a:latin typeface="Arial MT"/>
                <a:cs typeface="Arial MT"/>
              </a:rPr>
              <a:t>Result:=a[1];</a:t>
            </a:r>
            <a:endParaRPr sz="2000">
              <a:latin typeface="Arial MT"/>
              <a:cs typeface="Arial MT"/>
            </a:endParaRPr>
          </a:p>
          <a:p>
            <a:pPr marL="72898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for</a:t>
            </a:r>
            <a:r>
              <a:rPr sz="2000" spc="-3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i:=2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to</a:t>
            </a:r>
            <a:r>
              <a:rPr sz="2000" spc="-2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FF3399"/>
                </a:solidFill>
                <a:latin typeface="Arial MT"/>
                <a:cs typeface="Arial MT"/>
              </a:rPr>
              <a:t>do</a:t>
            </a:r>
            <a:endParaRPr sz="2000">
              <a:latin typeface="Arial MT"/>
              <a:cs typeface="Arial MT"/>
            </a:endParaRPr>
          </a:p>
          <a:p>
            <a:pPr marL="1007744">
              <a:lnSpc>
                <a:spcPct val="100000"/>
              </a:lnSpc>
              <a:spcBef>
                <a:spcPts val="484"/>
              </a:spcBef>
              <a:tabLst>
                <a:tab pos="2552065" algn="l"/>
              </a:tabLst>
            </a:pP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if</a:t>
            </a:r>
            <a:r>
              <a:rPr sz="2000" spc="-1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a[i]&gt;Result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then</a:t>
            </a:r>
            <a:r>
              <a:rPr sz="2000" spc="-4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Result:=a[i];</a:t>
            </a:r>
            <a:endParaRPr sz="2000">
              <a:latin typeface="Arial MT"/>
              <a:cs typeface="Arial MT"/>
            </a:endParaRPr>
          </a:p>
          <a:p>
            <a:pPr marL="241808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return</a:t>
            </a:r>
            <a:r>
              <a:rPr sz="2000" spc="-5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Result;</a:t>
            </a:r>
            <a:endParaRPr sz="2000">
              <a:latin typeface="Arial MT"/>
              <a:cs typeface="Arial MT"/>
            </a:endParaRPr>
          </a:p>
          <a:p>
            <a:pPr marL="17145">
              <a:lnSpc>
                <a:spcPct val="100000"/>
              </a:lnSpc>
              <a:spcBef>
                <a:spcPts val="480"/>
              </a:spcBef>
            </a:pPr>
            <a:r>
              <a:rPr sz="2000" spc="-50" dirty="0">
                <a:latin typeface="Arial MT"/>
                <a:cs typeface="Arial MT"/>
              </a:rPr>
              <a:t>}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397891"/>
            <a:ext cx="673036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b="0" spc="-10" dirty="0">
                <a:solidFill>
                  <a:srgbClr val="000000"/>
                </a:solidFill>
                <a:latin typeface="Arial MT"/>
                <a:cs typeface="Arial MT"/>
              </a:rPr>
              <a:t>Ex:-</a:t>
            </a:r>
            <a:r>
              <a:rPr sz="2800" b="0" dirty="0">
                <a:solidFill>
                  <a:srgbClr val="000000"/>
                </a:solidFill>
                <a:latin typeface="Arial MT"/>
                <a:cs typeface="Arial MT"/>
              </a:rPr>
              <a:t>Write</a:t>
            </a:r>
            <a:r>
              <a:rPr sz="2800" b="0" spc="-5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 MT"/>
                <a:cs typeface="Arial MT"/>
              </a:rPr>
              <a:t>an</a:t>
            </a:r>
            <a:r>
              <a:rPr sz="2800" b="0" spc="-4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 MT"/>
                <a:cs typeface="Arial MT"/>
              </a:rPr>
              <a:t>algorithm</a:t>
            </a:r>
            <a:r>
              <a:rPr sz="2800" b="0" spc="-3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 MT"/>
                <a:cs typeface="Arial MT"/>
              </a:rPr>
              <a:t>to</a:t>
            </a:r>
            <a:r>
              <a:rPr sz="2800" b="0" spc="-5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 MT"/>
                <a:cs typeface="Arial MT"/>
              </a:rPr>
              <a:t>sort</a:t>
            </a:r>
            <a:r>
              <a:rPr sz="2800" b="0" spc="-4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 MT"/>
                <a:cs typeface="Arial MT"/>
              </a:rPr>
              <a:t>an</a:t>
            </a:r>
            <a:r>
              <a:rPr sz="2800" b="0" spc="-4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 MT"/>
                <a:cs typeface="Arial MT"/>
              </a:rPr>
              <a:t>array</a:t>
            </a:r>
            <a:r>
              <a:rPr sz="2800" b="0" spc="-4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 MT"/>
                <a:cs typeface="Arial MT"/>
              </a:rPr>
              <a:t>of</a:t>
            </a:r>
            <a:r>
              <a:rPr sz="2800" b="0" spc="-5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800" b="0" spc="-50" dirty="0">
                <a:solidFill>
                  <a:srgbClr val="000000"/>
                </a:solidFill>
                <a:latin typeface="Arial MT"/>
                <a:cs typeface="Arial MT"/>
              </a:rPr>
              <a:t>n </a:t>
            </a:r>
            <a:r>
              <a:rPr sz="2800" b="0" dirty="0">
                <a:solidFill>
                  <a:srgbClr val="000000"/>
                </a:solidFill>
                <a:latin typeface="Arial MT"/>
                <a:cs typeface="Arial MT"/>
              </a:rPr>
              <a:t>integers</a:t>
            </a:r>
            <a:r>
              <a:rPr sz="2800" b="0" spc="-7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 MT"/>
                <a:cs typeface="Arial MT"/>
              </a:rPr>
              <a:t>using</a:t>
            </a:r>
            <a:r>
              <a:rPr sz="2800" b="0" spc="-8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 MT"/>
                <a:cs typeface="Arial MT"/>
              </a:rPr>
              <a:t>bubble</a:t>
            </a:r>
            <a:r>
              <a:rPr sz="2800" b="0" spc="-6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800" b="0" spc="-10" dirty="0">
                <a:solidFill>
                  <a:srgbClr val="000000"/>
                </a:solidFill>
                <a:latin typeface="Arial MT"/>
                <a:cs typeface="Arial MT"/>
              </a:rPr>
              <a:t>sort.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340963"/>
            <a:ext cx="6200140" cy="3549650"/>
          </a:xfrm>
          <a:prstGeom prst="rect">
            <a:avLst/>
          </a:prstGeom>
        </p:spPr>
        <p:txBody>
          <a:bodyPr vert="horz" wrap="square" lIns="0" tIns="2101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5"/>
              </a:spcBef>
            </a:pPr>
            <a:r>
              <a:rPr sz="2800" spc="-10" dirty="0">
                <a:latin typeface="Arial MT"/>
                <a:cs typeface="Arial MT"/>
              </a:rPr>
              <a:t>Algorithm(a,n)</a:t>
            </a:r>
            <a:endParaRPr sz="28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1000"/>
              </a:spcBef>
            </a:pPr>
            <a:r>
              <a:rPr sz="1800" dirty="0">
                <a:latin typeface="Arial MT"/>
                <a:cs typeface="Arial MT"/>
              </a:rPr>
              <a:t>//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array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size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n</a:t>
            </a:r>
            <a:endParaRPr sz="18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229"/>
              </a:spcBef>
            </a:pPr>
            <a:r>
              <a:rPr sz="1800" spc="-50" dirty="0">
                <a:latin typeface="Arial MT"/>
                <a:cs typeface="Arial MT"/>
              </a:rPr>
              <a:t>{</a:t>
            </a:r>
            <a:endParaRPr sz="1800">
              <a:latin typeface="Arial MT"/>
              <a:cs typeface="Arial MT"/>
            </a:endParaRPr>
          </a:p>
          <a:p>
            <a:pPr marL="18415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for i:=1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n-</a:t>
            </a:r>
            <a:r>
              <a:rPr sz="1800" dirty="0">
                <a:latin typeface="Arial MT"/>
                <a:cs typeface="Arial MT"/>
              </a:rPr>
              <a:t>1 </a:t>
            </a:r>
            <a:r>
              <a:rPr sz="1800" spc="-25" dirty="0">
                <a:latin typeface="Arial MT"/>
                <a:cs typeface="Arial MT"/>
              </a:rPr>
              <a:t>do</a:t>
            </a:r>
            <a:endParaRPr sz="1800">
              <a:latin typeface="Arial MT"/>
              <a:cs typeface="Arial MT"/>
            </a:endParaRPr>
          </a:p>
          <a:p>
            <a:pPr marL="1841500">
              <a:lnSpc>
                <a:spcPct val="100000"/>
              </a:lnSpc>
            </a:pPr>
            <a:r>
              <a:rPr sz="1800" spc="-50" dirty="0">
                <a:latin typeface="Arial MT"/>
                <a:cs typeface="Arial MT"/>
              </a:rPr>
              <a:t>{</a:t>
            </a:r>
            <a:endParaRPr sz="1800">
              <a:latin typeface="Arial MT"/>
              <a:cs typeface="Arial MT"/>
            </a:endParaRPr>
          </a:p>
          <a:p>
            <a:pPr marL="2756535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for j:=1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 </a:t>
            </a:r>
            <a:r>
              <a:rPr sz="1800" spc="-10" dirty="0">
                <a:latin typeface="Arial MT"/>
                <a:cs typeface="Arial MT"/>
              </a:rPr>
              <a:t>n-</a:t>
            </a:r>
            <a:r>
              <a:rPr sz="1800" dirty="0">
                <a:latin typeface="Arial MT"/>
                <a:cs typeface="Arial MT"/>
              </a:rPr>
              <a:t>i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do</a:t>
            </a:r>
            <a:endParaRPr sz="1800">
              <a:latin typeface="Arial MT"/>
              <a:cs typeface="Arial MT"/>
            </a:endParaRPr>
          </a:p>
          <a:p>
            <a:pPr marL="2756535">
              <a:lnSpc>
                <a:spcPct val="100000"/>
              </a:lnSpc>
            </a:pPr>
            <a:r>
              <a:rPr sz="1800" spc="-50" dirty="0">
                <a:latin typeface="Arial MT"/>
                <a:cs typeface="Arial MT"/>
              </a:rPr>
              <a:t>{</a:t>
            </a:r>
            <a:endParaRPr sz="1800">
              <a:latin typeface="Arial MT"/>
              <a:cs typeface="Arial MT"/>
            </a:endParaRPr>
          </a:p>
          <a:p>
            <a:pPr marL="3137535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if(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a[j]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&gt;a[j+1]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)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then</a:t>
            </a:r>
            <a:endParaRPr sz="1800">
              <a:latin typeface="Arial MT"/>
              <a:cs typeface="Arial MT"/>
            </a:endParaRPr>
          </a:p>
          <a:p>
            <a:pPr marL="3670935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t=:a[j];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a[j]:=a[j+1]; </a:t>
            </a:r>
            <a:r>
              <a:rPr sz="1800" spc="-10" dirty="0">
                <a:latin typeface="Arial MT"/>
                <a:cs typeface="Arial MT"/>
              </a:rPr>
              <a:t>a[j]:=t;</a:t>
            </a:r>
            <a:endParaRPr sz="1800">
              <a:latin typeface="Arial MT"/>
              <a:cs typeface="Arial MT"/>
            </a:endParaRPr>
          </a:p>
          <a:p>
            <a:pPr marL="2756535">
              <a:lnSpc>
                <a:spcPct val="100000"/>
              </a:lnSpc>
            </a:pPr>
            <a:r>
              <a:rPr sz="1800" spc="-50" dirty="0">
                <a:latin typeface="Arial MT"/>
                <a:cs typeface="Arial MT"/>
              </a:rPr>
              <a:t>}</a:t>
            </a:r>
            <a:endParaRPr sz="1800">
              <a:latin typeface="Arial MT"/>
              <a:cs typeface="Arial MT"/>
            </a:endParaRPr>
          </a:p>
          <a:p>
            <a:pPr marL="1841500">
              <a:lnSpc>
                <a:spcPct val="100000"/>
              </a:lnSpc>
            </a:pPr>
            <a:r>
              <a:rPr sz="1800" spc="-50" dirty="0">
                <a:latin typeface="Arial MT"/>
                <a:cs typeface="Arial MT"/>
              </a:rPr>
              <a:t>}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839" y="5688279"/>
            <a:ext cx="102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}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73579" y="164718"/>
            <a:ext cx="4048125" cy="970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99060">
              <a:lnSpc>
                <a:spcPct val="100000"/>
              </a:lnSpc>
              <a:spcBef>
                <a:spcPts val="95"/>
              </a:spcBef>
            </a:pPr>
            <a:r>
              <a:rPr sz="3100" b="0" dirty="0">
                <a:solidFill>
                  <a:srgbClr val="000000"/>
                </a:solidFill>
                <a:latin typeface="Arial MT"/>
                <a:cs typeface="Arial MT"/>
              </a:rPr>
              <a:t>Performance</a:t>
            </a:r>
            <a:r>
              <a:rPr sz="3100" b="0" spc="-19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100" b="0" spc="-10" dirty="0">
                <a:solidFill>
                  <a:srgbClr val="000000"/>
                </a:solidFill>
                <a:latin typeface="Arial MT"/>
                <a:cs typeface="Arial MT"/>
              </a:rPr>
              <a:t>Analysis </a:t>
            </a:r>
            <a:r>
              <a:rPr sz="3100" b="0" dirty="0">
                <a:solidFill>
                  <a:srgbClr val="000000"/>
                </a:solidFill>
                <a:latin typeface="Arial MT"/>
                <a:cs typeface="Arial MT"/>
              </a:rPr>
              <a:t>(machine</a:t>
            </a:r>
            <a:r>
              <a:rPr sz="3100" b="0" spc="-15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100" b="0" spc="-10" dirty="0">
                <a:solidFill>
                  <a:srgbClr val="000000"/>
                </a:solidFill>
                <a:latin typeface="Arial MT"/>
                <a:cs typeface="Arial MT"/>
              </a:rPr>
              <a:t>independent)</a:t>
            </a:r>
            <a:endParaRPr sz="31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1225" y="1298574"/>
            <a:ext cx="7750809" cy="485711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55600" marR="687705" indent="-342900">
              <a:lnSpc>
                <a:spcPts val="2980"/>
              </a:lnSpc>
              <a:spcBef>
                <a:spcPts val="810"/>
              </a:spcBef>
              <a:buChar char="•"/>
              <a:tabLst>
                <a:tab pos="355600" algn="l"/>
              </a:tabLst>
            </a:pPr>
            <a:r>
              <a:rPr sz="3100" dirty="0">
                <a:latin typeface="Arial MT"/>
                <a:cs typeface="Arial MT"/>
              </a:rPr>
              <a:t>There</a:t>
            </a:r>
            <a:r>
              <a:rPr sz="3100" spc="-8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are</a:t>
            </a:r>
            <a:r>
              <a:rPr sz="3100" spc="-8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many</a:t>
            </a:r>
            <a:r>
              <a:rPr sz="3100" spc="-7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things</a:t>
            </a:r>
            <a:r>
              <a:rPr sz="3100" spc="-7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upon</a:t>
            </a:r>
            <a:r>
              <a:rPr sz="3100" spc="-6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which</a:t>
            </a:r>
            <a:r>
              <a:rPr sz="3100" spc="-65" dirty="0">
                <a:latin typeface="Arial MT"/>
                <a:cs typeface="Arial MT"/>
              </a:rPr>
              <a:t> </a:t>
            </a:r>
            <a:r>
              <a:rPr sz="3100" spc="-25" dirty="0">
                <a:latin typeface="Arial MT"/>
                <a:cs typeface="Arial MT"/>
              </a:rPr>
              <a:t>the </a:t>
            </a:r>
            <a:r>
              <a:rPr sz="3100" dirty="0">
                <a:latin typeface="Arial MT"/>
                <a:cs typeface="Arial MT"/>
              </a:rPr>
              <a:t>performance</a:t>
            </a:r>
            <a:r>
              <a:rPr sz="3100" spc="-9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will</a:t>
            </a:r>
            <a:r>
              <a:rPr sz="3100" spc="-145" dirty="0">
                <a:latin typeface="Arial MT"/>
                <a:cs typeface="Arial MT"/>
              </a:rPr>
              <a:t> </a:t>
            </a:r>
            <a:r>
              <a:rPr sz="3100" spc="-10" dirty="0">
                <a:latin typeface="Arial MT"/>
                <a:cs typeface="Arial MT"/>
              </a:rPr>
              <a:t>depend.</a:t>
            </a:r>
            <a:endParaRPr sz="3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80"/>
              </a:spcBef>
              <a:buFont typeface="Arial MT"/>
              <a:buChar char="•"/>
            </a:pPr>
            <a:endParaRPr sz="3100">
              <a:latin typeface="Arial MT"/>
              <a:cs typeface="Arial MT"/>
            </a:endParaRPr>
          </a:p>
          <a:p>
            <a:pPr marL="756285" marR="524510" lvl="1" indent="-287020">
              <a:lnSpc>
                <a:spcPts val="2400"/>
              </a:lnSpc>
              <a:buChar char="–"/>
              <a:tabLst>
                <a:tab pos="756285" algn="l"/>
              </a:tabLst>
            </a:pPr>
            <a:r>
              <a:rPr sz="2500" dirty="0">
                <a:latin typeface="Arial MT"/>
                <a:cs typeface="Arial MT"/>
              </a:rPr>
              <a:t>Does</a:t>
            </a:r>
            <a:r>
              <a:rPr sz="2500" spc="-6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the</a:t>
            </a:r>
            <a:r>
              <a:rPr sz="2500" spc="-4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program</a:t>
            </a:r>
            <a:r>
              <a:rPr sz="2500" spc="-4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efficiently</a:t>
            </a:r>
            <a:r>
              <a:rPr sz="2500" spc="-5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use</a:t>
            </a:r>
            <a:r>
              <a:rPr sz="2500" spc="-25" dirty="0">
                <a:latin typeface="Arial MT"/>
                <a:cs typeface="Arial MT"/>
              </a:rPr>
              <a:t> </a:t>
            </a:r>
            <a:r>
              <a:rPr sz="2500" b="1" i="1" dirty="0">
                <a:solidFill>
                  <a:srgbClr val="FF0000"/>
                </a:solidFill>
                <a:latin typeface="Arial"/>
                <a:cs typeface="Arial"/>
              </a:rPr>
              <a:t>primary</a:t>
            </a:r>
            <a:r>
              <a:rPr sz="2500" b="1" i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500" b="1" i="1" spc="-25" dirty="0">
                <a:solidFill>
                  <a:srgbClr val="FF0000"/>
                </a:solidFill>
                <a:latin typeface="Arial"/>
                <a:cs typeface="Arial"/>
              </a:rPr>
              <a:t>and </a:t>
            </a:r>
            <a:r>
              <a:rPr sz="2500" b="1" i="1" dirty="0">
                <a:solidFill>
                  <a:srgbClr val="FF0000"/>
                </a:solidFill>
                <a:latin typeface="Arial"/>
                <a:cs typeface="Arial"/>
              </a:rPr>
              <a:t>Secondary</a:t>
            </a:r>
            <a:r>
              <a:rPr sz="2500" b="1" i="1" spc="-1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500" spc="-10" dirty="0">
                <a:latin typeface="Arial MT"/>
                <a:cs typeface="Arial MT"/>
              </a:rPr>
              <a:t>storage?</a:t>
            </a:r>
            <a:endParaRPr sz="2500">
              <a:latin typeface="Arial MT"/>
              <a:cs typeface="Arial MT"/>
            </a:endParaRPr>
          </a:p>
          <a:p>
            <a:pPr marL="756285" marR="5080" lvl="1" indent="-287020">
              <a:lnSpc>
                <a:spcPts val="2400"/>
              </a:lnSpc>
              <a:spcBef>
                <a:spcPts val="600"/>
              </a:spcBef>
              <a:buChar char="–"/>
              <a:tabLst>
                <a:tab pos="756285" algn="l"/>
              </a:tabLst>
            </a:pPr>
            <a:r>
              <a:rPr sz="2500" dirty="0">
                <a:latin typeface="Arial MT"/>
                <a:cs typeface="Arial MT"/>
              </a:rPr>
              <a:t>Is</a:t>
            </a:r>
            <a:r>
              <a:rPr sz="2500" spc="-6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the</a:t>
            </a:r>
            <a:r>
              <a:rPr sz="2500" spc="-6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program's</a:t>
            </a:r>
            <a:r>
              <a:rPr sz="2500" spc="-50" dirty="0">
                <a:latin typeface="Arial MT"/>
                <a:cs typeface="Arial MT"/>
              </a:rPr>
              <a:t> </a:t>
            </a:r>
            <a:r>
              <a:rPr sz="2500" b="1" i="1" dirty="0">
                <a:solidFill>
                  <a:srgbClr val="FF0000"/>
                </a:solidFill>
                <a:latin typeface="Arial"/>
                <a:cs typeface="Arial"/>
              </a:rPr>
              <a:t>running</a:t>
            </a:r>
            <a:r>
              <a:rPr sz="2500" b="1" i="1" spc="-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500" b="1" i="1" dirty="0">
                <a:solidFill>
                  <a:srgbClr val="FF0000"/>
                </a:solidFill>
                <a:latin typeface="Arial"/>
                <a:cs typeface="Arial"/>
              </a:rPr>
              <a:t>Time</a:t>
            </a:r>
            <a:r>
              <a:rPr sz="2500" b="1" i="1" spc="-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500" dirty="0">
                <a:latin typeface="Arial MT"/>
                <a:cs typeface="Arial MT"/>
              </a:rPr>
              <a:t>acceptable</a:t>
            </a:r>
            <a:r>
              <a:rPr sz="2500" spc="-7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for</a:t>
            </a:r>
            <a:r>
              <a:rPr sz="2500" spc="-60" dirty="0">
                <a:latin typeface="Arial MT"/>
                <a:cs typeface="Arial MT"/>
              </a:rPr>
              <a:t> </a:t>
            </a:r>
            <a:r>
              <a:rPr sz="2500" spc="-25" dirty="0">
                <a:latin typeface="Arial MT"/>
                <a:cs typeface="Arial MT"/>
              </a:rPr>
              <a:t>the </a:t>
            </a:r>
            <a:r>
              <a:rPr sz="2500" spc="-10" dirty="0">
                <a:latin typeface="Arial MT"/>
                <a:cs typeface="Arial MT"/>
              </a:rPr>
              <a:t>task?</a:t>
            </a:r>
            <a:endParaRPr sz="2500">
              <a:latin typeface="Arial MT"/>
              <a:cs typeface="Arial MT"/>
            </a:endParaRPr>
          </a:p>
          <a:p>
            <a:pPr marL="756920" lvl="1" indent="-287020">
              <a:lnSpc>
                <a:spcPct val="100000"/>
              </a:lnSpc>
              <a:spcBef>
                <a:spcPts val="25"/>
              </a:spcBef>
              <a:buChar char="–"/>
              <a:tabLst>
                <a:tab pos="756920" algn="l"/>
              </a:tabLst>
            </a:pPr>
            <a:r>
              <a:rPr sz="2500" dirty="0">
                <a:latin typeface="Arial MT"/>
                <a:cs typeface="Arial MT"/>
              </a:rPr>
              <a:t>Does</a:t>
            </a:r>
            <a:r>
              <a:rPr sz="2500" spc="-2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it</a:t>
            </a:r>
            <a:r>
              <a:rPr sz="2500" spc="-2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do</a:t>
            </a:r>
            <a:r>
              <a:rPr sz="2500" spc="-5" dirty="0">
                <a:latin typeface="Arial MT"/>
                <a:cs typeface="Arial MT"/>
              </a:rPr>
              <a:t> </a:t>
            </a:r>
            <a:r>
              <a:rPr sz="2500" b="1" i="1" dirty="0">
                <a:solidFill>
                  <a:srgbClr val="FF0000"/>
                </a:solidFill>
                <a:latin typeface="Arial"/>
                <a:cs typeface="Arial"/>
              </a:rPr>
              <a:t>what</a:t>
            </a:r>
            <a:r>
              <a:rPr sz="2500" b="1" i="1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500" dirty="0">
                <a:latin typeface="Arial MT"/>
                <a:cs typeface="Arial MT"/>
              </a:rPr>
              <a:t>we</a:t>
            </a:r>
            <a:r>
              <a:rPr sz="2500" spc="-2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want</a:t>
            </a:r>
            <a:r>
              <a:rPr sz="2500" spc="-2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it</a:t>
            </a:r>
            <a:r>
              <a:rPr sz="2500" spc="-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to</a:t>
            </a:r>
            <a:r>
              <a:rPr sz="2500" spc="-15" dirty="0">
                <a:latin typeface="Arial MT"/>
                <a:cs typeface="Arial MT"/>
              </a:rPr>
              <a:t> </a:t>
            </a:r>
            <a:r>
              <a:rPr sz="2500" spc="-25" dirty="0">
                <a:latin typeface="Arial MT"/>
                <a:cs typeface="Arial MT"/>
              </a:rPr>
              <a:t>do?</a:t>
            </a:r>
            <a:endParaRPr sz="2500">
              <a:latin typeface="Arial MT"/>
              <a:cs typeface="Arial MT"/>
            </a:endParaRPr>
          </a:p>
          <a:p>
            <a:pPr marL="756285" marR="1179830" lvl="1" indent="-287020">
              <a:lnSpc>
                <a:spcPts val="2400"/>
              </a:lnSpc>
              <a:spcBef>
                <a:spcPts val="580"/>
              </a:spcBef>
              <a:buChar char="–"/>
              <a:tabLst>
                <a:tab pos="756285" algn="l"/>
              </a:tabLst>
            </a:pPr>
            <a:r>
              <a:rPr sz="2500" dirty="0">
                <a:latin typeface="Arial MT"/>
                <a:cs typeface="Arial MT"/>
              </a:rPr>
              <a:t>Does</a:t>
            </a:r>
            <a:r>
              <a:rPr sz="2500" spc="-5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it</a:t>
            </a:r>
            <a:r>
              <a:rPr sz="2500" spc="-50" dirty="0">
                <a:latin typeface="Arial MT"/>
                <a:cs typeface="Arial MT"/>
              </a:rPr>
              <a:t> </a:t>
            </a:r>
            <a:r>
              <a:rPr sz="2500" b="1" i="1" dirty="0">
                <a:latin typeface="Arial"/>
                <a:cs typeface="Arial"/>
              </a:rPr>
              <a:t>work</a:t>
            </a:r>
            <a:r>
              <a:rPr sz="2500" b="1" i="1" spc="-30" dirty="0">
                <a:latin typeface="Arial"/>
                <a:cs typeface="Arial"/>
              </a:rPr>
              <a:t> </a:t>
            </a:r>
            <a:r>
              <a:rPr sz="2500" b="1" i="1" dirty="0">
                <a:solidFill>
                  <a:srgbClr val="FF0000"/>
                </a:solidFill>
                <a:latin typeface="Arial"/>
                <a:cs typeface="Arial"/>
              </a:rPr>
              <a:t>correctly</a:t>
            </a:r>
            <a:r>
              <a:rPr sz="2500" b="1" i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500" b="1" i="1" dirty="0">
                <a:latin typeface="Arial"/>
                <a:cs typeface="Arial"/>
              </a:rPr>
              <a:t>according</a:t>
            </a:r>
            <a:r>
              <a:rPr sz="2500" b="1" i="1" spc="-55" dirty="0">
                <a:latin typeface="Arial"/>
                <a:cs typeface="Arial"/>
              </a:rPr>
              <a:t> </a:t>
            </a:r>
            <a:r>
              <a:rPr sz="2500" b="1" i="1" dirty="0">
                <a:latin typeface="Arial"/>
                <a:cs typeface="Arial"/>
              </a:rPr>
              <a:t>to</a:t>
            </a:r>
            <a:r>
              <a:rPr sz="2500" b="1" i="1" spc="-40" dirty="0">
                <a:latin typeface="Arial"/>
                <a:cs typeface="Arial"/>
              </a:rPr>
              <a:t> </a:t>
            </a:r>
            <a:r>
              <a:rPr sz="2500" b="1" i="1" spc="-25" dirty="0">
                <a:latin typeface="Arial"/>
                <a:cs typeface="Arial"/>
              </a:rPr>
              <a:t>the </a:t>
            </a:r>
            <a:r>
              <a:rPr sz="2500" b="1" i="1" dirty="0">
                <a:latin typeface="Arial"/>
                <a:cs typeface="Arial"/>
              </a:rPr>
              <a:t>specifications</a:t>
            </a:r>
            <a:r>
              <a:rPr sz="2500" b="1" i="1" spc="-55" dirty="0">
                <a:latin typeface="Arial"/>
                <a:cs typeface="Arial"/>
              </a:rPr>
              <a:t> </a:t>
            </a:r>
            <a:r>
              <a:rPr sz="2500" dirty="0">
                <a:latin typeface="Arial MT"/>
                <a:cs typeface="Arial MT"/>
              </a:rPr>
              <a:t>of</a:t>
            </a:r>
            <a:r>
              <a:rPr sz="2500" spc="-7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the</a:t>
            </a:r>
            <a:r>
              <a:rPr sz="2500" spc="-70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task?</a:t>
            </a:r>
            <a:endParaRPr sz="2500">
              <a:latin typeface="Arial MT"/>
              <a:cs typeface="Arial MT"/>
            </a:endParaRPr>
          </a:p>
          <a:p>
            <a:pPr marL="756285" marR="350520" lvl="1" indent="-287020">
              <a:lnSpc>
                <a:spcPts val="2400"/>
              </a:lnSpc>
              <a:spcBef>
                <a:spcPts val="600"/>
              </a:spcBef>
              <a:buChar char="–"/>
              <a:tabLst>
                <a:tab pos="756285" algn="l"/>
              </a:tabLst>
            </a:pPr>
            <a:r>
              <a:rPr sz="2500" dirty="0">
                <a:latin typeface="Arial MT"/>
                <a:cs typeface="Arial MT"/>
              </a:rPr>
              <a:t>Does</a:t>
            </a:r>
            <a:r>
              <a:rPr sz="2500" spc="-8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the</a:t>
            </a:r>
            <a:r>
              <a:rPr sz="2500" spc="-7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program</a:t>
            </a:r>
            <a:r>
              <a:rPr sz="2500" spc="-7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contain</a:t>
            </a:r>
            <a:r>
              <a:rPr sz="2500" spc="-85" dirty="0">
                <a:latin typeface="Arial MT"/>
                <a:cs typeface="Arial MT"/>
              </a:rPr>
              <a:t> </a:t>
            </a:r>
            <a:r>
              <a:rPr sz="2500" b="1" i="1" dirty="0">
                <a:solidFill>
                  <a:srgbClr val="FF0000"/>
                </a:solidFill>
                <a:latin typeface="Arial"/>
                <a:cs typeface="Arial"/>
              </a:rPr>
              <a:t>documentation</a:t>
            </a:r>
            <a:r>
              <a:rPr sz="2500" b="1" i="1" spc="-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500" spc="-20" dirty="0">
                <a:latin typeface="Arial MT"/>
                <a:cs typeface="Arial MT"/>
              </a:rPr>
              <a:t>that </a:t>
            </a:r>
            <a:r>
              <a:rPr sz="2500" dirty="0">
                <a:latin typeface="Arial MT"/>
                <a:cs typeface="Arial MT"/>
              </a:rPr>
              <a:t>shows</a:t>
            </a:r>
            <a:r>
              <a:rPr sz="2500" spc="-30" dirty="0">
                <a:latin typeface="Arial MT"/>
                <a:cs typeface="Arial MT"/>
              </a:rPr>
              <a:t> </a:t>
            </a:r>
            <a:r>
              <a:rPr sz="2500" b="1" i="1" dirty="0">
                <a:latin typeface="Arial"/>
                <a:cs typeface="Arial"/>
              </a:rPr>
              <a:t>how</a:t>
            </a:r>
            <a:r>
              <a:rPr sz="2500" b="1" i="1" spc="-15" dirty="0">
                <a:latin typeface="Arial"/>
                <a:cs typeface="Arial"/>
              </a:rPr>
              <a:t> </a:t>
            </a:r>
            <a:r>
              <a:rPr sz="2500" b="1" i="1" dirty="0">
                <a:latin typeface="Arial"/>
                <a:cs typeface="Arial"/>
              </a:rPr>
              <a:t>to</a:t>
            </a:r>
            <a:r>
              <a:rPr sz="2500" b="1" i="1" spc="-25" dirty="0">
                <a:latin typeface="Arial"/>
                <a:cs typeface="Arial"/>
              </a:rPr>
              <a:t> </a:t>
            </a:r>
            <a:r>
              <a:rPr sz="2500" b="1" i="1" dirty="0">
                <a:latin typeface="Arial"/>
                <a:cs typeface="Arial"/>
              </a:rPr>
              <a:t>use</a:t>
            </a:r>
            <a:r>
              <a:rPr sz="2500" b="1" i="1" spc="-20" dirty="0">
                <a:latin typeface="Arial"/>
                <a:cs typeface="Arial"/>
              </a:rPr>
              <a:t> </a:t>
            </a:r>
            <a:r>
              <a:rPr sz="2500" b="1" i="1" dirty="0">
                <a:latin typeface="Arial"/>
                <a:cs typeface="Arial"/>
              </a:rPr>
              <a:t>it</a:t>
            </a:r>
            <a:r>
              <a:rPr sz="2500" b="1" i="1" spc="-5" dirty="0">
                <a:latin typeface="Arial"/>
                <a:cs typeface="Arial"/>
              </a:rPr>
              <a:t> </a:t>
            </a:r>
            <a:r>
              <a:rPr sz="2500" dirty="0">
                <a:latin typeface="Arial MT"/>
                <a:cs typeface="Arial MT"/>
              </a:rPr>
              <a:t>and</a:t>
            </a:r>
            <a:r>
              <a:rPr sz="2500" spc="-40" dirty="0">
                <a:latin typeface="Arial MT"/>
                <a:cs typeface="Arial MT"/>
              </a:rPr>
              <a:t> </a:t>
            </a:r>
            <a:r>
              <a:rPr sz="2500" b="1" i="1" dirty="0">
                <a:latin typeface="Arial"/>
                <a:cs typeface="Arial"/>
              </a:rPr>
              <a:t>how</a:t>
            </a:r>
            <a:r>
              <a:rPr sz="2500" b="1" i="1" spc="-15" dirty="0">
                <a:latin typeface="Arial"/>
                <a:cs typeface="Arial"/>
              </a:rPr>
              <a:t> </a:t>
            </a:r>
            <a:r>
              <a:rPr sz="2500" b="1" i="1" dirty="0">
                <a:latin typeface="Arial"/>
                <a:cs typeface="Arial"/>
              </a:rPr>
              <a:t>it</a:t>
            </a:r>
            <a:r>
              <a:rPr sz="2500" b="1" i="1" spc="-5" dirty="0">
                <a:latin typeface="Arial"/>
                <a:cs typeface="Arial"/>
              </a:rPr>
              <a:t> </a:t>
            </a:r>
            <a:r>
              <a:rPr sz="2500" b="1" i="1" spc="-10" dirty="0">
                <a:latin typeface="Arial"/>
                <a:cs typeface="Arial"/>
              </a:rPr>
              <a:t>works</a:t>
            </a:r>
            <a:r>
              <a:rPr sz="2500" spc="-10" dirty="0">
                <a:latin typeface="Arial MT"/>
                <a:cs typeface="Arial MT"/>
              </a:rPr>
              <a:t>?</a:t>
            </a:r>
            <a:endParaRPr sz="2500">
              <a:latin typeface="Arial MT"/>
              <a:cs typeface="Arial MT"/>
            </a:endParaRPr>
          </a:p>
          <a:p>
            <a:pPr marL="756920" lvl="1" indent="-287020">
              <a:lnSpc>
                <a:spcPct val="100000"/>
              </a:lnSpc>
              <a:spcBef>
                <a:spcPts val="20"/>
              </a:spcBef>
              <a:buChar char="–"/>
              <a:tabLst>
                <a:tab pos="756920" algn="l"/>
              </a:tabLst>
            </a:pPr>
            <a:r>
              <a:rPr sz="2500" dirty="0">
                <a:latin typeface="Arial MT"/>
                <a:cs typeface="Arial MT"/>
              </a:rPr>
              <a:t>Is</a:t>
            </a:r>
            <a:r>
              <a:rPr sz="2500" spc="-5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the</a:t>
            </a:r>
            <a:r>
              <a:rPr sz="2500" spc="-5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program's</a:t>
            </a:r>
            <a:r>
              <a:rPr sz="2500" spc="-5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code</a:t>
            </a:r>
            <a:r>
              <a:rPr sz="2500" spc="-50" dirty="0">
                <a:latin typeface="Arial MT"/>
                <a:cs typeface="Arial MT"/>
              </a:rPr>
              <a:t> </a:t>
            </a:r>
            <a:r>
              <a:rPr sz="2500" b="1" i="1" spc="-10" dirty="0">
                <a:solidFill>
                  <a:srgbClr val="FF0000"/>
                </a:solidFill>
                <a:latin typeface="Arial"/>
                <a:cs typeface="Arial"/>
              </a:rPr>
              <a:t>readable</a:t>
            </a:r>
            <a:r>
              <a:rPr sz="2500" spc="-10" dirty="0">
                <a:latin typeface="Arial MT"/>
                <a:cs typeface="Arial MT"/>
              </a:rPr>
              <a:t>?</a:t>
            </a:r>
            <a:endParaRPr sz="2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5052" y="1815541"/>
            <a:ext cx="404241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dirty="0">
                <a:solidFill>
                  <a:srgbClr val="000000"/>
                </a:solidFill>
                <a:latin typeface="Arial MT"/>
                <a:cs typeface="Arial MT"/>
              </a:rPr>
              <a:t>How</a:t>
            </a:r>
            <a:r>
              <a:rPr sz="3200" b="0" spc="-5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200" b="0" dirty="0">
                <a:solidFill>
                  <a:srgbClr val="000000"/>
                </a:solidFill>
                <a:latin typeface="Arial MT"/>
                <a:cs typeface="Arial MT"/>
              </a:rPr>
              <a:t>to</a:t>
            </a:r>
            <a:r>
              <a:rPr sz="3200" b="0" spc="-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200" b="0" dirty="0">
                <a:solidFill>
                  <a:srgbClr val="000000"/>
                </a:solidFill>
                <a:latin typeface="Arial MT"/>
                <a:cs typeface="Arial MT"/>
              </a:rPr>
              <a:t>achieve</a:t>
            </a:r>
            <a:r>
              <a:rPr sz="3200" b="0" spc="-3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200" b="0" spc="-10" dirty="0">
                <a:solidFill>
                  <a:srgbClr val="000000"/>
                </a:solidFill>
                <a:latin typeface="Arial MT"/>
                <a:cs typeface="Arial MT"/>
              </a:rPr>
              <a:t>them?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62202" y="2308352"/>
            <a:ext cx="7142480" cy="83058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385"/>
              </a:spcBef>
              <a:buChar char="–"/>
              <a:tabLst>
                <a:tab pos="297815" algn="l"/>
              </a:tabLst>
            </a:pPr>
            <a:r>
              <a:rPr sz="2400" dirty="0">
                <a:latin typeface="Arial MT"/>
                <a:cs typeface="Arial MT"/>
              </a:rPr>
              <a:t>Good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programming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style,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experience,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practice</a:t>
            </a:r>
            <a:endParaRPr sz="2400">
              <a:latin typeface="Arial MT"/>
              <a:cs typeface="Arial MT"/>
            </a:endParaRPr>
          </a:p>
          <a:p>
            <a:pPr marL="297815" indent="-285115">
              <a:lnSpc>
                <a:spcPct val="100000"/>
              </a:lnSpc>
              <a:spcBef>
                <a:spcPts val="290"/>
              </a:spcBef>
              <a:buChar char="–"/>
              <a:tabLst>
                <a:tab pos="297815" algn="l"/>
              </a:tabLst>
            </a:pPr>
            <a:r>
              <a:rPr sz="2400" dirty="0">
                <a:latin typeface="Arial MT"/>
                <a:cs typeface="Arial MT"/>
              </a:rPr>
              <a:t>Discuss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think.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621144" y="838069"/>
            <a:ext cx="2223770" cy="1377315"/>
            <a:chOff x="6621144" y="838069"/>
            <a:chExt cx="2223770" cy="1377315"/>
          </a:xfrm>
        </p:grpSpPr>
        <p:sp>
          <p:nvSpPr>
            <p:cNvPr id="5" name="object 5"/>
            <p:cNvSpPr/>
            <p:nvPr/>
          </p:nvSpPr>
          <p:spPr>
            <a:xfrm>
              <a:off x="6821809" y="842641"/>
              <a:ext cx="2018664" cy="1367790"/>
            </a:xfrm>
            <a:custGeom>
              <a:avLst/>
              <a:gdLst/>
              <a:ahLst/>
              <a:cxnLst/>
              <a:rect l="l" t="t" r="r" b="b"/>
              <a:pathLst>
                <a:path w="2018665" h="1367789">
                  <a:moveTo>
                    <a:pt x="1233021" y="0"/>
                  </a:moveTo>
                  <a:lnTo>
                    <a:pt x="1188441" y="4273"/>
                  </a:lnTo>
                  <a:lnTo>
                    <a:pt x="1146137" y="17329"/>
                  </a:lnTo>
                  <a:lnTo>
                    <a:pt x="1107747" y="38662"/>
                  </a:lnTo>
                  <a:lnTo>
                    <a:pt x="1074911" y="67768"/>
                  </a:lnTo>
                  <a:lnTo>
                    <a:pt x="1049269" y="104143"/>
                  </a:lnTo>
                  <a:lnTo>
                    <a:pt x="1035969" y="92904"/>
                  </a:lnTo>
                  <a:lnTo>
                    <a:pt x="991357" y="64900"/>
                  </a:lnTo>
                  <a:lnTo>
                    <a:pt x="944683" y="47292"/>
                  </a:lnTo>
                  <a:lnTo>
                    <a:pt x="896623" y="38885"/>
                  </a:lnTo>
                  <a:lnTo>
                    <a:pt x="848526" y="39294"/>
                  </a:lnTo>
                  <a:lnTo>
                    <a:pt x="801746" y="48136"/>
                  </a:lnTo>
                  <a:lnTo>
                    <a:pt x="757632" y="65027"/>
                  </a:lnTo>
                  <a:lnTo>
                    <a:pt x="717537" y="89582"/>
                  </a:lnTo>
                  <a:lnTo>
                    <a:pt x="682811" y="121418"/>
                  </a:lnTo>
                  <a:lnTo>
                    <a:pt x="654807" y="160150"/>
                  </a:lnTo>
                  <a:lnTo>
                    <a:pt x="607434" y="139227"/>
                  </a:lnTo>
                  <a:lnTo>
                    <a:pt x="557287" y="125924"/>
                  </a:lnTo>
                  <a:lnTo>
                    <a:pt x="505449" y="120431"/>
                  </a:lnTo>
                  <a:lnTo>
                    <a:pt x="453004" y="122939"/>
                  </a:lnTo>
                  <a:lnTo>
                    <a:pt x="402907" y="133053"/>
                  </a:lnTo>
                  <a:lnTo>
                    <a:pt x="356466" y="149991"/>
                  </a:lnTo>
                  <a:lnTo>
                    <a:pt x="314237" y="173080"/>
                  </a:lnTo>
                  <a:lnTo>
                    <a:pt x="276772" y="201647"/>
                  </a:lnTo>
                  <a:lnTo>
                    <a:pt x="244628" y="235017"/>
                  </a:lnTo>
                  <a:lnTo>
                    <a:pt x="218360" y="272517"/>
                  </a:lnTo>
                  <a:lnTo>
                    <a:pt x="198520" y="313473"/>
                  </a:lnTo>
                  <a:lnTo>
                    <a:pt x="185666" y="357213"/>
                  </a:lnTo>
                  <a:lnTo>
                    <a:pt x="180350" y="403061"/>
                  </a:lnTo>
                  <a:lnTo>
                    <a:pt x="183129" y="450345"/>
                  </a:lnTo>
                  <a:lnTo>
                    <a:pt x="181478" y="454536"/>
                  </a:lnTo>
                  <a:lnTo>
                    <a:pt x="134867" y="464226"/>
                  </a:lnTo>
                  <a:lnTo>
                    <a:pt x="92530" y="483476"/>
                  </a:lnTo>
                  <a:lnTo>
                    <a:pt x="56123" y="511275"/>
                  </a:lnTo>
                  <a:lnTo>
                    <a:pt x="27300" y="546611"/>
                  </a:lnTo>
                  <a:lnTo>
                    <a:pt x="8410" y="586344"/>
                  </a:lnTo>
                  <a:lnTo>
                    <a:pt x="0" y="627660"/>
                  </a:lnTo>
                  <a:lnTo>
                    <a:pt x="1631" y="669019"/>
                  </a:lnTo>
                  <a:lnTo>
                    <a:pt x="12865" y="708878"/>
                  </a:lnTo>
                  <a:lnTo>
                    <a:pt x="33266" y="745696"/>
                  </a:lnTo>
                  <a:lnTo>
                    <a:pt x="62396" y="777930"/>
                  </a:lnTo>
                  <a:lnTo>
                    <a:pt x="99817" y="804040"/>
                  </a:lnTo>
                  <a:lnTo>
                    <a:pt x="73155" y="836723"/>
                  </a:lnTo>
                  <a:lnTo>
                    <a:pt x="55017" y="873477"/>
                  </a:lnTo>
                  <a:lnTo>
                    <a:pt x="45881" y="912947"/>
                  </a:lnTo>
                  <a:lnTo>
                    <a:pt x="46223" y="953773"/>
                  </a:lnTo>
                  <a:lnTo>
                    <a:pt x="56991" y="995853"/>
                  </a:lnTo>
                  <a:lnTo>
                    <a:pt x="77182" y="1033370"/>
                  </a:lnTo>
                  <a:lnTo>
                    <a:pt x="105439" y="1065337"/>
                  </a:lnTo>
                  <a:lnTo>
                    <a:pt x="140407" y="1090769"/>
                  </a:lnTo>
                  <a:lnTo>
                    <a:pt x="180732" y="1108678"/>
                  </a:lnTo>
                  <a:lnTo>
                    <a:pt x="225057" y="1118079"/>
                  </a:lnTo>
                  <a:lnTo>
                    <a:pt x="272029" y="1117984"/>
                  </a:lnTo>
                  <a:lnTo>
                    <a:pt x="274569" y="1122048"/>
                  </a:lnTo>
                  <a:lnTo>
                    <a:pt x="303868" y="1161200"/>
                  </a:lnTo>
                  <a:lnTo>
                    <a:pt x="336257" y="1193855"/>
                  </a:lnTo>
                  <a:lnTo>
                    <a:pt x="372416" y="1221783"/>
                  </a:lnTo>
                  <a:lnTo>
                    <a:pt x="411757" y="1244848"/>
                  </a:lnTo>
                  <a:lnTo>
                    <a:pt x="453691" y="1262914"/>
                  </a:lnTo>
                  <a:lnTo>
                    <a:pt x="497628" y="1275845"/>
                  </a:lnTo>
                  <a:lnTo>
                    <a:pt x="542982" y="1283506"/>
                  </a:lnTo>
                  <a:lnTo>
                    <a:pt x="589162" y="1285761"/>
                  </a:lnTo>
                  <a:lnTo>
                    <a:pt x="635580" y="1282473"/>
                  </a:lnTo>
                  <a:lnTo>
                    <a:pt x="681648" y="1273507"/>
                  </a:lnTo>
                  <a:lnTo>
                    <a:pt x="726776" y="1258728"/>
                  </a:lnTo>
                  <a:lnTo>
                    <a:pt x="770377" y="1237999"/>
                  </a:lnTo>
                  <a:lnTo>
                    <a:pt x="804313" y="1277226"/>
                  </a:lnTo>
                  <a:lnTo>
                    <a:pt x="844703" y="1310262"/>
                  </a:lnTo>
                  <a:lnTo>
                    <a:pt x="890570" y="1336440"/>
                  </a:lnTo>
                  <a:lnTo>
                    <a:pt x="940938" y="1355093"/>
                  </a:lnTo>
                  <a:lnTo>
                    <a:pt x="991068" y="1365131"/>
                  </a:lnTo>
                  <a:lnTo>
                    <a:pt x="1040947" y="1367545"/>
                  </a:lnTo>
                  <a:lnTo>
                    <a:pt x="1089764" y="1362738"/>
                  </a:lnTo>
                  <a:lnTo>
                    <a:pt x="1136713" y="1351108"/>
                  </a:lnTo>
                  <a:lnTo>
                    <a:pt x="1180984" y="1333059"/>
                  </a:lnTo>
                  <a:lnTo>
                    <a:pt x="1221768" y="1308989"/>
                  </a:lnTo>
                  <a:lnTo>
                    <a:pt x="1258258" y="1279301"/>
                  </a:lnTo>
                  <a:lnTo>
                    <a:pt x="1289645" y="1244394"/>
                  </a:lnTo>
                  <a:lnTo>
                    <a:pt x="1315120" y="1204670"/>
                  </a:lnTo>
                  <a:lnTo>
                    <a:pt x="1333876" y="1160529"/>
                  </a:lnTo>
                  <a:lnTo>
                    <a:pt x="1366723" y="1176603"/>
                  </a:lnTo>
                  <a:lnTo>
                    <a:pt x="1401487" y="1188342"/>
                  </a:lnTo>
                  <a:lnTo>
                    <a:pt x="1437657" y="1195605"/>
                  </a:lnTo>
                  <a:lnTo>
                    <a:pt x="1474719" y="1198248"/>
                  </a:lnTo>
                  <a:lnTo>
                    <a:pt x="1523283" y="1194606"/>
                  </a:lnTo>
                  <a:lnTo>
                    <a:pt x="1569064" y="1183386"/>
                  </a:lnTo>
                  <a:lnTo>
                    <a:pt x="1611291" y="1165285"/>
                  </a:lnTo>
                  <a:lnTo>
                    <a:pt x="1649193" y="1141003"/>
                  </a:lnTo>
                  <a:lnTo>
                    <a:pt x="1682001" y="1111240"/>
                  </a:lnTo>
                  <a:lnTo>
                    <a:pt x="1708944" y="1076695"/>
                  </a:lnTo>
                  <a:lnTo>
                    <a:pt x="1729252" y="1038067"/>
                  </a:lnTo>
                  <a:lnTo>
                    <a:pt x="1742154" y="996056"/>
                  </a:lnTo>
                  <a:lnTo>
                    <a:pt x="1746880" y="951360"/>
                  </a:lnTo>
                  <a:lnTo>
                    <a:pt x="1786641" y="943675"/>
                  </a:lnTo>
                  <a:lnTo>
                    <a:pt x="1824842" y="931405"/>
                  </a:lnTo>
                  <a:lnTo>
                    <a:pt x="1861019" y="914731"/>
                  </a:lnTo>
                  <a:lnTo>
                    <a:pt x="1894708" y="893829"/>
                  </a:lnTo>
                  <a:lnTo>
                    <a:pt x="1932879" y="861969"/>
                  </a:lnTo>
                  <a:lnTo>
                    <a:pt x="1964180" y="825854"/>
                  </a:lnTo>
                  <a:lnTo>
                    <a:pt x="1988490" y="786324"/>
                  </a:lnTo>
                  <a:lnTo>
                    <a:pt x="2005689" y="744223"/>
                  </a:lnTo>
                  <a:lnTo>
                    <a:pt x="2015659" y="700392"/>
                  </a:lnTo>
                  <a:lnTo>
                    <a:pt x="2018280" y="655674"/>
                  </a:lnTo>
                  <a:lnTo>
                    <a:pt x="2013431" y="610909"/>
                  </a:lnTo>
                  <a:lnTo>
                    <a:pt x="2000993" y="566941"/>
                  </a:lnTo>
                  <a:lnTo>
                    <a:pt x="1980848" y="524612"/>
                  </a:lnTo>
                  <a:lnTo>
                    <a:pt x="1952874" y="484762"/>
                  </a:lnTo>
                  <a:lnTo>
                    <a:pt x="1956160" y="477360"/>
                  </a:lnTo>
                  <a:lnTo>
                    <a:pt x="1959160" y="469840"/>
                  </a:lnTo>
                  <a:lnTo>
                    <a:pt x="1961875" y="462224"/>
                  </a:lnTo>
                  <a:lnTo>
                    <a:pt x="1964304" y="454536"/>
                  </a:lnTo>
                  <a:lnTo>
                    <a:pt x="1972588" y="408541"/>
                  </a:lnTo>
                  <a:lnTo>
                    <a:pt x="1970860" y="363324"/>
                  </a:lnTo>
                  <a:lnTo>
                    <a:pt x="1959821" y="320022"/>
                  </a:lnTo>
                  <a:lnTo>
                    <a:pt x="1940174" y="279768"/>
                  </a:lnTo>
                  <a:lnTo>
                    <a:pt x="1912621" y="243700"/>
                  </a:lnTo>
                  <a:lnTo>
                    <a:pt x="1877864" y="212952"/>
                  </a:lnTo>
                  <a:lnTo>
                    <a:pt x="1836607" y="188661"/>
                  </a:lnTo>
                  <a:lnTo>
                    <a:pt x="1789552" y="171961"/>
                  </a:lnTo>
                  <a:lnTo>
                    <a:pt x="1779265" y="137191"/>
                  </a:lnTo>
                  <a:lnTo>
                    <a:pt x="1740546" y="75413"/>
                  </a:lnTo>
                  <a:lnTo>
                    <a:pt x="1675144" y="25821"/>
                  </a:lnTo>
                  <a:lnTo>
                    <a:pt x="1634149" y="9768"/>
                  </a:lnTo>
                  <a:lnTo>
                    <a:pt x="1591270" y="1529"/>
                  </a:lnTo>
                  <a:lnTo>
                    <a:pt x="1547791" y="1003"/>
                  </a:lnTo>
                  <a:lnTo>
                    <a:pt x="1504997" y="8092"/>
                  </a:lnTo>
                  <a:lnTo>
                    <a:pt x="1464172" y="22695"/>
                  </a:lnTo>
                  <a:lnTo>
                    <a:pt x="1426600" y="44712"/>
                  </a:lnTo>
                  <a:lnTo>
                    <a:pt x="1393566" y="74044"/>
                  </a:lnTo>
                  <a:lnTo>
                    <a:pt x="1378399" y="57731"/>
                  </a:lnTo>
                  <a:lnTo>
                    <a:pt x="1361387" y="43167"/>
                  </a:lnTo>
                  <a:lnTo>
                    <a:pt x="1342684" y="30485"/>
                  </a:lnTo>
                  <a:lnTo>
                    <a:pt x="1322446" y="19815"/>
                  </a:lnTo>
                  <a:lnTo>
                    <a:pt x="1278235" y="5012"/>
                  </a:lnTo>
                  <a:lnTo>
                    <a:pt x="1233021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25716" y="1863089"/>
              <a:ext cx="227837" cy="22783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821809" y="842641"/>
              <a:ext cx="2018664" cy="1367790"/>
            </a:xfrm>
            <a:custGeom>
              <a:avLst/>
              <a:gdLst/>
              <a:ahLst/>
              <a:cxnLst/>
              <a:rect l="l" t="t" r="r" b="b"/>
              <a:pathLst>
                <a:path w="2018665" h="1367789">
                  <a:moveTo>
                    <a:pt x="183129" y="450345"/>
                  </a:moveTo>
                  <a:lnTo>
                    <a:pt x="180350" y="403061"/>
                  </a:lnTo>
                  <a:lnTo>
                    <a:pt x="185666" y="357213"/>
                  </a:lnTo>
                  <a:lnTo>
                    <a:pt x="198520" y="313473"/>
                  </a:lnTo>
                  <a:lnTo>
                    <a:pt x="218360" y="272517"/>
                  </a:lnTo>
                  <a:lnTo>
                    <a:pt x="244628" y="235017"/>
                  </a:lnTo>
                  <a:lnTo>
                    <a:pt x="276772" y="201647"/>
                  </a:lnTo>
                  <a:lnTo>
                    <a:pt x="314237" y="173080"/>
                  </a:lnTo>
                  <a:lnTo>
                    <a:pt x="356466" y="149991"/>
                  </a:lnTo>
                  <a:lnTo>
                    <a:pt x="402907" y="133053"/>
                  </a:lnTo>
                  <a:lnTo>
                    <a:pt x="453004" y="122939"/>
                  </a:lnTo>
                  <a:lnTo>
                    <a:pt x="505449" y="120431"/>
                  </a:lnTo>
                  <a:lnTo>
                    <a:pt x="557287" y="125924"/>
                  </a:lnTo>
                  <a:lnTo>
                    <a:pt x="607434" y="139227"/>
                  </a:lnTo>
                  <a:lnTo>
                    <a:pt x="654807" y="160150"/>
                  </a:lnTo>
                  <a:lnTo>
                    <a:pt x="682811" y="121418"/>
                  </a:lnTo>
                  <a:lnTo>
                    <a:pt x="717537" y="89582"/>
                  </a:lnTo>
                  <a:lnTo>
                    <a:pt x="757632" y="65027"/>
                  </a:lnTo>
                  <a:lnTo>
                    <a:pt x="801746" y="48136"/>
                  </a:lnTo>
                  <a:lnTo>
                    <a:pt x="848526" y="39294"/>
                  </a:lnTo>
                  <a:lnTo>
                    <a:pt x="896623" y="38885"/>
                  </a:lnTo>
                  <a:lnTo>
                    <a:pt x="944683" y="47292"/>
                  </a:lnTo>
                  <a:lnTo>
                    <a:pt x="991357" y="64900"/>
                  </a:lnTo>
                  <a:lnTo>
                    <a:pt x="1035969" y="92904"/>
                  </a:lnTo>
                  <a:lnTo>
                    <a:pt x="1049269" y="104143"/>
                  </a:lnTo>
                  <a:lnTo>
                    <a:pt x="1074911" y="67768"/>
                  </a:lnTo>
                  <a:lnTo>
                    <a:pt x="1107747" y="38662"/>
                  </a:lnTo>
                  <a:lnTo>
                    <a:pt x="1146137" y="17329"/>
                  </a:lnTo>
                  <a:lnTo>
                    <a:pt x="1188441" y="4273"/>
                  </a:lnTo>
                  <a:lnTo>
                    <a:pt x="1233021" y="0"/>
                  </a:lnTo>
                  <a:lnTo>
                    <a:pt x="1278235" y="5012"/>
                  </a:lnTo>
                  <a:lnTo>
                    <a:pt x="1322446" y="19815"/>
                  </a:lnTo>
                  <a:lnTo>
                    <a:pt x="1361387" y="43167"/>
                  </a:lnTo>
                  <a:lnTo>
                    <a:pt x="1393566" y="74044"/>
                  </a:lnTo>
                  <a:lnTo>
                    <a:pt x="1426600" y="44712"/>
                  </a:lnTo>
                  <a:lnTo>
                    <a:pt x="1464172" y="22695"/>
                  </a:lnTo>
                  <a:lnTo>
                    <a:pt x="1504997" y="8092"/>
                  </a:lnTo>
                  <a:lnTo>
                    <a:pt x="1547791" y="1003"/>
                  </a:lnTo>
                  <a:lnTo>
                    <a:pt x="1591270" y="1529"/>
                  </a:lnTo>
                  <a:lnTo>
                    <a:pt x="1634149" y="9768"/>
                  </a:lnTo>
                  <a:lnTo>
                    <a:pt x="1675144" y="25821"/>
                  </a:lnTo>
                  <a:lnTo>
                    <a:pt x="1712971" y="49787"/>
                  </a:lnTo>
                  <a:lnTo>
                    <a:pt x="1762786" y="104778"/>
                  </a:lnTo>
                  <a:lnTo>
                    <a:pt x="1789552" y="171961"/>
                  </a:lnTo>
                  <a:lnTo>
                    <a:pt x="1836607" y="188661"/>
                  </a:lnTo>
                  <a:lnTo>
                    <a:pt x="1877864" y="212952"/>
                  </a:lnTo>
                  <a:lnTo>
                    <a:pt x="1912621" y="243700"/>
                  </a:lnTo>
                  <a:lnTo>
                    <a:pt x="1940174" y="279768"/>
                  </a:lnTo>
                  <a:lnTo>
                    <a:pt x="1959821" y="320022"/>
                  </a:lnTo>
                  <a:lnTo>
                    <a:pt x="1970860" y="363324"/>
                  </a:lnTo>
                  <a:lnTo>
                    <a:pt x="1972588" y="408541"/>
                  </a:lnTo>
                  <a:lnTo>
                    <a:pt x="1964304" y="454536"/>
                  </a:lnTo>
                  <a:lnTo>
                    <a:pt x="1961875" y="462224"/>
                  </a:lnTo>
                  <a:lnTo>
                    <a:pt x="1959160" y="469840"/>
                  </a:lnTo>
                  <a:lnTo>
                    <a:pt x="1956160" y="477360"/>
                  </a:lnTo>
                  <a:lnTo>
                    <a:pt x="1952874" y="484762"/>
                  </a:lnTo>
                  <a:lnTo>
                    <a:pt x="1980848" y="524612"/>
                  </a:lnTo>
                  <a:lnTo>
                    <a:pt x="2000993" y="566941"/>
                  </a:lnTo>
                  <a:lnTo>
                    <a:pt x="2013431" y="610909"/>
                  </a:lnTo>
                  <a:lnTo>
                    <a:pt x="2018280" y="655674"/>
                  </a:lnTo>
                  <a:lnTo>
                    <a:pt x="2015659" y="700392"/>
                  </a:lnTo>
                  <a:lnTo>
                    <a:pt x="2005689" y="744223"/>
                  </a:lnTo>
                  <a:lnTo>
                    <a:pt x="1988490" y="786324"/>
                  </a:lnTo>
                  <a:lnTo>
                    <a:pt x="1964180" y="825854"/>
                  </a:lnTo>
                  <a:lnTo>
                    <a:pt x="1932879" y="861969"/>
                  </a:lnTo>
                  <a:lnTo>
                    <a:pt x="1894708" y="893829"/>
                  </a:lnTo>
                  <a:lnTo>
                    <a:pt x="1861019" y="914731"/>
                  </a:lnTo>
                  <a:lnTo>
                    <a:pt x="1824842" y="931405"/>
                  </a:lnTo>
                  <a:lnTo>
                    <a:pt x="1786641" y="943675"/>
                  </a:lnTo>
                  <a:lnTo>
                    <a:pt x="1746880" y="951360"/>
                  </a:lnTo>
                  <a:lnTo>
                    <a:pt x="1742154" y="996056"/>
                  </a:lnTo>
                  <a:lnTo>
                    <a:pt x="1729252" y="1038067"/>
                  </a:lnTo>
                  <a:lnTo>
                    <a:pt x="1708944" y="1076695"/>
                  </a:lnTo>
                  <a:lnTo>
                    <a:pt x="1682001" y="1111240"/>
                  </a:lnTo>
                  <a:lnTo>
                    <a:pt x="1649193" y="1141003"/>
                  </a:lnTo>
                  <a:lnTo>
                    <a:pt x="1611291" y="1165285"/>
                  </a:lnTo>
                  <a:lnTo>
                    <a:pt x="1569064" y="1183386"/>
                  </a:lnTo>
                  <a:lnTo>
                    <a:pt x="1523283" y="1194606"/>
                  </a:lnTo>
                  <a:lnTo>
                    <a:pt x="1474719" y="1198248"/>
                  </a:lnTo>
                  <a:lnTo>
                    <a:pt x="1437657" y="1195605"/>
                  </a:lnTo>
                  <a:lnTo>
                    <a:pt x="1401487" y="1188342"/>
                  </a:lnTo>
                  <a:lnTo>
                    <a:pt x="1366723" y="1176603"/>
                  </a:lnTo>
                  <a:lnTo>
                    <a:pt x="1333876" y="1160529"/>
                  </a:lnTo>
                  <a:lnTo>
                    <a:pt x="1315120" y="1204670"/>
                  </a:lnTo>
                  <a:lnTo>
                    <a:pt x="1289645" y="1244394"/>
                  </a:lnTo>
                  <a:lnTo>
                    <a:pt x="1258258" y="1279301"/>
                  </a:lnTo>
                  <a:lnTo>
                    <a:pt x="1221768" y="1308989"/>
                  </a:lnTo>
                  <a:lnTo>
                    <a:pt x="1180984" y="1333059"/>
                  </a:lnTo>
                  <a:lnTo>
                    <a:pt x="1136713" y="1351108"/>
                  </a:lnTo>
                  <a:lnTo>
                    <a:pt x="1089764" y="1362738"/>
                  </a:lnTo>
                  <a:lnTo>
                    <a:pt x="1040947" y="1367545"/>
                  </a:lnTo>
                  <a:lnTo>
                    <a:pt x="991068" y="1365131"/>
                  </a:lnTo>
                  <a:lnTo>
                    <a:pt x="940938" y="1355093"/>
                  </a:lnTo>
                  <a:lnTo>
                    <a:pt x="890570" y="1336440"/>
                  </a:lnTo>
                  <a:lnTo>
                    <a:pt x="844703" y="1310262"/>
                  </a:lnTo>
                  <a:lnTo>
                    <a:pt x="804313" y="1277226"/>
                  </a:lnTo>
                  <a:lnTo>
                    <a:pt x="770377" y="1237999"/>
                  </a:lnTo>
                  <a:lnTo>
                    <a:pt x="726776" y="1258728"/>
                  </a:lnTo>
                  <a:lnTo>
                    <a:pt x="681648" y="1273507"/>
                  </a:lnTo>
                  <a:lnTo>
                    <a:pt x="635580" y="1282473"/>
                  </a:lnTo>
                  <a:lnTo>
                    <a:pt x="589162" y="1285761"/>
                  </a:lnTo>
                  <a:lnTo>
                    <a:pt x="542982" y="1283506"/>
                  </a:lnTo>
                  <a:lnTo>
                    <a:pt x="497628" y="1275845"/>
                  </a:lnTo>
                  <a:lnTo>
                    <a:pt x="453691" y="1262914"/>
                  </a:lnTo>
                  <a:lnTo>
                    <a:pt x="411757" y="1244848"/>
                  </a:lnTo>
                  <a:lnTo>
                    <a:pt x="372416" y="1221783"/>
                  </a:lnTo>
                  <a:lnTo>
                    <a:pt x="336257" y="1193855"/>
                  </a:lnTo>
                  <a:lnTo>
                    <a:pt x="303868" y="1161200"/>
                  </a:lnTo>
                  <a:lnTo>
                    <a:pt x="275839" y="1123953"/>
                  </a:lnTo>
                  <a:lnTo>
                    <a:pt x="272029" y="1117984"/>
                  </a:lnTo>
                  <a:lnTo>
                    <a:pt x="225057" y="1118079"/>
                  </a:lnTo>
                  <a:lnTo>
                    <a:pt x="180732" y="1108678"/>
                  </a:lnTo>
                  <a:lnTo>
                    <a:pt x="140407" y="1090769"/>
                  </a:lnTo>
                  <a:lnTo>
                    <a:pt x="105439" y="1065337"/>
                  </a:lnTo>
                  <a:lnTo>
                    <a:pt x="77182" y="1033370"/>
                  </a:lnTo>
                  <a:lnTo>
                    <a:pt x="56991" y="995853"/>
                  </a:lnTo>
                  <a:lnTo>
                    <a:pt x="46223" y="953773"/>
                  </a:lnTo>
                  <a:lnTo>
                    <a:pt x="45881" y="912947"/>
                  </a:lnTo>
                  <a:lnTo>
                    <a:pt x="55017" y="873477"/>
                  </a:lnTo>
                  <a:lnTo>
                    <a:pt x="73155" y="836723"/>
                  </a:lnTo>
                  <a:lnTo>
                    <a:pt x="99817" y="804040"/>
                  </a:lnTo>
                  <a:lnTo>
                    <a:pt x="62396" y="777930"/>
                  </a:lnTo>
                  <a:lnTo>
                    <a:pt x="33266" y="745696"/>
                  </a:lnTo>
                  <a:lnTo>
                    <a:pt x="12865" y="708878"/>
                  </a:lnTo>
                  <a:lnTo>
                    <a:pt x="1631" y="669019"/>
                  </a:lnTo>
                  <a:lnTo>
                    <a:pt x="0" y="627660"/>
                  </a:lnTo>
                  <a:lnTo>
                    <a:pt x="8410" y="586344"/>
                  </a:lnTo>
                  <a:lnTo>
                    <a:pt x="27300" y="546611"/>
                  </a:lnTo>
                  <a:lnTo>
                    <a:pt x="56123" y="511275"/>
                  </a:lnTo>
                  <a:lnTo>
                    <a:pt x="92530" y="483476"/>
                  </a:lnTo>
                  <a:lnTo>
                    <a:pt x="134867" y="464226"/>
                  </a:lnTo>
                  <a:lnTo>
                    <a:pt x="181478" y="454536"/>
                  </a:lnTo>
                  <a:lnTo>
                    <a:pt x="183129" y="450345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21144" y="1858517"/>
              <a:ext cx="236981" cy="23698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923785" y="1641347"/>
              <a:ext cx="1244600" cy="434340"/>
            </a:xfrm>
            <a:custGeom>
              <a:avLst/>
              <a:gdLst/>
              <a:ahLst/>
              <a:cxnLst/>
              <a:rect l="l" t="t" r="r" b="b"/>
              <a:pathLst>
                <a:path w="1244600" h="434339">
                  <a:moveTo>
                    <a:pt x="118237" y="25146"/>
                  </a:moveTo>
                  <a:lnTo>
                    <a:pt x="87368" y="25235"/>
                  </a:lnTo>
                  <a:lnTo>
                    <a:pt x="57023" y="21002"/>
                  </a:lnTo>
                  <a:lnTo>
                    <a:pt x="27725" y="12555"/>
                  </a:lnTo>
                  <a:lnTo>
                    <a:pt x="0" y="0"/>
                  </a:lnTo>
                </a:path>
                <a:path w="1244600" h="434339">
                  <a:moveTo>
                    <a:pt x="222504" y="301243"/>
                  </a:moveTo>
                  <a:lnTo>
                    <a:pt x="209891" y="305433"/>
                  </a:lnTo>
                  <a:lnTo>
                    <a:pt x="197040" y="308848"/>
                  </a:lnTo>
                  <a:lnTo>
                    <a:pt x="183999" y="311477"/>
                  </a:lnTo>
                  <a:lnTo>
                    <a:pt x="170815" y="313309"/>
                  </a:lnTo>
                </a:path>
                <a:path w="1244600" h="434339">
                  <a:moveTo>
                    <a:pt x="668274" y="433831"/>
                  </a:moveTo>
                  <a:lnTo>
                    <a:pt x="659249" y="420665"/>
                  </a:lnTo>
                  <a:lnTo>
                    <a:pt x="651033" y="407082"/>
                  </a:lnTo>
                  <a:lnTo>
                    <a:pt x="643628" y="393094"/>
                  </a:lnTo>
                  <a:lnTo>
                    <a:pt x="637032" y="378713"/>
                  </a:lnTo>
                </a:path>
                <a:path w="1244600" h="434339">
                  <a:moveTo>
                    <a:pt x="1244600" y="296544"/>
                  </a:moveTo>
                  <a:lnTo>
                    <a:pt x="1242762" y="311848"/>
                  </a:lnTo>
                  <a:lnTo>
                    <a:pt x="1240091" y="327056"/>
                  </a:lnTo>
                  <a:lnTo>
                    <a:pt x="1236563" y="342122"/>
                  </a:lnTo>
                  <a:lnTo>
                    <a:pt x="1232154" y="356997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11209" y="1559940"/>
              <a:ext cx="160909" cy="23495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7004938" y="912240"/>
              <a:ext cx="1769110" cy="496570"/>
            </a:xfrm>
            <a:custGeom>
              <a:avLst/>
              <a:gdLst/>
              <a:ahLst/>
              <a:cxnLst/>
              <a:rect l="l" t="t" r="r" b="b"/>
              <a:pathLst>
                <a:path w="1769109" h="496569">
                  <a:moveTo>
                    <a:pt x="1768855" y="411861"/>
                  </a:moveTo>
                  <a:lnTo>
                    <a:pt x="1755977" y="435613"/>
                  </a:lnTo>
                  <a:lnTo>
                    <a:pt x="1740312" y="457771"/>
                  </a:lnTo>
                  <a:lnTo>
                    <a:pt x="1722028" y="478119"/>
                  </a:lnTo>
                  <a:lnTo>
                    <a:pt x="1701291" y="496443"/>
                  </a:lnTo>
                </a:path>
                <a:path w="1769109" h="496569">
                  <a:moveTo>
                    <a:pt x="1606677" y="97662"/>
                  </a:moveTo>
                  <a:lnTo>
                    <a:pt x="1608339" y="107592"/>
                  </a:lnTo>
                  <a:lnTo>
                    <a:pt x="1609502" y="117570"/>
                  </a:lnTo>
                  <a:lnTo>
                    <a:pt x="1610141" y="127595"/>
                  </a:lnTo>
                  <a:lnTo>
                    <a:pt x="1610232" y="137668"/>
                  </a:lnTo>
                </a:path>
                <a:path w="1769109" h="496569">
                  <a:moveTo>
                    <a:pt x="1175130" y="51054"/>
                  </a:moveTo>
                  <a:lnTo>
                    <a:pt x="1182244" y="37415"/>
                  </a:lnTo>
                  <a:lnTo>
                    <a:pt x="1190418" y="24336"/>
                  </a:lnTo>
                  <a:lnTo>
                    <a:pt x="1199616" y="11852"/>
                  </a:lnTo>
                  <a:lnTo>
                    <a:pt x="1209802" y="0"/>
                  </a:lnTo>
                </a:path>
                <a:path w="1769109" h="496569">
                  <a:moveTo>
                    <a:pt x="851407" y="75311"/>
                  </a:moveTo>
                  <a:lnTo>
                    <a:pt x="854455" y="63980"/>
                  </a:lnTo>
                  <a:lnTo>
                    <a:pt x="858265" y="52863"/>
                  </a:lnTo>
                  <a:lnTo>
                    <a:pt x="862837" y="41985"/>
                  </a:lnTo>
                  <a:lnTo>
                    <a:pt x="868171" y="31369"/>
                  </a:lnTo>
                </a:path>
                <a:path w="1769109" h="496569">
                  <a:moveTo>
                    <a:pt x="471424" y="90297"/>
                  </a:moveTo>
                  <a:lnTo>
                    <a:pt x="487606" y="99625"/>
                  </a:lnTo>
                  <a:lnTo>
                    <a:pt x="503158" y="109870"/>
                  </a:lnTo>
                  <a:lnTo>
                    <a:pt x="518019" y="120997"/>
                  </a:lnTo>
                  <a:lnTo>
                    <a:pt x="532129" y="132969"/>
                  </a:lnTo>
                </a:path>
                <a:path w="1769109" h="496569">
                  <a:moveTo>
                    <a:pt x="10667" y="425576"/>
                  </a:moveTo>
                  <a:lnTo>
                    <a:pt x="7286" y="414482"/>
                  </a:lnTo>
                  <a:lnTo>
                    <a:pt x="4381" y="403304"/>
                  </a:lnTo>
                  <a:lnTo>
                    <a:pt x="1952" y="392054"/>
                  </a:lnTo>
                  <a:lnTo>
                    <a:pt x="0" y="380746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6161278" y="2157983"/>
            <a:ext cx="85090" cy="85090"/>
            <a:chOff x="6161278" y="2157983"/>
            <a:chExt cx="85090" cy="85090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65850" y="2162555"/>
              <a:ext cx="75946" cy="7594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61278" y="2157983"/>
              <a:ext cx="85090" cy="85090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6356096" y="2022855"/>
            <a:ext cx="161290" cy="161290"/>
            <a:chOff x="6356096" y="2022855"/>
            <a:chExt cx="161290" cy="161290"/>
          </a:xfrm>
        </p:grpSpPr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60668" y="2027427"/>
              <a:ext cx="151891" cy="15189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56096" y="2022855"/>
              <a:ext cx="161036" cy="161036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7335139" y="1071753"/>
            <a:ext cx="85090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Practice Practice Practice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342166" y="4210732"/>
            <a:ext cx="1558290" cy="1131570"/>
            <a:chOff x="1342166" y="4210732"/>
            <a:chExt cx="1558290" cy="1131570"/>
          </a:xfrm>
        </p:grpSpPr>
        <p:sp>
          <p:nvSpPr>
            <p:cNvPr id="20" name="object 20"/>
            <p:cNvSpPr/>
            <p:nvPr/>
          </p:nvSpPr>
          <p:spPr>
            <a:xfrm>
              <a:off x="1346738" y="4215304"/>
              <a:ext cx="1549400" cy="1122045"/>
            </a:xfrm>
            <a:custGeom>
              <a:avLst/>
              <a:gdLst/>
              <a:ahLst/>
              <a:cxnLst/>
              <a:rect l="l" t="t" r="r" b="b"/>
              <a:pathLst>
                <a:path w="1549400" h="1122045">
                  <a:moveTo>
                    <a:pt x="1188245" y="0"/>
                  </a:moveTo>
                  <a:lnTo>
                    <a:pt x="1144714" y="9134"/>
                  </a:lnTo>
                  <a:lnTo>
                    <a:pt x="1104457" y="29204"/>
                  </a:lnTo>
                  <a:lnTo>
                    <a:pt x="1069817" y="60023"/>
                  </a:lnTo>
                  <a:lnTo>
                    <a:pt x="1058123" y="46610"/>
                  </a:lnTo>
                  <a:lnTo>
                    <a:pt x="1045036" y="34639"/>
                  </a:lnTo>
                  <a:lnTo>
                    <a:pt x="1030687" y="24215"/>
                  </a:lnTo>
                  <a:lnTo>
                    <a:pt x="1015207" y="15446"/>
                  </a:lnTo>
                  <a:lnTo>
                    <a:pt x="967382" y="687"/>
                  </a:lnTo>
                  <a:lnTo>
                    <a:pt x="919026" y="1376"/>
                  </a:lnTo>
                  <a:lnTo>
                    <a:pt x="873603" y="16379"/>
                  </a:lnTo>
                  <a:lnTo>
                    <a:pt x="834574" y="44560"/>
                  </a:lnTo>
                  <a:lnTo>
                    <a:pt x="805403" y="84788"/>
                  </a:lnTo>
                  <a:lnTo>
                    <a:pt x="795172" y="75533"/>
                  </a:lnTo>
                  <a:lnTo>
                    <a:pt x="760953" y="52530"/>
                  </a:lnTo>
                  <a:lnTo>
                    <a:pt x="719885" y="36629"/>
                  </a:lnTo>
                  <a:lnTo>
                    <a:pt x="677614" y="30528"/>
                  </a:lnTo>
                  <a:lnTo>
                    <a:pt x="635693" y="33762"/>
                  </a:lnTo>
                  <a:lnTo>
                    <a:pt x="595671" y="45867"/>
                  </a:lnTo>
                  <a:lnTo>
                    <a:pt x="559099" y="66378"/>
                  </a:lnTo>
                  <a:lnTo>
                    <a:pt x="527528" y="94831"/>
                  </a:lnTo>
                  <a:lnTo>
                    <a:pt x="502508" y="130762"/>
                  </a:lnTo>
                  <a:lnTo>
                    <a:pt x="466117" y="113549"/>
                  </a:lnTo>
                  <a:lnTo>
                    <a:pt x="427594" y="102600"/>
                  </a:lnTo>
                  <a:lnTo>
                    <a:pt x="387762" y="98079"/>
                  </a:lnTo>
                  <a:lnTo>
                    <a:pt x="347441" y="100155"/>
                  </a:lnTo>
                  <a:lnTo>
                    <a:pt x="299770" y="111452"/>
                  </a:lnTo>
                  <a:lnTo>
                    <a:pt x="256658" y="131290"/>
                  </a:lnTo>
                  <a:lnTo>
                    <a:pt x="218936" y="158586"/>
                  </a:lnTo>
                  <a:lnTo>
                    <a:pt x="187437" y="192262"/>
                  </a:lnTo>
                  <a:lnTo>
                    <a:pt x="162992" y="231235"/>
                  </a:lnTo>
                  <a:lnTo>
                    <a:pt x="146434" y="274427"/>
                  </a:lnTo>
                  <a:lnTo>
                    <a:pt x="138594" y="320755"/>
                  </a:lnTo>
                  <a:lnTo>
                    <a:pt x="140304" y="369141"/>
                  </a:lnTo>
                  <a:lnTo>
                    <a:pt x="138907" y="372570"/>
                  </a:lnTo>
                  <a:lnTo>
                    <a:pt x="70629" y="396367"/>
                  </a:lnTo>
                  <a:lnTo>
                    <a:pt x="20543" y="448262"/>
                  </a:lnTo>
                  <a:lnTo>
                    <a:pt x="2529" y="494406"/>
                  </a:lnTo>
                  <a:lnTo>
                    <a:pt x="0" y="542116"/>
                  </a:lnTo>
                  <a:lnTo>
                    <a:pt x="12039" y="587900"/>
                  </a:lnTo>
                  <a:lnTo>
                    <a:pt x="37734" y="628265"/>
                  </a:lnTo>
                  <a:lnTo>
                    <a:pt x="76169" y="659717"/>
                  </a:lnTo>
                  <a:lnTo>
                    <a:pt x="55776" y="686607"/>
                  </a:lnTo>
                  <a:lnTo>
                    <a:pt x="41895" y="716819"/>
                  </a:lnTo>
                  <a:lnTo>
                    <a:pt x="34896" y="749246"/>
                  </a:lnTo>
                  <a:lnTo>
                    <a:pt x="35148" y="782780"/>
                  </a:lnTo>
                  <a:lnTo>
                    <a:pt x="48800" y="830188"/>
                  </a:lnTo>
                  <a:lnTo>
                    <a:pt x="75814" y="869593"/>
                  </a:lnTo>
                  <a:lnTo>
                    <a:pt x="113338" y="898781"/>
                  </a:lnTo>
                  <a:lnTo>
                    <a:pt x="158519" y="915539"/>
                  </a:lnTo>
                  <a:lnTo>
                    <a:pt x="208503" y="917654"/>
                  </a:lnTo>
                  <a:lnTo>
                    <a:pt x="211424" y="922607"/>
                  </a:lnTo>
                  <a:lnTo>
                    <a:pt x="240874" y="962573"/>
                  </a:lnTo>
                  <a:lnTo>
                    <a:pt x="276014" y="995765"/>
                  </a:lnTo>
                  <a:lnTo>
                    <a:pt x="315771" y="1021921"/>
                  </a:lnTo>
                  <a:lnTo>
                    <a:pt x="359072" y="1040776"/>
                  </a:lnTo>
                  <a:lnTo>
                    <a:pt x="404842" y="1052068"/>
                  </a:lnTo>
                  <a:lnTo>
                    <a:pt x="452009" y="1055534"/>
                  </a:lnTo>
                  <a:lnTo>
                    <a:pt x="499499" y="1050908"/>
                  </a:lnTo>
                  <a:lnTo>
                    <a:pt x="546239" y="1037929"/>
                  </a:lnTo>
                  <a:lnTo>
                    <a:pt x="591154" y="1016333"/>
                  </a:lnTo>
                  <a:lnTo>
                    <a:pt x="617223" y="1048553"/>
                  </a:lnTo>
                  <a:lnTo>
                    <a:pt x="648256" y="1075690"/>
                  </a:lnTo>
                  <a:lnTo>
                    <a:pt x="683505" y="1097182"/>
                  </a:lnTo>
                  <a:lnTo>
                    <a:pt x="722218" y="1112472"/>
                  </a:lnTo>
                  <a:lnTo>
                    <a:pt x="770313" y="1121812"/>
                  </a:lnTo>
                  <a:lnTo>
                    <a:pt x="817873" y="1121493"/>
                  </a:lnTo>
                  <a:lnTo>
                    <a:pt x="863682" y="1112155"/>
                  </a:lnTo>
                  <a:lnTo>
                    <a:pt x="906527" y="1094438"/>
                  </a:lnTo>
                  <a:lnTo>
                    <a:pt x="945192" y="1068982"/>
                  </a:lnTo>
                  <a:lnTo>
                    <a:pt x="978464" y="1036427"/>
                  </a:lnTo>
                  <a:lnTo>
                    <a:pt x="1005128" y="997412"/>
                  </a:lnTo>
                  <a:lnTo>
                    <a:pt x="1023970" y="952579"/>
                  </a:lnTo>
                  <a:lnTo>
                    <a:pt x="1049199" y="965852"/>
                  </a:lnTo>
                  <a:lnTo>
                    <a:pt x="1075881" y="975518"/>
                  </a:lnTo>
                  <a:lnTo>
                    <a:pt x="1103659" y="981493"/>
                  </a:lnTo>
                  <a:lnTo>
                    <a:pt x="1132174" y="983694"/>
                  </a:lnTo>
                  <a:lnTo>
                    <a:pt x="1179729" y="978663"/>
                  </a:lnTo>
                  <a:lnTo>
                    <a:pt x="1223477" y="963620"/>
                  </a:lnTo>
                  <a:lnTo>
                    <a:pt x="1262159" y="939780"/>
                  </a:lnTo>
                  <a:lnTo>
                    <a:pt x="1294519" y="908357"/>
                  </a:lnTo>
                  <a:lnTo>
                    <a:pt x="1319299" y="870568"/>
                  </a:lnTo>
                  <a:lnTo>
                    <a:pt x="1335241" y="827626"/>
                  </a:lnTo>
                  <a:lnTo>
                    <a:pt x="1341089" y="780748"/>
                  </a:lnTo>
                  <a:lnTo>
                    <a:pt x="1371652" y="774440"/>
                  </a:lnTo>
                  <a:lnTo>
                    <a:pt x="1428779" y="750726"/>
                  </a:lnTo>
                  <a:lnTo>
                    <a:pt x="1490453" y="700340"/>
                  </a:lnTo>
                  <a:lnTo>
                    <a:pt x="1517994" y="661852"/>
                  </a:lnTo>
                  <a:lnTo>
                    <a:pt x="1537073" y="619518"/>
                  </a:lnTo>
                  <a:lnTo>
                    <a:pt x="1547512" y="574690"/>
                  </a:lnTo>
                  <a:lnTo>
                    <a:pt x="1549134" y="528719"/>
                  </a:lnTo>
                  <a:lnTo>
                    <a:pt x="1541763" y="482957"/>
                  </a:lnTo>
                  <a:lnTo>
                    <a:pt x="1525221" y="438754"/>
                  </a:lnTo>
                  <a:lnTo>
                    <a:pt x="1499331" y="397462"/>
                  </a:lnTo>
                  <a:lnTo>
                    <a:pt x="1504189" y="385159"/>
                  </a:lnTo>
                  <a:lnTo>
                    <a:pt x="1508094" y="372570"/>
                  </a:lnTo>
                  <a:lnTo>
                    <a:pt x="1514837" y="322318"/>
                  </a:lnTo>
                  <a:lnTo>
                    <a:pt x="1508230" y="273750"/>
                  </a:lnTo>
                  <a:lnTo>
                    <a:pt x="1489552" y="229076"/>
                  </a:lnTo>
                  <a:lnTo>
                    <a:pt x="1460079" y="190508"/>
                  </a:lnTo>
                  <a:lnTo>
                    <a:pt x="1421087" y="160259"/>
                  </a:lnTo>
                  <a:lnTo>
                    <a:pt x="1373855" y="140541"/>
                  </a:lnTo>
                  <a:lnTo>
                    <a:pt x="1366007" y="111914"/>
                  </a:lnTo>
                  <a:lnTo>
                    <a:pt x="1336261" y="61138"/>
                  </a:lnTo>
                  <a:lnTo>
                    <a:pt x="1275757" y="15288"/>
                  </a:lnTo>
                  <a:lnTo>
                    <a:pt x="1232706" y="1989"/>
                  </a:lnTo>
                  <a:lnTo>
                    <a:pt x="1188245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346738" y="4215304"/>
              <a:ext cx="1549400" cy="1122045"/>
            </a:xfrm>
            <a:custGeom>
              <a:avLst/>
              <a:gdLst/>
              <a:ahLst/>
              <a:cxnLst/>
              <a:rect l="l" t="t" r="r" b="b"/>
              <a:pathLst>
                <a:path w="1549400" h="1122045">
                  <a:moveTo>
                    <a:pt x="140304" y="369141"/>
                  </a:moveTo>
                  <a:lnTo>
                    <a:pt x="138594" y="320755"/>
                  </a:lnTo>
                  <a:lnTo>
                    <a:pt x="146434" y="274427"/>
                  </a:lnTo>
                  <a:lnTo>
                    <a:pt x="162992" y="231235"/>
                  </a:lnTo>
                  <a:lnTo>
                    <a:pt x="187437" y="192262"/>
                  </a:lnTo>
                  <a:lnTo>
                    <a:pt x="218936" y="158586"/>
                  </a:lnTo>
                  <a:lnTo>
                    <a:pt x="256658" y="131290"/>
                  </a:lnTo>
                  <a:lnTo>
                    <a:pt x="299770" y="111452"/>
                  </a:lnTo>
                  <a:lnTo>
                    <a:pt x="347441" y="100155"/>
                  </a:lnTo>
                  <a:lnTo>
                    <a:pt x="387762" y="98079"/>
                  </a:lnTo>
                  <a:lnTo>
                    <a:pt x="427594" y="102600"/>
                  </a:lnTo>
                  <a:lnTo>
                    <a:pt x="466117" y="113549"/>
                  </a:lnTo>
                  <a:lnTo>
                    <a:pt x="502508" y="130762"/>
                  </a:lnTo>
                  <a:lnTo>
                    <a:pt x="527528" y="94831"/>
                  </a:lnTo>
                  <a:lnTo>
                    <a:pt x="559099" y="66378"/>
                  </a:lnTo>
                  <a:lnTo>
                    <a:pt x="595671" y="45867"/>
                  </a:lnTo>
                  <a:lnTo>
                    <a:pt x="635693" y="33762"/>
                  </a:lnTo>
                  <a:lnTo>
                    <a:pt x="677614" y="30528"/>
                  </a:lnTo>
                  <a:lnTo>
                    <a:pt x="719885" y="36629"/>
                  </a:lnTo>
                  <a:lnTo>
                    <a:pt x="760953" y="52530"/>
                  </a:lnTo>
                  <a:lnTo>
                    <a:pt x="795172" y="75533"/>
                  </a:lnTo>
                  <a:lnTo>
                    <a:pt x="805403" y="84788"/>
                  </a:lnTo>
                  <a:lnTo>
                    <a:pt x="834574" y="44560"/>
                  </a:lnTo>
                  <a:lnTo>
                    <a:pt x="873603" y="16379"/>
                  </a:lnTo>
                  <a:lnTo>
                    <a:pt x="919026" y="1376"/>
                  </a:lnTo>
                  <a:lnTo>
                    <a:pt x="967382" y="687"/>
                  </a:lnTo>
                  <a:lnTo>
                    <a:pt x="1015207" y="15446"/>
                  </a:lnTo>
                  <a:lnTo>
                    <a:pt x="1030687" y="24215"/>
                  </a:lnTo>
                  <a:lnTo>
                    <a:pt x="1045036" y="34639"/>
                  </a:lnTo>
                  <a:lnTo>
                    <a:pt x="1058123" y="46610"/>
                  </a:lnTo>
                  <a:lnTo>
                    <a:pt x="1069817" y="60023"/>
                  </a:lnTo>
                  <a:lnTo>
                    <a:pt x="1104457" y="29204"/>
                  </a:lnTo>
                  <a:lnTo>
                    <a:pt x="1144714" y="9134"/>
                  </a:lnTo>
                  <a:lnTo>
                    <a:pt x="1188245" y="0"/>
                  </a:lnTo>
                  <a:lnTo>
                    <a:pt x="1232706" y="1989"/>
                  </a:lnTo>
                  <a:lnTo>
                    <a:pt x="1275757" y="15288"/>
                  </a:lnTo>
                  <a:lnTo>
                    <a:pt x="1315054" y="40084"/>
                  </a:lnTo>
                  <a:lnTo>
                    <a:pt x="1353360" y="85264"/>
                  </a:lnTo>
                  <a:lnTo>
                    <a:pt x="1373855" y="140541"/>
                  </a:lnTo>
                  <a:lnTo>
                    <a:pt x="1421087" y="160259"/>
                  </a:lnTo>
                  <a:lnTo>
                    <a:pt x="1460079" y="190508"/>
                  </a:lnTo>
                  <a:lnTo>
                    <a:pt x="1489552" y="229076"/>
                  </a:lnTo>
                  <a:lnTo>
                    <a:pt x="1508230" y="273750"/>
                  </a:lnTo>
                  <a:lnTo>
                    <a:pt x="1514837" y="322318"/>
                  </a:lnTo>
                  <a:lnTo>
                    <a:pt x="1508094" y="372570"/>
                  </a:lnTo>
                  <a:lnTo>
                    <a:pt x="1506260" y="378906"/>
                  </a:lnTo>
                  <a:lnTo>
                    <a:pt x="1504189" y="385159"/>
                  </a:lnTo>
                  <a:lnTo>
                    <a:pt x="1501879" y="391340"/>
                  </a:lnTo>
                  <a:lnTo>
                    <a:pt x="1499331" y="397462"/>
                  </a:lnTo>
                  <a:lnTo>
                    <a:pt x="1525221" y="438754"/>
                  </a:lnTo>
                  <a:lnTo>
                    <a:pt x="1541763" y="482957"/>
                  </a:lnTo>
                  <a:lnTo>
                    <a:pt x="1549134" y="528719"/>
                  </a:lnTo>
                  <a:lnTo>
                    <a:pt x="1547512" y="574690"/>
                  </a:lnTo>
                  <a:lnTo>
                    <a:pt x="1537073" y="619518"/>
                  </a:lnTo>
                  <a:lnTo>
                    <a:pt x="1517994" y="661852"/>
                  </a:lnTo>
                  <a:lnTo>
                    <a:pt x="1490453" y="700340"/>
                  </a:lnTo>
                  <a:lnTo>
                    <a:pt x="1454627" y="733631"/>
                  </a:lnTo>
                  <a:lnTo>
                    <a:pt x="1401001" y="764381"/>
                  </a:lnTo>
                  <a:lnTo>
                    <a:pt x="1341089" y="780748"/>
                  </a:lnTo>
                  <a:lnTo>
                    <a:pt x="1335241" y="827626"/>
                  </a:lnTo>
                  <a:lnTo>
                    <a:pt x="1319299" y="870568"/>
                  </a:lnTo>
                  <a:lnTo>
                    <a:pt x="1294519" y="908357"/>
                  </a:lnTo>
                  <a:lnTo>
                    <a:pt x="1262159" y="939780"/>
                  </a:lnTo>
                  <a:lnTo>
                    <a:pt x="1223477" y="963620"/>
                  </a:lnTo>
                  <a:lnTo>
                    <a:pt x="1179729" y="978663"/>
                  </a:lnTo>
                  <a:lnTo>
                    <a:pt x="1132174" y="983694"/>
                  </a:lnTo>
                  <a:lnTo>
                    <a:pt x="1103659" y="981493"/>
                  </a:lnTo>
                  <a:lnTo>
                    <a:pt x="1075881" y="975518"/>
                  </a:lnTo>
                  <a:lnTo>
                    <a:pt x="1049199" y="965852"/>
                  </a:lnTo>
                  <a:lnTo>
                    <a:pt x="1023970" y="952579"/>
                  </a:lnTo>
                  <a:lnTo>
                    <a:pt x="1005128" y="997412"/>
                  </a:lnTo>
                  <a:lnTo>
                    <a:pt x="978464" y="1036427"/>
                  </a:lnTo>
                  <a:lnTo>
                    <a:pt x="945192" y="1068982"/>
                  </a:lnTo>
                  <a:lnTo>
                    <a:pt x="906527" y="1094438"/>
                  </a:lnTo>
                  <a:lnTo>
                    <a:pt x="863682" y="1112155"/>
                  </a:lnTo>
                  <a:lnTo>
                    <a:pt x="817873" y="1121493"/>
                  </a:lnTo>
                  <a:lnTo>
                    <a:pt x="770313" y="1121812"/>
                  </a:lnTo>
                  <a:lnTo>
                    <a:pt x="722218" y="1112472"/>
                  </a:lnTo>
                  <a:lnTo>
                    <a:pt x="683505" y="1097182"/>
                  </a:lnTo>
                  <a:lnTo>
                    <a:pt x="648256" y="1075690"/>
                  </a:lnTo>
                  <a:lnTo>
                    <a:pt x="617223" y="1048553"/>
                  </a:lnTo>
                  <a:lnTo>
                    <a:pt x="591154" y="1016333"/>
                  </a:lnTo>
                  <a:lnTo>
                    <a:pt x="546239" y="1037929"/>
                  </a:lnTo>
                  <a:lnTo>
                    <a:pt x="499499" y="1050908"/>
                  </a:lnTo>
                  <a:lnTo>
                    <a:pt x="452009" y="1055534"/>
                  </a:lnTo>
                  <a:lnTo>
                    <a:pt x="404842" y="1052068"/>
                  </a:lnTo>
                  <a:lnTo>
                    <a:pt x="359072" y="1040776"/>
                  </a:lnTo>
                  <a:lnTo>
                    <a:pt x="315771" y="1021921"/>
                  </a:lnTo>
                  <a:lnTo>
                    <a:pt x="276014" y="995765"/>
                  </a:lnTo>
                  <a:lnTo>
                    <a:pt x="240874" y="962573"/>
                  </a:lnTo>
                  <a:lnTo>
                    <a:pt x="211424" y="922607"/>
                  </a:lnTo>
                  <a:lnTo>
                    <a:pt x="208503" y="917654"/>
                  </a:lnTo>
                  <a:lnTo>
                    <a:pt x="158519" y="915539"/>
                  </a:lnTo>
                  <a:lnTo>
                    <a:pt x="113338" y="898781"/>
                  </a:lnTo>
                  <a:lnTo>
                    <a:pt x="75814" y="869593"/>
                  </a:lnTo>
                  <a:lnTo>
                    <a:pt x="48800" y="830188"/>
                  </a:lnTo>
                  <a:lnTo>
                    <a:pt x="35148" y="782780"/>
                  </a:lnTo>
                  <a:lnTo>
                    <a:pt x="34896" y="749246"/>
                  </a:lnTo>
                  <a:lnTo>
                    <a:pt x="41895" y="716819"/>
                  </a:lnTo>
                  <a:lnTo>
                    <a:pt x="55776" y="686607"/>
                  </a:lnTo>
                  <a:lnTo>
                    <a:pt x="76169" y="659717"/>
                  </a:lnTo>
                  <a:lnTo>
                    <a:pt x="37734" y="628265"/>
                  </a:lnTo>
                  <a:lnTo>
                    <a:pt x="12039" y="587900"/>
                  </a:lnTo>
                  <a:lnTo>
                    <a:pt x="0" y="542116"/>
                  </a:lnTo>
                  <a:lnTo>
                    <a:pt x="2529" y="494406"/>
                  </a:lnTo>
                  <a:lnTo>
                    <a:pt x="20543" y="448262"/>
                  </a:lnTo>
                  <a:lnTo>
                    <a:pt x="70629" y="396367"/>
                  </a:lnTo>
                  <a:lnTo>
                    <a:pt x="138907" y="372570"/>
                  </a:lnTo>
                  <a:lnTo>
                    <a:pt x="140304" y="369141"/>
                  </a:lnTo>
                  <a:close/>
                </a:path>
                <a:path w="1549400" h="1122045">
                  <a:moveTo>
                    <a:pt x="168625" y="676100"/>
                  </a:moveTo>
                  <a:lnTo>
                    <a:pt x="144973" y="676116"/>
                  </a:lnTo>
                  <a:lnTo>
                    <a:pt x="121714" y="672607"/>
                  </a:lnTo>
                  <a:lnTo>
                    <a:pt x="99241" y="665670"/>
                  </a:lnTo>
                  <a:lnTo>
                    <a:pt x="77947" y="655399"/>
                  </a:lnTo>
                </a:path>
                <a:path w="1549400" h="1122045">
                  <a:moveTo>
                    <a:pt x="248762" y="902922"/>
                  </a:moveTo>
                  <a:lnTo>
                    <a:pt x="239122" y="906327"/>
                  </a:lnTo>
                  <a:lnTo>
                    <a:pt x="229268" y="909113"/>
                  </a:lnTo>
                  <a:lnTo>
                    <a:pt x="219223" y="911280"/>
                  </a:lnTo>
                  <a:lnTo>
                    <a:pt x="209011" y="912828"/>
                  </a:lnTo>
                </a:path>
                <a:path w="1549400" h="1122045">
                  <a:moveTo>
                    <a:pt x="591027" y="1011888"/>
                  </a:moveTo>
                  <a:lnTo>
                    <a:pt x="584171" y="1001035"/>
                  </a:lnTo>
                  <a:lnTo>
                    <a:pt x="577898" y="989838"/>
                  </a:lnTo>
                  <a:lnTo>
                    <a:pt x="572221" y="978330"/>
                  </a:lnTo>
                  <a:lnTo>
                    <a:pt x="567151" y="966549"/>
                  </a:lnTo>
                </a:path>
                <a:path w="1549400" h="1122045">
                  <a:moveTo>
                    <a:pt x="1033749" y="898985"/>
                  </a:moveTo>
                  <a:lnTo>
                    <a:pt x="1032348" y="911602"/>
                  </a:lnTo>
                  <a:lnTo>
                    <a:pt x="1030257" y="924099"/>
                  </a:lnTo>
                  <a:lnTo>
                    <a:pt x="1027498" y="936454"/>
                  </a:lnTo>
                  <a:lnTo>
                    <a:pt x="1024097" y="948642"/>
                  </a:lnTo>
                </a:path>
                <a:path w="1549400" h="1122045">
                  <a:moveTo>
                    <a:pt x="1223741" y="592280"/>
                  </a:moveTo>
                  <a:lnTo>
                    <a:pt x="1263530" y="617270"/>
                  </a:lnTo>
                  <a:lnTo>
                    <a:pt x="1296015" y="649802"/>
                  </a:lnTo>
                  <a:lnTo>
                    <a:pt x="1320265" y="688392"/>
                  </a:lnTo>
                  <a:lnTo>
                    <a:pt x="1335347" y="731561"/>
                  </a:lnTo>
                  <a:lnTo>
                    <a:pt x="1340327" y="777827"/>
                  </a:lnTo>
                </a:path>
                <a:path w="1549400" h="1122045">
                  <a:moveTo>
                    <a:pt x="1498569" y="394668"/>
                  </a:moveTo>
                  <a:lnTo>
                    <a:pt x="1488758" y="414240"/>
                  </a:lnTo>
                  <a:lnTo>
                    <a:pt x="1476757" y="432466"/>
                  </a:lnTo>
                  <a:lnTo>
                    <a:pt x="1462707" y="449193"/>
                  </a:lnTo>
                  <a:lnTo>
                    <a:pt x="1446753" y="464264"/>
                  </a:lnTo>
                </a:path>
                <a:path w="1549400" h="1122045">
                  <a:moveTo>
                    <a:pt x="1374109" y="136604"/>
                  </a:moveTo>
                  <a:lnTo>
                    <a:pt x="1375365" y="144744"/>
                  </a:lnTo>
                  <a:lnTo>
                    <a:pt x="1376252" y="152955"/>
                  </a:lnTo>
                  <a:lnTo>
                    <a:pt x="1376734" y="161214"/>
                  </a:lnTo>
                  <a:lnTo>
                    <a:pt x="1376776" y="169497"/>
                  </a:lnTo>
                </a:path>
                <a:path w="1549400" h="1122045">
                  <a:moveTo>
                    <a:pt x="1042639" y="98250"/>
                  </a:moveTo>
                  <a:lnTo>
                    <a:pt x="1048164" y="87112"/>
                  </a:lnTo>
                  <a:lnTo>
                    <a:pt x="1054450" y="76390"/>
                  </a:lnTo>
                  <a:lnTo>
                    <a:pt x="1061499" y="66121"/>
                  </a:lnTo>
                  <a:lnTo>
                    <a:pt x="1069309" y="56340"/>
                  </a:lnTo>
                </a:path>
                <a:path w="1549400" h="1122045">
                  <a:moveTo>
                    <a:pt x="794100" y="118189"/>
                  </a:moveTo>
                  <a:lnTo>
                    <a:pt x="796408" y="108910"/>
                  </a:lnTo>
                  <a:lnTo>
                    <a:pt x="799323" y="99774"/>
                  </a:lnTo>
                  <a:lnTo>
                    <a:pt x="802833" y="90828"/>
                  </a:lnTo>
                  <a:lnTo>
                    <a:pt x="806927" y="82121"/>
                  </a:lnTo>
                </a:path>
                <a:path w="1549400" h="1122045">
                  <a:moveTo>
                    <a:pt x="502254" y="130508"/>
                  </a:moveTo>
                  <a:lnTo>
                    <a:pt x="514680" y="138217"/>
                  </a:lnTo>
                  <a:lnTo>
                    <a:pt x="526606" y="146653"/>
                  </a:lnTo>
                  <a:lnTo>
                    <a:pt x="538008" y="155779"/>
                  </a:lnTo>
                  <a:lnTo>
                    <a:pt x="548863" y="165560"/>
                  </a:lnTo>
                </a:path>
                <a:path w="1549400" h="1122045">
                  <a:moveTo>
                    <a:pt x="148432" y="405971"/>
                  </a:moveTo>
                  <a:lnTo>
                    <a:pt x="145840" y="396876"/>
                  </a:lnTo>
                  <a:lnTo>
                    <a:pt x="143606" y="387699"/>
                  </a:lnTo>
                  <a:lnTo>
                    <a:pt x="141753" y="378450"/>
                  </a:lnTo>
                  <a:lnTo>
                    <a:pt x="140304" y="369141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3560190" y="4278121"/>
            <a:ext cx="71755" cy="71755"/>
            <a:chOff x="3560190" y="4278121"/>
            <a:chExt cx="71755" cy="71755"/>
          </a:xfrm>
        </p:grpSpPr>
        <p:sp>
          <p:nvSpPr>
            <p:cNvPr id="23" name="object 23"/>
            <p:cNvSpPr/>
            <p:nvPr/>
          </p:nvSpPr>
          <p:spPr>
            <a:xfrm>
              <a:off x="3564762" y="4282693"/>
              <a:ext cx="62865" cy="62865"/>
            </a:xfrm>
            <a:custGeom>
              <a:avLst/>
              <a:gdLst/>
              <a:ahLst/>
              <a:cxnLst/>
              <a:rect l="l" t="t" r="r" b="b"/>
              <a:pathLst>
                <a:path w="62864" h="62864">
                  <a:moveTo>
                    <a:pt x="31241" y="0"/>
                  </a:moveTo>
                  <a:lnTo>
                    <a:pt x="19073" y="2452"/>
                  </a:lnTo>
                  <a:lnTo>
                    <a:pt x="9144" y="9143"/>
                  </a:lnTo>
                  <a:lnTo>
                    <a:pt x="2452" y="19073"/>
                  </a:lnTo>
                  <a:lnTo>
                    <a:pt x="0" y="31241"/>
                  </a:lnTo>
                  <a:lnTo>
                    <a:pt x="2452" y="43410"/>
                  </a:lnTo>
                  <a:lnTo>
                    <a:pt x="9143" y="53339"/>
                  </a:lnTo>
                  <a:lnTo>
                    <a:pt x="19073" y="60031"/>
                  </a:lnTo>
                  <a:lnTo>
                    <a:pt x="31241" y="62483"/>
                  </a:lnTo>
                  <a:lnTo>
                    <a:pt x="43336" y="60031"/>
                  </a:lnTo>
                  <a:lnTo>
                    <a:pt x="53228" y="53339"/>
                  </a:lnTo>
                  <a:lnTo>
                    <a:pt x="59906" y="43410"/>
                  </a:lnTo>
                  <a:lnTo>
                    <a:pt x="62357" y="31241"/>
                  </a:lnTo>
                  <a:lnTo>
                    <a:pt x="59906" y="19073"/>
                  </a:lnTo>
                  <a:lnTo>
                    <a:pt x="53228" y="9143"/>
                  </a:lnTo>
                  <a:lnTo>
                    <a:pt x="43336" y="2452"/>
                  </a:lnTo>
                  <a:lnTo>
                    <a:pt x="31241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560190" y="4278121"/>
              <a:ext cx="71501" cy="71628"/>
            </a:xfrm>
            <a:prstGeom prst="rect">
              <a:avLst/>
            </a:prstGeom>
          </p:spPr>
        </p:pic>
      </p:grpSp>
      <p:grpSp>
        <p:nvGrpSpPr>
          <p:cNvPr id="25" name="object 25"/>
          <p:cNvGrpSpPr/>
          <p:nvPr/>
        </p:nvGrpSpPr>
        <p:grpSpPr>
          <a:xfrm>
            <a:off x="3294507" y="4319904"/>
            <a:ext cx="133985" cy="133985"/>
            <a:chOff x="3294507" y="4319904"/>
            <a:chExt cx="133985" cy="133985"/>
          </a:xfrm>
        </p:grpSpPr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299079" y="4324476"/>
              <a:ext cx="124841" cy="12471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294507" y="4319904"/>
              <a:ext cx="133985" cy="133858"/>
            </a:xfrm>
            <a:prstGeom prst="rect">
              <a:avLst/>
            </a:prstGeom>
          </p:spPr>
        </p:pic>
      </p:grpSp>
      <p:grpSp>
        <p:nvGrpSpPr>
          <p:cNvPr id="28" name="object 28"/>
          <p:cNvGrpSpPr/>
          <p:nvPr/>
        </p:nvGrpSpPr>
        <p:grpSpPr>
          <a:xfrm>
            <a:off x="2969260" y="4380103"/>
            <a:ext cx="196850" cy="196850"/>
            <a:chOff x="2969260" y="4380103"/>
            <a:chExt cx="196850" cy="196850"/>
          </a:xfrm>
        </p:grpSpPr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973832" y="4384675"/>
              <a:ext cx="187198" cy="187198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969260" y="4380103"/>
              <a:ext cx="196342" cy="196342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1774951" y="4407230"/>
            <a:ext cx="58547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Think Think Think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2687" rIns="0" bIns="0" rtlCol="0">
            <a:spAutoFit/>
          </a:bodyPr>
          <a:lstStyle/>
          <a:p>
            <a:pPr marL="1781175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solidFill>
                  <a:srgbClr val="000000"/>
                </a:solidFill>
                <a:latin typeface="Arial MT"/>
                <a:cs typeface="Arial MT"/>
              </a:rPr>
              <a:t>Space</a:t>
            </a:r>
            <a:r>
              <a:rPr sz="4400" b="0" spc="-16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4400" b="0" spc="-10" dirty="0">
                <a:solidFill>
                  <a:srgbClr val="000000"/>
                </a:solidFill>
                <a:latin typeface="Arial MT"/>
                <a:cs typeface="Arial MT"/>
              </a:rPr>
              <a:t>Complexity</a:t>
            </a:r>
            <a:endParaRPr sz="44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06400" marR="215265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406400" algn="l"/>
              </a:tabLst>
            </a:pPr>
            <a:r>
              <a:rPr sz="3200" dirty="0"/>
              <a:t>The</a:t>
            </a:r>
            <a:r>
              <a:rPr sz="3200" spc="-50" dirty="0"/>
              <a:t> </a:t>
            </a:r>
            <a:r>
              <a:rPr sz="3200" dirty="0"/>
              <a:t>space</a:t>
            </a:r>
            <a:r>
              <a:rPr sz="3200" spc="-25" dirty="0"/>
              <a:t> </a:t>
            </a:r>
            <a:r>
              <a:rPr sz="3200" dirty="0"/>
              <a:t>needed</a:t>
            </a:r>
            <a:r>
              <a:rPr sz="3200" spc="-40" dirty="0"/>
              <a:t> </a:t>
            </a:r>
            <a:r>
              <a:rPr sz="3200" dirty="0"/>
              <a:t>by</a:t>
            </a:r>
            <a:r>
              <a:rPr sz="3200" spc="-30" dirty="0"/>
              <a:t> </a:t>
            </a:r>
            <a:r>
              <a:rPr sz="3200" dirty="0"/>
              <a:t>a</a:t>
            </a:r>
            <a:r>
              <a:rPr sz="3200" spc="-10" dirty="0"/>
              <a:t> </a:t>
            </a:r>
            <a:r>
              <a:rPr sz="3200" dirty="0"/>
              <a:t>program</a:t>
            </a:r>
            <a:r>
              <a:rPr sz="3200" spc="-40" dirty="0"/>
              <a:t> </a:t>
            </a:r>
            <a:r>
              <a:rPr sz="3200" dirty="0"/>
              <a:t>has</a:t>
            </a:r>
            <a:r>
              <a:rPr sz="3200" spc="-25" dirty="0"/>
              <a:t> the </a:t>
            </a:r>
            <a:r>
              <a:rPr sz="3200" dirty="0"/>
              <a:t>following</a:t>
            </a:r>
            <a:r>
              <a:rPr sz="3200" spc="-70" dirty="0"/>
              <a:t> </a:t>
            </a:r>
            <a:r>
              <a:rPr sz="3200" spc="-10" dirty="0"/>
              <a:t>components.</a:t>
            </a:r>
            <a:endParaRPr sz="3200" dirty="0"/>
          </a:p>
          <a:p>
            <a:pPr marL="806450" lvl="1" indent="-285750">
              <a:lnSpc>
                <a:spcPct val="100000"/>
              </a:lnSpc>
              <a:spcBef>
                <a:spcPts val="690"/>
              </a:spcBef>
              <a:buChar char="–"/>
              <a:tabLst>
                <a:tab pos="806450" algn="l"/>
              </a:tabLst>
            </a:pPr>
            <a:r>
              <a:rPr sz="2800" dirty="0">
                <a:solidFill>
                  <a:srgbClr val="333399"/>
                </a:solidFill>
                <a:latin typeface="Arial MT"/>
                <a:cs typeface="Arial MT"/>
              </a:rPr>
              <a:t>Instruction</a:t>
            </a:r>
            <a:r>
              <a:rPr sz="2800" spc="-120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800" spc="-20" dirty="0">
                <a:solidFill>
                  <a:srgbClr val="333399"/>
                </a:solidFill>
                <a:latin typeface="Arial MT"/>
                <a:cs typeface="Arial MT"/>
              </a:rPr>
              <a:t>space</a:t>
            </a:r>
            <a:endParaRPr sz="2800" dirty="0">
              <a:latin typeface="Arial MT"/>
              <a:cs typeface="Arial MT"/>
            </a:endParaRPr>
          </a:p>
          <a:p>
            <a:pPr marL="1205230" marR="5080" lvl="2" indent="-227329">
              <a:lnSpc>
                <a:spcPct val="100000"/>
              </a:lnSpc>
              <a:spcBef>
                <a:spcPts val="595"/>
              </a:spcBef>
              <a:buChar char="•"/>
              <a:tabLst>
                <a:tab pos="1206500" algn="l"/>
              </a:tabLst>
            </a:pPr>
            <a:r>
              <a:rPr sz="2400" dirty="0">
                <a:latin typeface="Arial MT"/>
                <a:cs typeface="Arial MT"/>
              </a:rPr>
              <a:t>Instruction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space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space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needed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store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	</a:t>
            </a:r>
            <a:r>
              <a:rPr sz="2400" dirty="0">
                <a:solidFill>
                  <a:srgbClr val="FF3399"/>
                </a:solidFill>
                <a:latin typeface="Arial MT"/>
                <a:cs typeface="Arial MT"/>
              </a:rPr>
              <a:t>compiled</a:t>
            </a:r>
            <a:r>
              <a:rPr sz="2400" spc="-6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399"/>
                </a:solidFill>
                <a:latin typeface="Arial MT"/>
                <a:cs typeface="Arial MT"/>
              </a:rPr>
              <a:t>version</a:t>
            </a:r>
            <a:r>
              <a:rPr sz="2400" spc="-6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program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instructions.</a:t>
            </a:r>
            <a:endParaRPr sz="2400" dirty="0">
              <a:latin typeface="Arial MT"/>
              <a:cs typeface="Arial MT"/>
            </a:endParaRPr>
          </a:p>
          <a:p>
            <a:pPr marL="1205230" marR="394335" lvl="2" indent="-227329">
              <a:lnSpc>
                <a:spcPct val="100000"/>
              </a:lnSpc>
              <a:spcBef>
                <a:spcPts val="575"/>
              </a:spcBef>
              <a:buChar char="•"/>
              <a:tabLst>
                <a:tab pos="1206500" algn="l"/>
                <a:tab pos="3479165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amount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instruction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space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needed 	</a:t>
            </a:r>
            <a:r>
              <a:rPr sz="2400" dirty="0">
                <a:latin typeface="Arial MT"/>
                <a:cs typeface="Arial MT"/>
              </a:rPr>
              <a:t>depends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dirty="0">
                <a:solidFill>
                  <a:srgbClr val="FF3399"/>
                </a:solidFill>
                <a:latin typeface="Arial MT"/>
                <a:cs typeface="Arial MT"/>
              </a:rPr>
              <a:t>compiler</a:t>
            </a:r>
            <a:r>
              <a:rPr sz="2400" spc="-6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used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compile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	</a:t>
            </a:r>
            <a:r>
              <a:rPr sz="2400" dirty="0">
                <a:latin typeface="Arial MT"/>
                <a:cs typeface="Arial MT"/>
              </a:rPr>
              <a:t>program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into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machine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code.</a:t>
            </a:r>
            <a:endParaRPr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3444" y="1536177"/>
            <a:ext cx="7583170" cy="422529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790"/>
              </a:spcBef>
              <a:buChar char="–"/>
              <a:tabLst>
                <a:tab pos="298450" algn="l"/>
              </a:tabLst>
            </a:pPr>
            <a:r>
              <a:rPr sz="2800" dirty="0">
                <a:solidFill>
                  <a:srgbClr val="333399"/>
                </a:solidFill>
                <a:latin typeface="Arial MT"/>
                <a:cs typeface="Arial MT"/>
              </a:rPr>
              <a:t>Data</a:t>
            </a:r>
            <a:r>
              <a:rPr sz="2800" spc="-70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800" spc="-20" dirty="0">
                <a:solidFill>
                  <a:srgbClr val="333399"/>
                </a:solidFill>
                <a:latin typeface="Arial MT"/>
                <a:cs typeface="Arial MT"/>
              </a:rPr>
              <a:t>space</a:t>
            </a:r>
            <a:endParaRPr sz="2800">
              <a:latin typeface="Arial MT"/>
              <a:cs typeface="Arial MT"/>
            </a:endParaRPr>
          </a:p>
          <a:p>
            <a:pPr marL="696595" marR="163830" lvl="1" indent="-227329">
              <a:lnSpc>
                <a:spcPct val="100000"/>
              </a:lnSpc>
              <a:spcBef>
                <a:spcPts val="595"/>
              </a:spcBef>
              <a:buChar char="•"/>
              <a:tabLst>
                <a:tab pos="697865" algn="l"/>
              </a:tabLst>
            </a:pP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space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space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needed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store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all 	</a:t>
            </a:r>
            <a:r>
              <a:rPr sz="2400" dirty="0">
                <a:solidFill>
                  <a:srgbClr val="FF3399"/>
                </a:solidFill>
                <a:latin typeface="Arial MT"/>
                <a:cs typeface="Arial MT"/>
              </a:rPr>
              <a:t>constant</a:t>
            </a:r>
            <a:r>
              <a:rPr sz="2400" spc="-7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399"/>
                </a:solidFill>
                <a:latin typeface="Arial MT"/>
                <a:cs typeface="Arial MT"/>
              </a:rPr>
              <a:t>and</a:t>
            </a:r>
            <a:r>
              <a:rPr sz="2400" spc="-7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399"/>
                </a:solidFill>
                <a:latin typeface="Arial MT"/>
                <a:cs typeface="Arial MT"/>
              </a:rPr>
              <a:t>variable</a:t>
            </a:r>
            <a:r>
              <a:rPr sz="2400" spc="-5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values.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space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two 	</a:t>
            </a:r>
            <a:r>
              <a:rPr sz="2400" spc="-10" dirty="0">
                <a:latin typeface="Arial MT"/>
                <a:cs typeface="Arial MT"/>
              </a:rPr>
              <a:t>components.</a:t>
            </a:r>
            <a:endParaRPr sz="2400">
              <a:latin typeface="Arial MT"/>
              <a:cs typeface="Arial MT"/>
            </a:endParaRPr>
          </a:p>
          <a:p>
            <a:pPr marL="1153160" marR="5080" lvl="2" indent="-226695">
              <a:lnSpc>
                <a:spcPct val="100000"/>
              </a:lnSpc>
              <a:spcBef>
                <a:spcPts val="484"/>
              </a:spcBef>
              <a:buChar char="–"/>
              <a:tabLst>
                <a:tab pos="1155065" algn="l"/>
              </a:tabLst>
            </a:pPr>
            <a:r>
              <a:rPr sz="2000" dirty="0">
                <a:latin typeface="Arial MT"/>
                <a:cs typeface="Arial MT"/>
              </a:rPr>
              <a:t>Space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needed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constants</a:t>
            </a:r>
            <a:r>
              <a:rPr sz="2000" dirty="0">
                <a:latin typeface="Arial MT"/>
                <a:cs typeface="Arial MT"/>
              </a:rPr>
              <a:t>(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ex;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1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2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max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</a:t>
            </a:r>
            <a:r>
              <a:rPr sz="2000" spc="-25" dirty="0">
                <a:latin typeface="Arial MT"/>
                <a:cs typeface="Arial MT"/>
              </a:rPr>
              <a:t> num 	</a:t>
            </a:r>
            <a:r>
              <a:rPr sz="2000" dirty="0">
                <a:latin typeface="Arial MT"/>
                <a:cs typeface="Arial MT"/>
              </a:rPr>
              <a:t>algorithm)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simple</a:t>
            </a:r>
            <a:r>
              <a:rPr sz="2000" spc="-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variables</a:t>
            </a:r>
            <a:r>
              <a:rPr sz="2000" dirty="0">
                <a:latin typeface="Arial MT"/>
                <a:cs typeface="Arial MT"/>
              </a:rPr>
              <a:t>(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such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i,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j,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</a:t>
            </a:r>
            <a:r>
              <a:rPr sz="2000" spc="-10" dirty="0">
                <a:latin typeface="Arial MT"/>
                <a:cs typeface="Arial MT"/>
              </a:rPr>
              <a:t> etc).</a:t>
            </a:r>
            <a:endParaRPr sz="2000">
              <a:latin typeface="Arial MT"/>
              <a:cs typeface="Arial MT"/>
            </a:endParaRPr>
          </a:p>
          <a:p>
            <a:pPr marL="1153160" marR="263525" lvl="2" indent="-226695">
              <a:lnSpc>
                <a:spcPct val="100000"/>
              </a:lnSpc>
              <a:spcBef>
                <a:spcPts val="480"/>
              </a:spcBef>
              <a:buChar char="–"/>
              <a:tabLst>
                <a:tab pos="1155065" algn="l"/>
              </a:tabLst>
            </a:pPr>
            <a:r>
              <a:rPr sz="2000" dirty="0">
                <a:latin typeface="Arial MT"/>
                <a:cs typeface="Arial MT"/>
              </a:rPr>
              <a:t>Space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needed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dynamically</a:t>
            </a:r>
            <a:r>
              <a:rPr sz="2000" spc="-2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allocated</a:t>
            </a:r>
            <a:r>
              <a:rPr sz="2000" spc="-3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objects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such 	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arrays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class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instances.</a:t>
            </a:r>
            <a:endParaRPr sz="2000">
              <a:latin typeface="Arial MT"/>
              <a:cs typeface="Arial MT"/>
            </a:endParaRPr>
          </a:p>
          <a:p>
            <a:pPr marL="696595" marR="81915" lvl="1" indent="-227329">
              <a:lnSpc>
                <a:spcPct val="100000"/>
              </a:lnSpc>
              <a:spcBef>
                <a:spcPts val="570"/>
              </a:spcBef>
              <a:buChar char="•"/>
              <a:tabLst>
                <a:tab pos="697865" algn="l"/>
              </a:tabLst>
            </a:pPr>
            <a:r>
              <a:rPr sz="2400" dirty="0">
                <a:latin typeface="Arial MT"/>
                <a:cs typeface="Arial MT"/>
              </a:rPr>
              <a:t>Space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taken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variables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constants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varies 	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language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language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platform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to 	</a:t>
            </a:r>
            <a:r>
              <a:rPr sz="2400" spc="-10" dirty="0">
                <a:latin typeface="Arial MT"/>
                <a:cs typeface="Arial MT"/>
              </a:rPr>
              <a:t>platform.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3444" y="1536177"/>
            <a:ext cx="7586980" cy="3859529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298450" indent="-285750" algn="just">
              <a:lnSpc>
                <a:spcPct val="100000"/>
              </a:lnSpc>
              <a:spcBef>
                <a:spcPts val="790"/>
              </a:spcBef>
              <a:buChar char="–"/>
              <a:tabLst>
                <a:tab pos="298450" algn="l"/>
              </a:tabLst>
            </a:pPr>
            <a:r>
              <a:rPr sz="2800" dirty="0">
                <a:solidFill>
                  <a:srgbClr val="333399"/>
                </a:solidFill>
                <a:latin typeface="Arial MT"/>
                <a:cs typeface="Arial MT"/>
              </a:rPr>
              <a:t>Environmental</a:t>
            </a:r>
            <a:r>
              <a:rPr sz="2800" spc="-110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9"/>
                </a:solidFill>
                <a:latin typeface="Arial MT"/>
                <a:cs typeface="Arial MT"/>
              </a:rPr>
              <a:t>stack</a:t>
            </a:r>
            <a:r>
              <a:rPr sz="2800" spc="-114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333399"/>
                </a:solidFill>
                <a:latin typeface="Arial MT"/>
                <a:cs typeface="Arial MT"/>
              </a:rPr>
              <a:t>space</a:t>
            </a:r>
            <a:endParaRPr sz="2800">
              <a:latin typeface="Arial MT"/>
              <a:cs typeface="Arial MT"/>
            </a:endParaRPr>
          </a:p>
          <a:p>
            <a:pPr marL="696595" marR="65405" lvl="1" indent="-227329" algn="just">
              <a:lnSpc>
                <a:spcPct val="100000"/>
              </a:lnSpc>
              <a:spcBef>
                <a:spcPts val="595"/>
              </a:spcBef>
              <a:buChar char="•"/>
              <a:tabLst>
                <a:tab pos="697865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environment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stack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used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save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information 	</a:t>
            </a:r>
            <a:r>
              <a:rPr sz="2400" dirty="0">
                <a:latin typeface="Arial MT"/>
                <a:cs typeface="Arial MT"/>
              </a:rPr>
              <a:t>needed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399"/>
                </a:solidFill>
                <a:latin typeface="Arial MT"/>
                <a:cs typeface="Arial MT"/>
              </a:rPr>
              <a:t>resume</a:t>
            </a:r>
            <a:r>
              <a:rPr sz="2400" spc="-8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399"/>
                </a:solidFill>
                <a:latin typeface="Arial MT"/>
                <a:cs typeface="Arial MT"/>
              </a:rPr>
              <a:t>execution</a:t>
            </a:r>
            <a:r>
              <a:rPr sz="2400" spc="-6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partially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completed 	functions.</a:t>
            </a:r>
            <a:endParaRPr sz="2400">
              <a:latin typeface="Arial MT"/>
              <a:cs typeface="Arial MT"/>
            </a:endParaRPr>
          </a:p>
          <a:p>
            <a:pPr marL="696595" lvl="1" indent="-227329" algn="just">
              <a:lnSpc>
                <a:spcPct val="100000"/>
              </a:lnSpc>
              <a:spcBef>
                <a:spcPts val="575"/>
              </a:spcBef>
              <a:buChar char="•"/>
              <a:tabLst>
                <a:tab pos="696595" algn="l"/>
              </a:tabLst>
            </a:pPr>
            <a:r>
              <a:rPr sz="2400" dirty="0">
                <a:latin typeface="Arial MT"/>
                <a:cs typeface="Arial MT"/>
              </a:rPr>
              <a:t>Each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time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function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invoked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following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data</a:t>
            </a:r>
            <a:endParaRPr sz="2400">
              <a:latin typeface="Arial MT"/>
              <a:cs typeface="Arial MT"/>
            </a:endParaRPr>
          </a:p>
          <a:p>
            <a:pPr marL="697865" algn="just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saved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environment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stack.</a:t>
            </a:r>
            <a:endParaRPr sz="2400">
              <a:latin typeface="Arial MT"/>
              <a:cs typeface="Arial MT"/>
            </a:endParaRPr>
          </a:p>
          <a:p>
            <a:pPr marL="1153160" lvl="2" indent="-226695">
              <a:lnSpc>
                <a:spcPct val="100000"/>
              </a:lnSpc>
              <a:spcBef>
                <a:spcPts val="484"/>
              </a:spcBef>
              <a:buChar char="–"/>
              <a:tabLst>
                <a:tab pos="1153160" algn="l"/>
              </a:tabLst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return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address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50" dirty="0">
                <a:latin typeface="Arial MT"/>
                <a:cs typeface="Arial MT"/>
              </a:rPr>
              <a:t>.</a:t>
            </a:r>
            <a:endParaRPr sz="2000">
              <a:latin typeface="Arial MT"/>
              <a:cs typeface="Arial MT"/>
            </a:endParaRPr>
          </a:p>
          <a:p>
            <a:pPr marL="1153160" marR="5080" lvl="2" indent="-226695">
              <a:lnSpc>
                <a:spcPct val="100000"/>
              </a:lnSpc>
              <a:spcBef>
                <a:spcPts val="480"/>
              </a:spcBef>
              <a:buChar char="–"/>
              <a:tabLst>
                <a:tab pos="1155065" algn="l"/>
              </a:tabLst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values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all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local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variables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formal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parameters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in 	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function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being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invoked(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necessary</a:t>
            </a:r>
            <a:r>
              <a:rPr sz="2000" spc="-6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for</a:t>
            </a:r>
            <a:r>
              <a:rPr sz="2000" spc="-4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FF3399"/>
                </a:solidFill>
                <a:latin typeface="Arial MT"/>
                <a:cs typeface="Arial MT"/>
              </a:rPr>
              <a:t>recursive 	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functions</a:t>
            </a:r>
            <a:r>
              <a:rPr sz="2000" spc="-7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FF3399"/>
                </a:solidFill>
                <a:latin typeface="Arial MT"/>
                <a:cs typeface="Arial MT"/>
              </a:rPr>
              <a:t>only</a:t>
            </a:r>
            <a:r>
              <a:rPr sz="2000" spc="-10" dirty="0">
                <a:latin typeface="Arial MT"/>
                <a:cs typeface="Arial MT"/>
              </a:rPr>
              <a:t>).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C86F4E-1149-E007-8A13-1861EF6E94ED}"/>
              </a:ext>
            </a:extLst>
          </p:cNvPr>
          <p:cNvSpPr txBox="1"/>
          <p:nvPr/>
        </p:nvSpPr>
        <p:spPr>
          <a:xfrm>
            <a:off x="1447800" y="1371600"/>
            <a:ext cx="3048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Example :</a:t>
            </a:r>
          </a:p>
          <a:p>
            <a:endParaRPr lang="en-IN" dirty="0"/>
          </a:p>
          <a:p>
            <a:r>
              <a:rPr lang="en-IN" dirty="0"/>
              <a:t>Linear Search </a:t>
            </a:r>
          </a:p>
        </p:txBody>
      </p:sp>
    </p:spTree>
    <p:extLst>
      <p:ext uri="{BB962C8B-B14F-4D97-AF65-F5344CB8AC3E}">
        <p14:creationId xmlns:p14="http://schemas.microsoft.com/office/powerpoint/2010/main" val="34295605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26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solidFill>
                  <a:srgbClr val="000000"/>
                </a:solidFill>
                <a:latin typeface="Arial MT"/>
                <a:cs typeface="Arial MT"/>
              </a:rPr>
              <a:t>Recursive</a:t>
            </a:r>
            <a:r>
              <a:rPr sz="4400" b="0" spc="-6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4400" b="0" spc="-10" dirty="0">
                <a:solidFill>
                  <a:srgbClr val="000000"/>
                </a:solidFill>
                <a:latin typeface="Arial MT"/>
                <a:cs typeface="Arial MT"/>
              </a:rPr>
              <a:t>algorithm</a:t>
            </a:r>
            <a:endParaRPr sz="4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35000" y="1674621"/>
            <a:ext cx="2940685" cy="894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Algorithm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rfactorial(n)</a:t>
            </a:r>
            <a:endParaRPr sz="2400">
              <a:latin typeface="Arial MT"/>
              <a:cs typeface="Arial MT"/>
            </a:endParaRPr>
          </a:p>
          <a:p>
            <a:pPr marL="109855">
              <a:lnSpc>
                <a:spcPct val="100000"/>
              </a:lnSpc>
              <a:spcBef>
                <a:spcPts val="1555"/>
              </a:spcBef>
            </a:pPr>
            <a:r>
              <a:rPr sz="2000" dirty="0">
                <a:latin typeface="Arial MT"/>
                <a:cs typeface="Arial MT"/>
              </a:rPr>
              <a:t>//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integer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4727" y="2625979"/>
            <a:ext cx="110489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latin typeface="Arial MT"/>
                <a:cs typeface="Arial MT"/>
              </a:rPr>
              <a:t>{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50594" y="2565628"/>
            <a:ext cx="3318510" cy="185483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60655">
              <a:lnSpc>
                <a:spcPct val="100000"/>
              </a:lnSpc>
              <a:spcBef>
                <a:spcPts val="580"/>
              </a:spcBef>
            </a:pPr>
            <a:r>
              <a:rPr sz="2000" spc="-10" dirty="0">
                <a:latin typeface="Arial MT"/>
                <a:cs typeface="Arial MT"/>
              </a:rPr>
              <a:t>fact=1;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Arial MT"/>
                <a:cs typeface="Arial MT"/>
              </a:rPr>
              <a:t>if(n=1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n=0)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return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fact;</a:t>
            </a:r>
            <a:endParaRPr sz="2000">
              <a:latin typeface="Arial MT"/>
              <a:cs typeface="Arial MT"/>
            </a:endParaRPr>
          </a:p>
          <a:p>
            <a:pPr marL="927100" marR="5080">
              <a:lnSpc>
                <a:spcPts val="2880"/>
              </a:lnSpc>
              <a:spcBef>
                <a:spcPts val="175"/>
              </a:spcBef>
            </a:pPr>
            <a:r>
              <a:rPr sz="2000" spc="-20" dirty="0">
                <a:latin typeface="Arial MT"/>
                <a:cs typeface="Arial MT"/>
              </a:rPr>
              <a:t>else </a:t>
            </a:r>
            <a:r>
              <a:rPr sz="2000" spc="-10" dirty="0">
                <a:latin typeface="Arial MT"/>
                <a:cs typeface="Arial MT"/>
              </a:rPr>
              <a:t>fact=n*rfactorial(n-</a:t>
            </a:r>
            <a:r>
              <a:rPr sz="2000" spc="-25" dirty="0">
                <a:latin typeface="Arial MT"/>
                <a:cs typeface="Arial MT"/>
              </a:rPr>
              <a:t>1);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2000" dirty="0">
                <a:latin typeface="Arial MT"/>
                <a:cs typeface="Arial MT"/>
              </a:rPr>
              <a:t>return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fact;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4727" y="4394682"/>
            <a:ext cx="7811134" cy="142811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000" spc="-50" dirty="0">
                <a:latin typeface="Arial MT"/>
                <a:cs typeface="Arial MT"/>
              </a:rPr>
              <a:t>}</a:t>
            </a:r>
            <a:endParaRPr sz="2000">
              <a:latin typeface="Arial MT"/>
              <a:cs typeface="Arial MT"/>
            </a:endParaRPr>
          </a:p>
          <a:p>
            <a:pPr marL="8255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Arial MT"/>
                <a:cs typeface="Arial MT"/>
              </a:rPr>
              <a:t>Each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time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recursive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function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rfactorial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invoked,</a:t>
            </a:r>
            <a:endParaRPr sz="2000">
              <a:latin typeface="Arial MT"/>
              <a:cs typeface="Arial MT"/>
            </a:endParaRPr>
          </a:p>
          <a:p>
            <a:pPr marL="146685" marR="508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current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values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n</a:t>
            </a:r>
            <a:r>
              <a:rPr sz="2000" spc="-1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fact</a:t>
            </a:r>
            <a:r>
              <a:rPr sz="2000" spc="-4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program</a:t>
            </a:r>
            <a:r>
              <a:rPr sz="2000" spc="-5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location</a:t>
            </a:r>
            <a:r>
              <a:rPr sz="2000" spc="-1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return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to </a:t>
            </a:r>
            <a:r>
              <a:rPr sz="2000" dirty="0">
                <a:latin typeface="Arial MT"/>
                <a:cs typeface="Arial MT"/>
              </a:rPr>
              <a:t>on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completion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saved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environment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stack.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939" y="692658"/>
            <a:ext cx="2084705" cy="1491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6425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imes New Roman"/>
                <a:cs typeface="Times New Roman"/>
              </a:rPr>
              <a:t>R: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60"/>
              </a:spcBef>
            </a:pPr>
            <a:r>
              <a:rPr sz="2000" dirty="0">
                <a:latin typeface="Times New Roman"/>
                <a:cs typeface="Times New Roman"/>
              </a:rPr>
              <a:t>void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main()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{int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R=rfactorial(3);</a:t>
            </a:r>
            <a:endParaRPr sz="2000">
              <a:latin typeface="Times New Roman"/>
              <a:cs typeface="Times New Roman"/>
            </a:endParaRPr>
          </a:p>
          <a:p>
            <a:pPr marL="76200">
              <a:lnSpc>
                <a:spcPct val="100000"/>
              </a:lnSpc>
            </a:pPr>
            <a:r>
              <a:rPr sz="2000" spc="-10" dirty="0">
                <a:latin typeface="Times New Roman"/>
                <a:cs typeface="Times New Roman"/>
              </a:rPr>
              <a:t>printf(R);}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41194" y="1167130"/>
            <a:ext cx="2662555" cy="2160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065" marR="961390" indent="-1270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int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rfactorial(n){ fact=1;</a:t>
            </a: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(n=0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n=1)return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fact; </a:t>
            </a:r>
            <a:r>
              <a:rPr sz="2000" spc="-20" dirty="0">
                <a:latin typeface="Times New Roman"/>
                <a:cs typeface="Times New Roman"/>
              </a:rPr>
              <a:t>else</a:t>
            </a:r>
            <a:endParaRPr sz="2000">
              <a:latin typeface="Times New Roman"/>
              <a:cs typeface="Times New Roman"/>
            </a:endParaRPr>
          </a:p>
          <a:p>
            <a:pPr marL="12700" marR="355600">
              <a:lnSpc>
                <a:spcPct val="100000"/>
              </a:lnSpc>
            </a:pPr>
            <a:r>
              <a:rPr sz="2000" spc="-10" dirty="0">
                <a:latin typeface="Times New Roman"/>
                <a:cs typeface="Times New Roman"/>
              </a:rPr>
              <a:t>fact=n*rfactorial(n-</a:t>
            </a:r>
            <a:r>
              <a:rPr sz="2000" spc="-25" dirty="0">
                <a:latin typeface="Times New Roman"/>
                <a:cs typeface="Times New Roman"/>
              </a:rPr>
              <a:t>1); </a:t>
            </a:r>
            <a:r>
              <a:rPr sz="2000" dirty="0">
                <a:latin typeface="Times New Roman"/>
                <a:cs typeface="Times New Roman"/>
              </a:rPr>
              <a:t>return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fact;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50" dirty="0"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56560" y="670559"/>
            <a:ext cx="810895" cy="46672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75"/>
              </a:spcBef>
              <a:tabLst>
                <a:tab pos="555625" algn="l"/>
              </a:tabLst>
            </a:pPr>
            <a:r>
              <a:rPr sz="2400" dirty="0">
                <a:latin typeface="Times New Roman"/>
                <a:cs typeface="Times New Roman"/>
              </a:rPr>
              <a:t>n </a:t>
            </a:r>
            <a:r>
              <a:rPr sz="2400" spc="-50" dirty="0">
                <a:latin typeface="Times New Roman"/>
                <a:cs typeface="Times New Roman"/>
              </a:rPr>
              <a:t>: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18428" y="998982"/>
            <a:ext cx="2591435" cy="2160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3200" marR="890905" indent="-1905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int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rfactorial(n){ fact=1</a:t>
            </a:r>
            <a:endParaRPr sz="2000">
              <a:latin typeface="Times New Roman"/>
              <a:cs typeface="Times New Roman"/>
            </a:endParaRPr>
          </a:p>
          <a:p>
            <a:pPr marL="139065" marR="5080" indent="-1270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(n=0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n=1)return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fact else</a:t>
            </a:r>
            <a:endParaRPr sz="2000">
              <a:latin typeface="Times New Roman"/>
              <a:cs typeface="Times New Roman"/>
            </a:endParaRPr>
          </a:p>
          <a:p>
            <a:pPr marL="12700" marR="158750" indent="126364">
              <a:lnSpc>
                <a:spcPct val="100000"/>
              </a:lnSpc>
            </a:pPr>
            <a:r>
              <a:rPr sz="2000" spc="-10" dirty="0">
                <a:latin typeface="Times New Roman"/>
                <a:cs typeface="Times New Roman"/>
              </a:rPr>
              <a:t>fact=n*rfactorial(n-</a:t>
            </a:r>
            <a:r>
              <a:rPr sz="2000" spc="-25" dirty="0">
                <a:latin typeface="Times New Roman"/>
                <a:cs typeface="Times New Roman"/>
              </a:rPr>
              <a:t>1); </a:t>
            </a:r>
            <a:r>
              <a:rPr sz="2000" dirty="0">
                <a:latin typeface="Times New Roman"/>
                <a:cs typeface="Times New Roman"/>
              </a:rPr>
              <a:t>return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fact;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50" dirty="0"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99428" y="3910965"/>
            <a:ext cx="2437765" cy="2160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366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int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rfactorial(n){ </a:t>
            </a: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(n=0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n=1) </a:t>
            </a:r>
            <a:r>
              <a:rPr sz="2000" dirty="0">
                <a:latin typeface="Times New Roman"/>
                <a:cs typeface="Times New Roman"/>
              </a:rPr>
              <a:t>return</a:t>
            </a:r>
            <a:r>
              <a:rPr sz="2000" spc="-25" dirty="0">
                <a:latin typeface="Times New Roman"/>
                <a:cs typeface="Times New Roman"/>
              </a:rPr>
              <a:t> 1;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20" dirty="0">
                <a:latin typeface="Times New Roman"/>
                <a:cs typeface="Times New Roman"/>
              </a:rPr>
              <a:t>else</a:t>
            </a:r>
            <a:endParaRPr sz="2000">
              <a:latin typeface="Times New Roman"/>
              <a:cs typeface="Times New Roman"/>
            </a:endParaRPr>
          </a:p>
          <a:p>
            <a:pPr marL="12700" marR="5080" indent="126364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latin typeface="Times New Roman"/>
                <a:cs typeface="Times New Roman"/>
              </a:rPr>
              <a:t>fact=n*rfactorial(n-</a:t>
            </a:r>
            <a:r>
              <a:rPr sz="2000" spc="-25" dirty="0">
                <a:latin typeface="Times New Roman"/>
                <a:cs typeface="Times New Roman"/>
              </a:rPr>
              <a:t>1); </a:t>
            </a:r>
            <a:r>
              <a:rPr sz="2000" dirty="0">
                <a:latin typeface="Times New Roman"/>
                <a:cs typeface="Times New Roman"/>
              </a:rPr>
              <a:t>return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fact;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50" dirty="0"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92140" y="381000"/>
            <a:ext cx="812800" cy="46672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275"/>
              </a:spcBef>
              <a:tabLst>
                <a:tab pos="557530" algn="l"/>
              </a:tabLst>
            </a:pPr>
            <a:r>
              <a:rPr sz="2400" dirty="0">
                <a:latin typeface="Times New Roman"/>
                <a:cs typeface="Times New Roman"/>
              </a:rPr>
              <a:t>n </a:t>
            </a:r>
            <a:r>
              <a:rPr sz="2400" spc="-50" dirty="0">
                <a:latin typeface="Times New Roman"/>
                <a:cs typeface="Times New Roman"/>
              </a:rPr>
              <a:t>: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629400" y="3352800"/>
            <a:ext cx="810895" cy="466725"/>
          </a:xfrm>
          <a:custGeom>
            <a:avLst/>
            <a:gdLst/>
            <a:ahLst/>
            <a:cxnLst/>
            <a:rect l="l" t="t" r="r" b="b"/>
            <a:pathLst>
              <a:path w="810895" h="466725">
                <a:moveTo>
                  <a:pt x="0" y="466344"/>
                </a:moveTo>
                <a:lnTo>
                  <a:pt x="810768" y="466344"/>
                </a:lnTo>
                <a:lnTo>
                  <a:pt x="810768" y="0"/>
                </a:lnTo>
                <a:lnTo>
                  <a:pt x="0" y="0"/>
                </a:lnTo>
                <a:lnTo>
                  <a:pt x="0" y="466344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709029" y="3375482"/>
            <a:ext cx="6432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77520" algn="l"/>
              </a:tabLst>
            </a:pPr>
            <a:r>
              <a:rPr sz="2400" dirty="0">
                <a:latin typeface="Times New Roman"/>
                <a:cs typeface="Times New Roman"/>
              </a:rPr>
              <a:t>n </a:t>
            </a:r>
            <a:r>
              <a:rPr sz="2400" spc="-50" dirty="0">
                <a:latin typeface="Times New Roman"/>
                <a:cs typeface="Times New Roman"/>
              </a:rPr>
              <a:t>: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673605" y="914400"/>
            <a:ext cx="1222375" cy="615315"/>
          </a:xfrm>
          <a:custGeom>
            <a:avLst/>
            <a:gdLst/>
            <a:ahLst/>
            <a:cxnLst/>
            <a:rect l="l" t="t" r="r" b="b"/>
            <a:pathLst>
              <a:path w="1222375" h="615315">
                <a:moveTo>
                  <a:pt x="1150996" y="28386"/>
                </a:moveTo>
                <a:lnTo>
                  <a:pt x="0" y="603885"/>
                </a:lnTo>
                <a:lnTo>
                  <a:pt x="5587" y="615314"/>
                </a:lnTo>
                <a:lnTo>
                  <a:pt x="1156669" y="39711"/>
                </a:lnTo>
                <a:lnTo>
                  <a:pt x="1150996" y="28386"/>
                </a:lnTo>
                <a:close/>
              </a:path>
              <a:path w="1222375" h="615315">
                <a:moveTo>
                  <a:pt x="1204976" y="22733"/>
                </a:moveTo>
                <a:lnTo>
                  <a:pt x="1162304" y="22733"/>
                </a:lnTo>
                <a:lnTo>
                  <a:pt x="1168019" y="34036"/>
                </a:lnTo>
                <a:lnTo>
                  <a:pt x="1156669" y="39711"/>
                </a:lnTo>
                <a:lnTo>
                  <a:pt x="1170939" y="68199"/>
                </a:lnTo>
                <a:lnTo>
                  <a:pt x="1204976" y="22733"/>
                </a:lnTo>
                <a:close/>
              </a:path>
              <a:path w="1222375" h="615315">
                <a:moveTo>
                  <a:pt x="1162304" y="22733"/>
                </a:moveTo>
                <a:lnTo>
                  <a:pt x="1150996" y="28386"/>
                </a:lnTo>
                <a:lnTo>
                  <a:pt x="1156669" y="39711"/>
                </a:lnTo>
                <a:lnTo>
                  <a:pt x="1168019" y="34036"/>
                </a:lnTo>
                <a:lnTo>
                  <a:pt x="1162304" y="22733"/>
                </a:lnTo>
                <a:close/>
              </a:path>
              <a:path w="1222375" h="615315">
                <a:moveTo>
                  <a:pt x="1221994" y="0"/>
                </a:moveTo>
                <a:lnTo>
                  <a:pt x="1136777" y="0"/>
                </a:lnTo>
                <a:lnTo>
                  <a:pt x="1150996" y="28386"/>
                </a:lnTo>
                <a:lnTo>
                  <a:pt x="1162304" y="22733"/>
                </a:lnTo>
                <a:lnTo>
                  <a:pt x="1204976" y="22733"/>
                </a:lnTo>
                <a:lnTo>
                  <a:pt x="122199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810000" y="9144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0" y="0"/>
                </a:moveTo>
                <a:lnTo>
                  <a:pt x="59334" y="23943"/>
                </a:lnTo>
                <a:lnTo>
                  <a:pt x="85222" y="52037"/>
                </a:lnTo>
                <a:lnTo>
                  <a:pt x="107775" y="89249"/>
                </a:lnTo>
                <a:lnTo>
                  <a:pt x="126381" y="134354"/>
                </a:lnTo>
                <a:lnTo>
                  <a:pt x="140428" y="186130"/>
                </a:lnTo>
                <a:lnTo>
                  <a:pt x="149305" y="243353"/>
                </a:lnTo>
                <a:lnTo>
                  <a:pt x="152400" y="304800"/>
                </a:lnTo>
              </a:path>
              <a:path w="228600" h="304800">
                <a:moveTo>
                  <a:pt x="152400" y="228600"/>
                </a:moveTo>
                <a:lnTo>
                  <a:pt x="152400" y="304800"/>
                </a:lnTo>
              </a:path>
              <a:path w="228600" h="304800">
                <a:moveTo>
                  <a:pt x="152400" y="304800"/>
                </a:moveTo>
                <a:lnTo>
                  <a:pt x="228600" y="228600"/>
                </a:lnTo>
              </a:path>
              <a:path w="228600" h="304800">
                <a:moveTo>
                  <a:pt x="76200" y="228600"/>
                </a:moveTo>
                <a:lnTo>
                  <a:pt x="152400" y="30480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7158228" y="2513964"/>
            <a:ext cx="1152525" cy="2215515"/>
            <a:chOff x="7158228" y="2513964"/>
            <a:chExt cx="1152525" cy="2215515"/>
          </a:xfrm>
        </p:grpSpPr>
        <p:sp>
          <p:nvSpPr>
            <p:cNvPr id="13" name="object 13"/>
            <p:cNvSpPr/>
            <p:nvPr/>
          </p:nvSpPr>
          <p:spPr>
            <a:xfrm>
              <a:off x="7208647" y="2513964"/>
              <a:ext cx="113030" cy="762635"/>
            </a:xfrm>
            <a:custGeom>
              <a:avLst/>
              <a:gdLst/>
              <a:ahLst/>
              <a:cxnLst/>
              <a:rect l="l" t="t" r="r" b="b"/>
              <a:pathLst>
                <a:path w="113029" h="762635">
                  <a:moveTo>
                    <a:pt x="0" y="683006"/>
                  </a:moveTo>
                  <a:lnTo>
                    <a:pt x="30352" y="762635"/>
                  </a:lnTo>
                  <a:lnTo>
                    <a:pt x="69885" y="700024"/>
                  </a:lnTo>
                  <a:lnTo>
                    <a:pt x="42925" y="700024"/>
                  </a:lnTo>
                  <a:lnTo>
                    <a:pt x="30352" y="698881"/>
                  </a:lnTo>
                  <a:lnTo>
                    <a:pt x="31495" y="687446"/>
                  </a:lnTo>
                  <a:lnTo>
                    <a:pt x="31621" y="686184"/>
                  </a:lnTo>
                  <a:lnTo>
                    <a:pt x="0" y="683006"/>
                  </a:lnTo>
                  <a:close/>
                </a:path>
                <a:path w="113029" h="762635">
                  <a:moveTo>
                    <a:pt x="31621" y="686184"/>
                  </a:moveTo>
                  <a:lnTo>
                    <a:pt x="30352" y="698881"/>
                  </a:lnTo>
                  <a:lnTo>
                    <a:pt x="42925" y="700024"/>
                  </a:lnTo>
                  <a:lnTo>
                    <a:pt x="44185" y="687446"/>
                  </a:lnTo>
                  <a:lnTo>
                    <a:pt x="31621" y="686184"/>
                  </a:lnTo>
                  <a:close/>
                </a:path>
                <a:path w="113029" h="762635">
                  <a:moveTo>
                    <a:pt x="44185" y="687446"/>
                  </a:moveTo>
                  <a:lnTo>
                    <a:pt x="43040" y="698881"/>
                  </a:lnTo>
                  <a:lnTo>
                    <a:pt x="42925" y="700024"/>
                  </a:lnTo>
                  <a:lnTo>
                    <a:pt x="69885" y="700024"/>
                  </a:lnTo>
                  <a:lnTo>
                    <a:pt x="75819" y="690626"/>
                  </a:lnTo>
                  <a:lnTo>
                    <a:pt x="44185" y="687446"/>
                  </a:lnTo>
                  <a:close/>
                </a:path>
                <a:path w="113029" h="762635">
                  <a:moveTo>
                    <a:pt x="100202" y="0"/>
                  </a:moveTo>
                  <a:lnTo>
                    <a:pt x="31621" y="686184"/>
                  </a:lnTo>
                  <a:lnTo>
                    <a:pt x="44185" y="687446"/>
                  </a:lnTo>
                  <a:lnTo>
                    <a:pt x="112902" y="1270"/>
                  </a:lnTo>
                  <a:lnTo>
                    <a:pt x="10020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162800" y="2663951"/>
              <a:ext cx="1143000" cy="2060575"/>
            </a:xfrm>
            <a:custGeom>
              <a:avLst/>
              <a:gdLst/>
              <a:ahLst/>
              <a:cxnLst/>
              <a:rect l="l" t="t" r="r" b="b"/>
              <a:pathLst>
                <a:path w="1143000" h="2060575">
                  <a:moveTo>
                    <a:pt x="0" y="2060448"/>
                  </a:moveTo>
                  <a:lnTo>
                    <a:pt x="48310" y="2059459"/>
                  </a:lnTo>
                  <a:lnTo>
                    <a:pt x="96111" y="2056518"/>
                  </a:lnTo>
                  <a:lnTo>
                    <a:pt x="143361" y="2051664"/>
                  </a:lnTo>
                  <a:lnTo>
                    <a:pt x="190021" y="2044937"/>
                  </a:lnTo>
                  <a:lnTo>
                    <a:pt x="236051" y="2036376"/>
                  </a:lnTo>
                  <a:lnTo>
                    <a:pt x="281412" y="2026019"/>
                  </a:lnTo>
                  <a:lnTo>
                    <a:pt x="326064" y="2013905"/>
                  </a:lnTo>
                  <a:lnTo>
                    <a:pt x="369967" y="2000075"/>
                  </a:lnTo>
                  <a:lnTo>
                    <a:pt x="413082" y="1984566"/>
                  </a:lnTo>
                  <a:lnTo>
                    <a:pt x="455368" y="1967419"/>
                  </a:lnTo>
                  <a:lnTo>
                    <a:pt x="496787" y="1948671"/>
                  </a:lnTo>
                  <a:lnTo>
                    <a:pt x="537298" y="1928363"/>
                  </a:lnTo>
                  <a:lnTo>
                    <a:pt x="576862" y="1906533"/>
                  </a:lnTo>
                  <a:lnTo>
                    <a:pt x="615439" y="1883220"/>
                  </a:lnTo>
                  <a:lnTo>
                    <a:pt x="652989" y="1858464"/>
                  </a:lnTo>
                  <a:lnTo>
                    <a:pt x="689473" y="1832304"/>
                  </a:lnTo>
                  <a:lnTo>
                    <a:pt x="724850" y="1804778"/>
                  </a:lnTo>
                  <a:lnTo>
                    <a:pt x="759083" y="1775926"/>
                  </a:lnTo>
                  <a:lnTo>
                    <a:pt x="792129" y="1745787"/>
                  </a:lnTo>
                  <a:lnTo>
                    <a:pt x="823951" y="1714400"/>
                  </a:lnTo>
                  <a:lnTo>
                    <a:pt x="854508" y="1681805"/>
                  </a:lnTo>
                  <a:lnTo>
                    <a:pt x="883760" y="1648039"/>
                  </a:lnTo>
                  <a:lnTo>
                    <a:pt x="911668" y="1613143"/>
                  </a:lnTo>
                  <a:lnTo>
                    <a:pt x="938192" y="1577155"/>
                  </a:lnTo>
                  <a:lnTo>
                    <a:pt x="963293" y="1540115"/>
                  </a:lnTo>
                  <a:lnTo>
                    <a:pt x="986931" y="1502061"/>
                  </a:lnTo>
                  <a:lnTo>
                    <a:pt x="1009065" y="1463034"/>
                  </a:lnTo>
                  <a:lnTo>
                    <a:pt x="1029657" y="1423071"/>
                  </a:lnTo>
                  <a:lnTo>
                    <a:pt x="1048666" y="1382212"/>
                  </a:lnTo>
                  <a:lnTo>
                    <a:pt x="1066054" y="1340496"/>
                  </a:lnTo>
                  <a:lnTo>
                    <a:pt x="1081780" y="1297962"/>
                  </a:lnTo>
                  <a:lnTo>
                    <a:pt x="1095804" y="1254649"/>
                  </a:lnTo>
                  <a:lnTo>
                    <a:pt x="1108087" y="1210597"/>
                  </a:lnTo>
                  <a:lnTo>
                    <a:pt x="1118589" y="1165844"/>
                  </a:lnTo>
                  <a:lnTo>
                    <a:pt x="1127271" y="1120430"/>
                  </a:lnTo>
                  <a:lnTo>
                    <a:pt x="1134093" y="1074394"/>
                  </a:lnTo>
                  <a:lnTo>
                    <a:pt x="1139014" y="1027774"/>
                  </a:lnTo>
                  <a:lnTo>
                    <a:pt x="1141997" y="980610"/>
                  </a:lnTo>
                  <a:lnTo>
                    <a:pt x="1143000" y="932942"/>
                  </a:lnTo>
                  <a:lnTo>
                    <a:pt x="1141940" y="884353"/>
                  </a:lnTo>
                  <a:lnTo>
                    <a:pt x="1138782" y="836095"/>
                  </a:lnTo>
                  <a:lnTo>
                    <a:pt x="1133556" y="788225"/>
                  </a:lnTo>
                  <a:lnTo>
                    <a:pt x="1126293" y="740799"/>
                  </a:lnTo>
                  <a:lnTo>
                    <a:pt x="1117023" y="693876"/>
                  </a:lnTo>
                  <a:lnTo>
                    <a:pt x="1105776" y="647510"/>
                  </a:lnTo>
                  <a:lnTo>
                    <a:pt x="1092583" y="601761"/>
                  </a:lnTo>
                  <a:lnTo>
                    <a:pt x="1077474" y="556684"/>
                  </a:lnTo>
                  <a:lnTo>
                    <a:pt x="1060481" y="512336"/>
                  </a:lnTo>
                  <a:lnTo>
                    <a:pt x="1041633" y="468776"/>
                  </a:lnTo>
                  <a:lnTo>
                    <a:pt x="1020961" y="426059"/>
                  </a:lnTo>
                  <a:lnTo>
                    <a:pt x="998496" y="384242"/>
                  </a:lnTo>
                  <a:lnTo>
                    <a:pt x="974268" y="343383"/>
                  </a:lnTo>
                  <a:lnTo>
                    <a:pt x="948307" y="303539"/>
                  </a:lnTo>
                  <a:lnTo>
                    <a:pt x="920644" y="264766"/>
                  </a:lnTo>
                  <a:lnTo>
                    <a:pt x="891310" y="227122"/>
                  </a:lnTo>
                  <a:lnTo>
                    <a:pt x="860335" y="190663"/>
                  </a:lnTo>
                  <a:lnTo>
                    <a:pt x="827749" y="155447"/>
                  </a:lnTo>
                  <a:lnTo>
                    <a:pt x="793583" y="121531"/>
                  </a:lnTo>
                  <a:lnTo>
                    <a:pt x="757868" y="88970"/>
                  </a:lnTo>
                  <a:lnTo>
                    <a:pt x="720634" y="57824"/>
                  </a:lnTo>
                  <a:lnTo>
                    <a:pt x="681911" y="28148"/>
                  </a:lnTo>
                  <a:lnTo>
                    <a:pt x="641730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615428" y="2586227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4572"/>
                  </a:moveTo>
                  <a:lnTo>
                    <a:pt x="1339" y="1339"/>
                  </a:lnTo>
                  <a:lnTo>
                    <a:pt x="4572" y="0"/>
                  </a:lnTo>
                  <a:lnTo>
                    <a:pt x="7804" y="1339"/>
                  </a:lnTo>
                  <a:lnTo>
                    <a:pt x="9144" y="4572"/>
                  </a:lnTo>
                  <a:lnTo>
                    <a:pt x="7804" y="7804"/>
                  </a:lnTo>
                  <a:lnTo>
                    <a:pt x="4572" y="9144"/>
                  </a:lnTo>
                  <a:lnTo>
                    <a:pt x="1339" y="7804"/>
                  </a:lnTo>
                  <a:lnTo>
                    <a:pt x="0" y="45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467600" y="2666999"/>
              <a:ext cx="457200" cy="1295400"/>
            </a:xfrm>
            <a:custGeom>
              <a:avLst/>
              <a:gdLst/>
              <a:ahLst/>
              <a:cxnLst/>
              <a:rect l="l" t="t" r="r" b="b"/>
              <a:pathLst>
                <a:path w="457200" h="1295400">
                  <a:moveTo>
                    <a:pt x="304800" y="0"/>
                  </a:moveTo>
                  <a:lnTo>
                    <a:pt x="304800" y="76200"/>
                  </a:lnTo>
                </a:path>
                <a:path w="457200" h="1295400">
                  <a:moveTo>
                    <a:pt x="304800" y="0"/>
                  </a:moveTo>
                  <a:lnTo>
                    <a:pt x="457200" y="0"/>
                  </a:lnTo>
                </a:path>
                <a:path w="457200" h="1295400">
                  <a:moveTo>
                    <a:pt x="0" y="838200"/>
                  </a:moveTo>
                  <a:lnTo>
                    <a:pt x="34997" y="889237"/>
                  </a:lnTo>
                  <a:lnTo>
                    <a:pt x="44982" y="926421"/>
                  </a:lnTo>
                  <a:lnTo>
                    <a:pt x="53863" y="972121"/>
                  </a:lnTo>
                  <a:lnTo>
                    <a:pt x="61484" y="1025395"/>
                  </a:lnTo>
                  <a:lnTo>
                    <a:pt x="67685" y="1085302"/>
                  </a:lnTo>
                  <a:lnTo>
                    <a:pt x="72310" y="1150900"/>
                  </a:lnTo>
                  <a:lnTo>
                    <a:pt x="75201" y="1221246"/>
                  </a:lnTo>
                  <a:lnTo>
                    <a:pt x="76200" y="1295400"/>
                  </a:lnTo>
                </a:path>
                <a:path w="457200" h="1295400">
                  <a:moveTo>
                    <a:pt x="0" y="1219200"/>
                  </a:moveTo>
                  <a:lnTo>
                    <a:pt x="76200" y="1295400"/>
                  </a:lnTo>
                </a:path>
                <a:path w="457200" h="1295400">
                  <a:moveTo>
                    <a:pt x="76200" y="1295400"/>
                  </a:moveTo>
                  <a:lnTo>
                    <a:pt x="152400" y="12192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1316669" y="685800"/>
            <a:ext cx="5012690" cy="5948680"/>
            <a:chOff x="1316669" y="685800"/>
            <a:chExt cx="5012690" cy="5948680"/>
          </a:xfrm>
        </p:grpSpPr>
        <p:sp>
          <p:nvSpPr>
            <p:cNvPr id="18" name="object 18"/>
            <p:cNvSpPr/>
            <p:nvPr/>
          </p:nvSpPr>
          <p:spPr>
            <a:xfrm>
              <a:off x="4186174" y="685800"/>
              <a:ext cx="1529080" cy="1757045"/>
            </a:xfrm>
            <a:custGeom>
              <a:avLst/>
              <a:gdLst/>
              <a:ahLst/>
              <a:cxnLst/>
              <a:rect l="l" t="t" r="r" b="b"/>
              <a:pathLst>
                <a:path w="1529079" h="1757045">
                  <a:moveTo>
                    <a:pt x="1473986" y="53299"/>
                  </a:moveTo>
                  <a:lnTo>
                    <a:pt x="0" y="1748409"/>
                  </a:lnTo>
                  <a:lnTo>
                    <a:pt x="9651" y="1756790"/>
                  </a:lnTo>
                  <a:lnTo>
                    <a:pt x="1483631" y="61688"/>
                  </a:lnTo>
                  <a:lnTo>
                    <a:pt x="1473986" y="53299"/>
                  </a:lnTo>
                  <a:close/>
                </a:path>
                <a:path w="1529079" h="1757045">
                  <a:moveTo>
                    <a:pt x="1517601" y="43687"/>
                  </a:moveTo>
                  <a:lnTo>
                    <a:pt x="1482343" y="43687"/>
                  </a:lnTo>
                  <a:lnTo>
                    <a:pt x="1491996" y="52070"/>
                  </a:lnTo>
                  <a:lnTo>
                    <a:pt x="1483631" y="61688"/>
                  </a:lnTo>
                  <a:lnTo>
                    <a:pt x="1507616" y="82550"/>
                  </a:lnTo>
                  <a:lnTo>
                    <a:pt x="1517601" y="43687"/>
                  </a:lnTo>
                  <a:close/>
                </a:path>
                <a:path w="1529079" h="1757045">
                  <a:moveTo>
                    <a:pt x="1482343" y="43687"/>
                  </a:moveTo>
                  <a:lnTo>
                    <a:pt x="1473986" y="53299"/>
                  </a:lnTo>
                  <a:lnTo>
                    <a:pt x="1483631" y="61688"/>
                  </a:lnTo>
                  <a:lnTo>
                    <a:pt x="1491996" y="52070"/>
                  </a:lnTo>
                  <a:lnTo>
                    <a:pt x="1482343" y="43687"/>
                  </a:lnTo>
                  <a:close/>
                </a:path>
                <a:path w="1529079" h="1757045">
                  <a:moveTo>
                    <a:pt x="1528826" y="0"/>
                  </a:moveTo>
                  <a:lnTo>
                    <a:pt x="1450086" y="32512"/>
                  </a:lnTo>
                  <a:lnTo>
                    <a:pt x="1473986" y="53299"/>
                  </a:lnTo>
                  <a:lnTo>
                    <a:pt x="1482343" y="43687"/>
                  </a:lnTo>
                  <a:lnTo>
                    <a:pt x="1517601" y="43687"/>
                  </a:lnTo>
                  <a:lnTo>
                    <a:pt x="15288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21432" y="1905000"/>
              <a:ext cx="5003165" cy="4724400"/>
            </a:xfrm>
            <a:custGeom>
              <a:avLst/>
              <a:gdLst/>
              <a:ahLst/>
              <a:cxnLst/>
              <a:rect l="l" t="t" r="r" b="b"/>
              <a:pathLst>
                <a:path w="5003165" h="4724400">
                  <a:moveTo>
                    <a:pt x="2869567" y="838200"/>
                  </a:moveTo>
                  <a:lnTo>
                    <a:pt x="2913617" y="876859"/>
                  </a:lnTo>
                  <a:lnTo>
                    <a:pt x="2957646" y="915445"/>
                  </a:lnTo>
                  <a:lnTo>
                    <a:pt x="3001633" y="953885"/>
                  </a:lnTo>
                  <a:lnTo>
                    <a:pt x="3045557" y="992105"/>
                  </a:lnTo>
                  <a:lnTo>
                    <a:pt x="3089397" y="1030032"/>
                  </a:lnTo>
                  <a:lnTo>
                    <a:pt x="3133133" y="1067593"/>
                  </a:lnTo>
                  <a:lnTo>
                    <a:pt x="3176743" y="1104715"/>
                  </a:lnTo>
                  <a:lnTo>
                    <a:pt x="3220207" y="1141325"/>
                  </a:lnTo>
                  <a:lnTo>
                    <a:pt x="3263503" y="1177349"/>
                  </a:lnTo>
                  <a:lnTo>
                    <a:pt x="3306611" y="1212714"/>
                  </a:lnTo>
                  <a:lnTo>
                    <a:pt x="3349509" y="1247347"/>
                  </a:lnTo>
                  <a:lnTo>
                    <a:pt x="3392177" y="1281175"/>
                  </a:lnTo>
                  <a:lnTo>
                    <a:pt x="3434595" y="1314124"/>
                  </a:lnTo>
                  <a:lnTo>
                    <a:pt x="3476740" y="1346121"/>
                  </a:lnTo>
                  <a:lnTo>
                    <a:pt x="3518592" y="1377094"/>
                  </a:lnTo>
                  <a:lnTo>
                    <a:pt x="3560130" y="1406969"/>
                  </a:lnTo>
                  <a:lnTo>
                    <a:pt x="3601333" y="1435672"/>
                  </a:lnTo>
                  <a:lnTo>
                    <a:pt x="3642181" y="1463131"/>
                  </a:lnTo>
                  <a:lnTo>
                    <a:pt x="3682652" y="1489273"/>
                  </a:lnTo>
                  <a:lnTo>
                    <a:pt x="3722725" y="1514023"/>
                  </a:lnTo>
                  <a:lnTo>
                    <a:pt x="3762379" y="1537309"/>
                  </a:lnTo>
                  <a:lnTo>
                    <a:pt x="3801594" y="1559058"/>
                  </a:lnTo>
                  <a:lnTo>
                    <a:pt x="3840349" y="1579197"/>
                  </a:lnTo>
                  <a:lnTo>
                    <a:pt x="3878622" y="1597652"/>
                  </a:lnTo>
                  <a:lnTo>
                    <a:pt x="3916393" y="1614349"/>
                  </a:lnTo>
                  <a:lnTo>
                    <a:pt x="3953641" y="1629217"/>
                  </a:lnTo>
                  <a:lnTo>
                    <a:pt x="3990344" y="1642182"/>
                  </a:lnTo>
                  <a:lnTo>
                    <a:pt x="4062035" y="1662108"/>
                  </a:lnTo>
                  <a:lnTo>
                    <a:pt x="4131299" y="1673542"/>
                  </a:lnTo>
                  <a:lnTo>
                    <a:pt x="4164967" y="1675891"/>
                  </a:lnTo>
                  <a:lnTo>
                    <a:pt x="4207566" y="1674323"/>
                  </a:lnTo>
                  <a:lnTo>
                    <a:pt x="4249970" y="1666872"/>
                  </a:lnTo>
                  <a:lnTo>
                    <a:pt x="4292106" y="1653991"/>
                  </a:lnTo>
                  <a:lnTo>
                    <a:pt x="4333900" y="1636133"/>
                  </a:lnTo>
                  <a:lnTo>
                    <a:pt x="4375279" y="1613753"/>
                  </a:lnTo>
                  <a:lnTo>
                    <a:pt x="4416171" y="1587303"/>
                  </a:lnTo>
                  <a:lnTo>
                    <a:pt x="4456503" y="1557237"/>
                  </a:lnTo>
                  <a:lnTo>
                    <a:pt x="4496200" y="1524007"/>
                  </a:lnTo>
                  <a:lnTo>
                    <a:pt x="4535190" y="1488068"/>
                  </a:lnTo>
                  <a:lnTo>
                    <a:pt x="4573399" y="1449872"/>
                  </a:lnTo>
                  <a:lnTo>
                    <a:pt x="4610756" y="1409873"/>
                  </a:lnTo>
                  <a:lnTo>
                    <a:pt x="4647185" y="1368524"/>
                  </a:lnTo>
                  <a:lnTo>
                    <a:pt x="4682615" y="1326279"/>
                  </a:lnTo>
                  <a:lnTo>
                    <a:pt x="4716972" y="1283590"/>
                  </a:lnTo>
                  <a:lnTo>
                    <a:pt x="4750183" y="1240911"/>
                  </a:lnTo>
                  <a:lnTo>
                    <a:pt x="4782175" y="1198696"/>
                  </a:lnTo>
                  <a:lnTo>
                    <a:pt x="4812875" y="1157397"/>
                  </a:lnTo>
                  <a:lnTo>
                    <a:pt x="4842209" y="1117468"/>
                  </a:lnTo>
                  <a:lnTo>
                    <a:pt x="4870104" y="1079362"/>
                  </a:lnTo>
                  <a:lnTo>
                    <a:pt x="4896487" y="1043533"/>
                  </a:lnTo>
                  <a:lnTo>
                    <a:pt x="4921286" y="1010434"/>
                  </a:lnTo>
                  <a:lnTo>
                    <a:pt x="4944426" y="980517"/>
                  </a:lnTo>
                  <a:lnTo>
                    <a:pt x="4965836" y="954237"/>
                  </a:lnTo>
                  <a:lnTo>
                    <a:pt x="4985440" y="932047"/>
                  </a:lnTo>
                  <a:lnTo>
                    <a:pt x="5003167" y="914400"/>
                  </a:lnTo>
                </a:path>
                <a:path w="5003165" h="4724400">
                  <a:moveTo>
                    <a:pt x="2869567" y="838200"/>
                  </a:moveTo>
                  <a:lnTo>
                    <a:pt x="2869567" y="914400"/>
                  </a:lnTo>
                </a:path>
                <a:path w="5003165" h="4724400">
                  <a:moveTo>
                    <a:pt x="2869567" y="838200"/>
                  </a:moveTo>
                  <a:lnTo>
                    <a:pt x="3021967" y="838200"/>
                  </a:lnTo>
                </a:path>
                <a:path w="5003165" h="4724400">
                  <a:moveTo>
                    <a:pt x="1269367" y="914400"/>
                  </a:moveTo>
                  <a:lnTo>
                    <a:pt x="1206952" y="923529"/>
                  </a:lnTo>
                  <a:lnTo>
                    <a:pt x="1144675" y="932570"/>
                  </a:lnTo>
                  <a:lnTo>
                    <a:pt x="1082671" y="941436"/>
                  </a:lnTo>
                  <a:lnTo>
                    <a:pt x="1021076" y="950039"/>
                  </a:lnTo>
                  <a:lnTo>
                    <a:pt x="960027" y="958291"/>
                  </a:lnTo>
                  <a:lnTo>
                    <a:pt x="899660" y="966103"/>
                  </a:lnTo>
                  <a:lnTo>
                    <a:pt x="840110" y="973389"/>
                  </a:lnTo>
                  <a:lnTo>
                    <a:pt x="781515" y="980061"/>
                  </a:lnTo>
                  <a:lnTo>
                    <a:pt x="724010" y="986030"/>
                  </a:lnTo>
                  <a:lnTo>
                    <a:pt x="667731" y="991209"/>
                  </a:lnTo>
                  <a:lnTo>
                    <a:pt x="612814" y="995510"/>
                  </a:lnTo>
                  <a:lnTo>
                    <a:pt x="559396" y="998846"/>
                  </a:lnTo>
                  <a:lnTo>
                    <a:pt x="507612" y="1001129"/>
                  </a:lnTo>
                  <a:lnTo>
                    <a:pt x="457599" y="1002270"/>
                  </a:lnTo>
                  <a:lnTo>
                    <a:pt x="409493" y="1002182"/>
                  </a:lnTo>
                  <a:lnTo>
                    <a:pt x="363430" y="1000777"/>
                  </a:lnTo>
                  <a:lnTo>
                    <a:pt x="319545" y="997968"/>
                  </a:lnTo>
                  <a:lnTo>
                    <a:pt x="277976" y="993667"/>
                  </a:lnTo>
                  <a:lnTo>
                    <a:pt x="238858" y="987786"/>
                  </a:lnTo>
                  <a:lnTo>
                    <a:pt x="168520" y="970931"/>
                  </a:lnTo>
                  <a:lnTo>
                    <a:pt x="109621" y="946703"/>
                  </a:lnTo>
                  <a:lnTo>
                    <a:pt x="63248" y="914400"/>
                  </a:lnTo>
                  <a:lnTo>
                    <a:pt x="25314" y="864834"/>
                  </a:lnTo>
                  <a:lnTo>
                    <a:pt x="4844" y="804012"/>
                  </a:lnTo>
                  <a:lnTo>
                    <a:pt x="0" y="733119"/>
                  </a:lnTo>
                  <a:lnTo>
                    <a:pt x="2862" y="694266"/>
                  </a:lnTo>
                  <a:lnTo>
                    <a:pt x="8942" y="653340"/>
                  </a:lnTo>
                  <a:lnTo>
                    <a:pt x="18008" y="610488"/>
                  </a:lnTo>
                  <a:lnTo>
                    <a:pt x="29832" y="565859"/>
                  </a:lnTo>
                  <a:lnTo>
                    <a:pt x="44182" y="519601"/>
                  </a:lnTo>
                  <a:lnTo>
                    <a:pt x="60830" y="471862"/>
                  </a:lnTo>
                  <a:lnTo>
                    <a:pt x="79545" y="422790"/>
                  </a:lnTo>
                  <a:lnTo>
                    <a:pt x="100097" y="372533"/>
                  </a:lnTo>
                  <a:lnTo>
                    <a:pt x="122257" y="321239"/>
                  </a:lnTo>
                  <a:lnTo>
                    <a:pt x="145795" y="269057"/>
                  </a:lnTo>
                  <a:lnTo>
                    <a:pt x="170480" y="216134"/>
                  </a:lnTo>
                  <a:lnTo>
                    <a:pt x="196083" y="162619"/>
                  </a:lnTo>
                  <a:lnTo>
                    <a:pt x="222374" y="108659"/>
                  </a:lnTo>
                  <a:lnTo>
                    <a:pt x="249123" y="54403"/>
                  </a:lnTo>
                  <a:lnTo>
                    <a:pt x="276100" y="0"/>
                  </a:lnTo>
                </a:path>
                <a:path w="5003165" h="4724400">
                  <a:moveTo>
                    <a:pt x="278767" y="0"/>
                  </a:moveTo>
                  <a:lnTo>
                    <a:pt x="126367" y="76200"/>
                  </a:lnTo>
                </a:path>
                <a:path w="5003165" h="4724400">
                  <a:moveTo>
                    <a:pt x="278767" y="0"/>
                  </a:moveTo>
                  <a:lnTo>
                    <a:pt x="278767" y="152400"/>
                  </a:lnTo>
                </a:path>
                <a:path w="5003165" h="4724400">
                  <a:moveTo>
                    <a:pt x="126367" y="1752600"/>
                  </a:moveTo>
                  <a:lnTo>
                    <a:pt x="126367" y="4724400"/>
                  </a:lnTo>
                </a:path>
                <a:path w="5003165" h="4724400">
                  <a:moveTo>
                    <a:pt x="1116967" y="1752600"/>
                  </a:moveTo>
                  <a:lnTo>
                    <a:pt x="1116967" y="47244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/>
          <p:nvPr/>
        </p:nvSpPr>
        <p:spPr>
          <a:xfrm>
            <a:off x="6553200" y="533400"/>
            <a:ext cx="381000" cy="457200"/>
          </a:xfrm>
          <a:custGeom>
            <a:avLst/>
            <a:gdLst/>
            <a:ahLst/>
            <a:cxnLst/>
            <a:rect l="l" t="t" r="r" b="b"/>
            <a:pathLst>
              <a:path w="381000" h="457200">
                <a:moveTo>
                  <a:pt x="0" y="0"/>
                </a:moveTo>
                <a:lnTo>
                  <a:pt x="37967" y="3512"/>
                </a:lnTo>
                <a:lnTo>
                  <a:pt x="109451" y="30359"/>
                </a:lnTo>
                <a:lnTo>
                  <a:pt x="142405" y="52858"/>
                </a:lnTo>
                <a:lnTo>
                  <a:pt x="173126" y="80850"/>
                </a:lnTo>
                <a:lnTo>
                  <a:pt x="201334" y="113917"/>
                </a:lnTo>
                <a:lnTo>
                  <a:pt x="226747" y="151640"/>
                </a:lnTo>
                <a:lnTo>
                  <a:pt x="249084" y="193603"/>
                </a:lnTo>
                <a:lnTo>
                  <a:pt x="268064" y="239386"/>
                </a:lnTo>
                <a:lnTo>
                  <a:pt x="283407" y="288573"/>
                </a:lnTo>
                <a:lnTo>
                  <a:pt x="294831" y="340745"/>
                </a:lnTo>
                <a:lnTo>
                  <a:pt x="302055" y="395485"/>
                </a:lnTo>
                <a:lnTo>
                  <a:pt x="304800" y="452374"/>
                </a:lnTo>
              </a:path>
              <a:path w="381000" h="457200">
                <a:moveTo>
                  <a:pt x="228600" y="381000"/>
                </a:moveTo>
                <a:lnTo>
                  <a:pt x="304800" y="457200"/>
                </a:lnTo>
              </a:path>
              <a:path w="381000" h="457200">
                <a:moveTo>
                  <a:pt x="304800" y="457200"/>
                </a:moveTo>
                <a:lnTo>
                  <a:pt x="381000" y="38100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447800" y="6400800"/>
            <a:ext cx="990600" cy="22860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68605">
              <a:lnSpc>
                <a:spcPts val="1800"/>
              </a:lnSpc>
            </a:pPr>
            <a:r>
              <a:rPr sz="1600" spc="-20" dirty="0">
                <a:latin typeface="Arial MT"/>
                <a:cs typeface="Arial MT"/>
              </a:rPr>
              <a:t>2000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447800" y="6172200"/>
            <a:ext cx="990600" cy="22860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sz="1600" spc="-50" dirty="0">
                <a:latin typeface="Arial MT"/>
                <a:cs typeface="Arial MT"/>
              </a:rPr>
              <a:t>3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447800" y="5943600"/>
            <a:ext cx="990600" cy="22860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sz="1600" spc="-50" dirty="0">
                <a:latin typeface="Arial MT"/>
                <a:cs typeface="Arial MT"/>
              </a:rPr>
              <a:t>1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99922" y="5896457"/>
            <a:ext cx="35306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6845" marR="5080" indent="-144780">
              <a:lnSpc>
                <a:spcPct val="109400"/>
              </a:lnSpc>
              <a:spcBef>
                <a:spcPts val="100"/>
              </a:spcBef>
            </a:pPr>
            <a:r>
              <a:rPr sz="1600" spc="-20" dirty="0">
                <a:latin typeface="Arial MT"/>
                <a:cs typeface="Arial MT"/>
              </a:rPr>
              <a:t>fact </a:t>
            </a:r>
            <a:r>
              <a:rPr sz="1600" spc="-50" dirty="0">
                <a:latin typeface="Arial MT"/>
                <a:cs typeface="Arial MT"/>
              </a:rPr>
              <a:t>n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443037" y="5481637"/>
            <a:ext cx="1228725" cy="1152525"/>
            <a:chOff x="1443037" y="5481637"/>
            <a:chExt cx="1228725" cy="1152525"/>
          </a:xfrm>
        </p:grpSpPr>
        <p:sp>
          <p:nvSpPr>
            <p:cNvPr id="26" name="object 26"/>
            <p:cNvSpPr/>
            <p:nvPr/>
          </p:nvSpPr>
          <p:spPr>
            <a:xfrm>
              <a:off x="1447800" y="5715000"/>
              <a:ext cx="1219200" cy="914400"/>
            </a:xfrm>
            <a:custGeom>
              <a:avLst/>
              <a:gdLst/>
              <a:ahLst/>
              <a:cxnLst/>
              <a:rect l="l" t="t" r="r" b="b"/>
              <a:pathLst>
                <a:path w="1219200" h="914400">
                  <a:moveTo>
                    <a:pt x="1143000" y="228600"/>
                  </a:moveTo>
                  <a:lnTo>
                    <a:pt x="1157847" y="233091"/>
                  </a:lnTo>
                  <a:lnTo>
                    <a:pt x="1169955" y="245340"/>
                  </a:lnTo>
                  <a:lnTo>
                    <a:pt x="1178111" y="263506"/>
                  </a:lnTo>
                  <a:lnTo>
                    <a:pt x="1181100" y="285750"/>
                  </a:lnTo>
                  <a:lnTo>
                    <a:pt x="1181100" y="514350"/>
                  </a:lnTo>
                  <a:lnTo>
                    <a:pt x="1184088" y="536593"/>
                  </a:lnTo>
                  <a:lnTo>
                    <a:pt x="1192244" y="554759"/>
                  </a:lnTo>
                  <a:lnTo>
                    <a:pt x="1204352" y="567008"/>
                  </a:lnTo>
                  <a:lnTo>
                    <a:pt x="1219200" y="571500"/>
                  </a:lnTo>
                  <a:lnTo>
                    <a:pt x="1204352" y="575991"/>
                  </a:lnTo>
                  <a:lnTo>
                    <a:pt x="1192244" y="588240"/>
                  </a:lnTo>
                  <a:lnTo>
                    <a:pt x="1184088" y="606406"/>
                  </a:lnTo>
                  <a:lnTo>
                    <a:pt x="1181100" y="628650"/>
                  </a:lnTo>
                  <a:lnTo>
                    <a:pt x="1181100" y="857250"/>
                  </a:lnTo>
                  <a:lnTo>
                    <a:pt x="1178111" y="879493"/>
                  </a:lnTo>
                  <a:lnTo>
                    <a:pt x="1169955" y="897659"/>
                  </a:lnTo>
                  <a:lnTo>
                    <a:pt x="1157847" y="909908"/>
                  </a:lnTo>
                  <a:lnTo>
                    <a:pt x="1143000" y="914400"/>
                  </a:lnTo>
                </a:path>
                <a:path w="1219200" h="914400">
                  <a:moveTo>
                    <a:pt x="0" y="0"/>
                  </a:moveTo>
                  <a:lnTo>
                    <a:pt x="990600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447800" y="5486400"/>
              <a:ext cx="990600" cy="228600"/>
            </a:xfrm>
            <a:custGeom>
              <a:avLst/>
              <a:gdLst/>
              <a:ahLst/>
              <a:cxnLst/>
              <a:rect l="l" t="t" r="r" b="b"/>
              <a:pathLst>
                <a:path w="990600" h="228600">
                  <a:moveTo>
                    <a:pt x="0" y="228600"/>
                  </a:moveTo>
                  <a:lnTo>
                    <a:pt x="990600" y="228600"/>
                  </a:lnTo>
                  <a:lnTo>
                    <a:pt x="990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2822194" y="6034227"/>
            <a:ext cx="6635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Arial MT"/>
                <a:cs typeface="Arial MT"/>
              </a:rPr>
              <a:t>fact=3*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505200" y="6096000"/>
            <a:ext cx="1600200" cy="228600"/>
          </a:xfrm>
          <a:custGeom>
            <a:avLst/>
            <a:gdLst/>
            <a:ahLst/>
            <a:cxnLst/>
            <a:rect l="l" t="t" r="r" b="b"/>
            <a:pathLst>
              <a:path w="1600200" h="228600">
                <a:moveTo>
                  <a:pt x="0" y="114300"/>
                </a:moveTo>
                <a:lnTo>
                  <a:pt x="31961" y="82210"/>
                </a:lnTo>
                <a:lnTo>
                  <a:pt x="85986" y="62697"/>
                </a:lnTo>
                <a:lnTo>
                  <a:pt x="163054" y="45136"/>
                </a:lnTo>
                <a:lnTo>
                  <a:pt x="209390" y="37206"/>
                </a:lnTo>
                <a:lnTo>
                  <a:pt x="260481" y="29908"/>
                </a:lnTo>
                <a:lnTo>
                  <a:pt x="315990" y="23289"/>
                </a:lnTo>
                <a:lnTo>
                  <a:pt x="375582" y="17398"/>
                </a:lnTo>
                <a:lnTo>
                  <a:pt x="438923" y="12281"/>
                </a:lnTo>
                <a:lnTo>
                  <a:pt x="505675" y="7987"/>
                </a:lnTo>
                <a:lnTo>
                  <a:pt x="575505" y="4564"/>
                </a:lnTo>
                <a:lnTo>
                  <a:pt x="648076" y="2060"/>
                </a:lnTo>
                <a:lnTo>
                  <a:pt x="723052" y="523"/>
                </a:lnTo>
                <a:lnTo>
                  <a:pt x="800100" y="0"/>
                </a:lnTo>
                <a:lnTo>
                  <a:pt x="877147" y="523"/>
                </a:lnTo>
                <a:lnTo>
                  <a:pt x="952123" y="2060"/>
                </a:lnTo>
                <a:lnTo>
                  <a:pt x="1024694" y="4564"/>
                </a:lnTo>
                <a:lnTo>
                  <a:pt x="1094524" y="7987"/>
                </a:lnTo>
                <a:lnTo>
                  <a:pt x="1161276" y="12281"/>
                </a:lnTo>
                <a:lnTo>
                  <a:pt x="1224617" y="17398"/>
                </a:lnTo>
                <a:lnTo>
                  <a:pt x="1284209" y="23289"/>
                </a:lnTo>
                <a:lnTo>
                  <a:pt x="1339718" y="29908"/>
                </a:lnTo>
                <a:lnTo>
                  <a:pt x="1390809" y="37206"/>
                </a:lnTo>
                <a:lnTo>
                  <a:pt x="1437145" y="45136"/>
                </a:lnTo>
                <a:lnTo>
                  <a:pt x="1478391" y="53649"/>
                </a:lnTo>
                <a:lnTo>
                  <a:pt x="1544273" y="72234"/>
                </a:lnTo>
                <a:lnTo>
                  <a:pt x="1585771" y="92578"/>
                </a:lnTo>
                <a:lnTo>
                  <a:pt x="1600200" y="114300"/>
                </a:lnTo>
                <a:lnTo>
                  <a:pt x="1596536" y="125308"/>
                </a:lnTo>
                <a:lnTo>
                  <a:pt x="1544273" y="156365"/>
                </a:lnTo>
                <a:lnTo>
                  <a:pt x="1478391" y="174950"/>
                </a:lnTo>
                <a:lnTo>
                  <a:pt x="1437145" y="183463"/>
                </a:lnTo>
                <a:lnTo>
                  <a:pt x="1390809" y="191393"/>
                </a:lnTo>
                <a:lnTo>
                  <a:pt x="1339718" y="198691"/>
                </a:lnTo>
                <a:lnTo>
                  <a:pt x="1284209" y="205310"/>
                </a:lnTo>
                <a:lnTo>
                  <a:pt x="1224617" y="211201"/>
                </a:lnTo>
                <a:lnTo>
                  <a:pt x="1161276" y="216318"/>
                </a:lnTo>
                <a:lnTo>
                  <a:pt x="1094524" y="220612"/>
                </a:lnTo>
                <a:lnTo>
                  <a:pt x="1024694" y="224035"/>
                </a:lnTo>
                <a:lnTo>
                  <a:pt x="952123" y="226539"/>
                </a:lnTo>
                <a:lnTo>
                  <a:pt x="877147" y="228076"/>
                </a:lnTo>
                <a:lnTo>
                  <a:pt x="800100" y="228600"/>
                </a:lnTo>
                <a:lnTo>
                  <a:pt x="723052" y="228076"/>
                </a:lnTo>
                <a:lnTo>
                  <a:pt x="648076" y="226539"/>
                </a:lnTo>
                <a:lnTo>
                  <a:pt x="575505" y="224035"/>
                </a:lnTo>
                <a:lnTo>
                  <a:pt x="505675" y="220612"/>
                </a:lnTo>
                <a:lnTo>
                  <a:pt x="438923" y="216318"/>
                </a:lnTo>
                <a:lnTo>
                  <a:pt x="375582" y="211201"/>
                </a:lnTo>
                <a:lnTo>
                  <a:pt x="315990" y="205310"/>
                </a:lnTo>
                <a:lnTo>
                  <a:pt x="260481" y="198691"/>
                </a:lnTo>
                <a:lnTo>
                  <a:pt x="209390" y="191393"/>
                </a:lnTo>
                <a:lnTo>
                  <a:pt x="163054" y="183463"/>
                </a:lnTo>
                <a:lnTo>
                  <a:pt x="121808" y="174950"/>
                </a:lnTo>
                <a:lnTo>
                  <a:pt x="55926" y="156365"/>
                </a:lnTo>
                <a:lnTo>
                  <a:pt x="14428" y="136021"/>
                </a:lnTo>
                <a:lnTo>
                  <a:pt x="0" y="114300"/>
                </a:lnTo>
                <a:close/>
              </a:path>
            </a:pathLst>
          </a:custGeom>
          <a:ln w="9144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1452372" y="5462727"/>
            <a:ext cx="9817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416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Arial MT"/>
                <a:cs typeface="Arial MT"/>
              </a:rPr>
              <a:t>3000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447800" y="5257800"/>
            <a:ext cx="990600" cy="22860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sz="1600" spc="-50" dirty="0">
                <a:latin typeface="Arial MT"/>
                <a:cs typeface="Arial MT"/>
              </a:rPr>
              <a:t>2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447800" y="5029200"/>
            <a:ext cx="990600" cy="22860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sz="1600" spc="-50" dirty="0">
                <a:latin typeface="Arial MT"/>
                <a:cs typeface="Arial MT"/>
              </a:rPr>
              <a:t>1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38022" y="5042992"/>
            <a:ext cx="3530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Arial MT"/>
                <a:cs typeface="Arial MT"/>
              </a:rPr>
              <a:t>fact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457200" y="5257800"/>
            <a:ext cx="914400" cy="228600"/>
          </a:xfrm>
          <a:custGeom>
            <a:avLst/>
            <a:gdLst/>
            <a:ahLst/>
            <a:cxnLst/>
            <a:rect l="l" t="t" r="r" b="b"/>
            <a:pathLst>
              <a:path w="914400" h="228600">
                <a:moveTo>
                  <a:pt x="914400" y="0"/>
                </a:moveTo>
                <a:lnTo>
                  <a:pt x="0" y="0"/>
                </a:lnTo>
                <a:lnTo>
                  <a:pt x="0" y="228600"/>
                </a:lnTo>
                <a:lnTo>
                  <a:pt x="914400" y="228600"/>
                </a:lnTo>
                <a:lnTo>
                  <a:pt x="9144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844702" y="5234177"/>
            <a:ext cx="1384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Arial MT"/>
                <a:cs typeface="Arial MT"/>
              </a:rPr>
              <a:t>n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2590800" y="5029200"/>
            <a:ext cx="76200" cy="685800"/>
          </a:xfrm>
          <a:custGeom>
            <a:avLst/>
            <a:gdLst/>
            <a:ahLst/>
            <a:cxnLst/>
            <a:rect l="l" t="t" r="r" b="b"/>
            <a:pathLst>
              <a:path w="76200" h="685800">
                <a:moveTo>
                  <a:pt x="0" y="0"/>
                </a:moveTo>
                <a:lnTo>
                  <a:pt x="14847" y="4482"/>
                </a:lnTo>
                <a:lnTo>
                  <a:pt x="26955" y="16716"/>
                </a:lnTo>
                <a:lnTo>
                  <a:pt x="35111" y="34879"/>
                </a:lnTo>
                <a:lnTo>
                  <a:pt x="38100" y="57150"/>
                </a:lnTo>
                <a:lnTo>
                  <a:pt x="38100" y="285750"/>
                </a:lnTo>
                <a:lnTo>
                  <a:pt x="41088" y="308020"/>
                </a:lnTo>
                <a:lnTo>
                  <a:pt x="49244" y="326183"/>
                </a:lnTo>
                <a:lnTo>
                  <a:pt x="61352" y="338417"/>
                </a:lnTo>
                <a:lnTo>
                  <a:pt x="76200" y="342900"/>
                </a:lnTo>
                <a:lnTo>
                  <a:pt x="61352" y="347382"/>
                </a:lnTo>
                <a:lnTo>
                  <a:pt x="49244" y="359616"/>
                </a:lnTo>
                <a:lnTo>
                  <a:pt x="41088" y="377779"/>
                </a:lnTo>
                <a:lnTo>
                  <a:pt x="38100" y="400050"/>
                </a:lnTo>
                <a:lnTo>
                  <a:pt x="38100" y="628650"/>
                </a:lnTo>
                <a:lnTo>
                  <a:pt x="35111" y="650893"/>
                </a:lnTo>
                <a:lnTo>
                  <a:pt x="26955" y="669059"/>
                </a:lnTo>
                <a:lnTo>
                  <a:pt x="14847" y="681308"/>
                </a:lnTo>
                <a:lnTo>
                  <a:pt x="0" y="68580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2822194" y="5119192"/>
            <a:ext cx="6642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Arial MT"/>
                <a:cs typeface="Arial MT"/>
              </a:rPr>
              <a:t>fact=2*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447800" y="4800600"/>
            <a:ext cx="990600" cy="0"/>
          </a:xfrm>
          <a:custGeom>
            <a:avLst/>
            <a:gdLst/>
            <a:ahLst/>
            <a:cxnLst/>
            <a:rect l="l" t="t" r="r" b="b"/>
            <a:pathLst>
              <a:path w="990600">
                <a:moveTo>
                  <a:pt x="0" y="0"/>
                </a:moveTo>
                <a:lnTo>
                  <a:pt x="99060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9" name="object 39"/>
          <p:cNvGrpSpPr/>
          <p:nvPr/>
        </p:nvGrpSpPr>
        <p:grpSpPr>
          <a:xfrm>
            <a:off x="3500628" y="5177028"/>
            <a:ext cx="1691005" cy="923925"/>
            <a:chOff x="3500628" y="5177028"/>
            <a:chExt cx="1691005" cy="923925"/>
          </a:xfrm>
        </p:grpSpPr>
        <p:sp>
          <p:nvSpPr>
            <p:cNvPr id="40" name="object 40"/>
            <p:cNvSpPr/>
            <p:nvPr/>
          </p:nvSpPr>
          <p:spPr>
            <a:xfrm>
              <a:off x="3505200" y="5181600"/>
              <a:ext cx="1600200" cy="228600"/>
            </a:xfrm>
            <a:custGeom>
              <a:avLst/>
              <a:gdLst/>
              <a:ahLst/>
              <a:cxnLst/>
              <a:rect l="l" t="t" r="r" b="b"/>
              <a:pathLst>
                <a:path w="1600200" h="228600">
                  <a:moveTo>
                    <a:pt x="0" y="114300"/>
                  </a:moveTo>
                  <a:lnTo>
                    <a:pt x="31961" y="82215"/>
                  </a:lnTo>
                  <a:lnTo>
                    <a:pt x="85986" y="62703"/>
                  </a:lnTo>
                  <a:lnTo>
                    <a:pt x="163054" y="45141"/>
                  </a:lnTo>
                  <a:lnTo>
                    <a:pt x="209390" y="37211"/>
                  </a:lnTo>
                  <a:lnTo>
                    <a:pt x="260481" y="29912"/>
                  </a:lnTo>
                  <a:lnTo>
                    <a:pt x="315990" y="23293"/>
                  </a:lnTo>
                  <a:lnTo>
                    <a:pt x="375582" y="17401"/>
                  </a:lnTo>
                  <a:lnTo>
                    <a:pt x="438923" y="12283"/>
                  </a:lnTo>
                  <a:lnTo>
                    <a:pt x="505675" y="7989"/>
                  </a:lnTo>
                  <a:lnTo>
                    <a:pt x="575505" y="4565"/>
                  </a:lnTo>
                  <a:lnTo>
                    <a:pt x="648076" y="2061"/>
                  </a:lnTo>
                  <a:lnTo>
                    <a:pt x="723052" y="523"/>
                  </a:lnTo>
                  <a:lnTo>
                    <a:pt x="800100" y="0"/>
                  </a:lnTo>
                  <a:lnTo>
                    <a:pt x="877147" y="523"/>
                  </a:lnTo>
                  <a:lnTo>
                    <a:pt x="952123" y="2061"/>
                  </a:lnTo>
                  <a:lnTo>
                    <a:pt x="1024694" y="4565"/>
                  </a:lnTo>
                  <a:lnTo>
                    <a:pt x="1094524" y="7989"/>
                  </a:lnTo>
                  <a:lnTo>
                    <a:pt x="1161276" y="12283"/>
                  </a:lnTo>
                  <a:lnTo>
                    <a:pt x="1224617" y="17401"/>
                  </a:lnTo>
                  <a:lnTo>
                    <a:pt x="1284209" y="23293"/>
                  </a:lnTo>
                  <a:lnTo>
                    <a:pt x="1339718" y="29912"/>
                  </a:lnTo>
                  <a:lnTo>
                    <a:pt x="1390809" y="37211"/>
                  </a:lnTo>
                  <a:lnTo>
                    <a:pt x="1437145" y="45141"/>
                  </a:lnTo>
                  <a:lnTo>
                    <a:pt x="1478391" y="53654"/>
                  </a:lnTo>
                  <a:lnTo>
                    <a:pt x="1544273" y="72239"/>
                  </a:lnTo>
                  <a:lnTo>
                    <a:pt x="1585771" y="92582"/>
                  </a:lnTo>
                  <a:lnTo>
                    <a:pt x="1600200" y="114300"/>
                  </a:lnTo>
                  <a:lnTo>
                    <a:pt x="1596536" y="125306"/>
                  </a:lnTo>
                  <a:lnTo>
                    <a:pt x="1544273" y="156360"/>
                  </a:lnTo>
                  <a:lnTo>
                    <a:pt x="1478391" y="174945"/>
                  </a:lnTo>
                  <a:lnTo>
                    <a:pt x="1437145" y="183458"/>
                  </a:lnTo>
                  <a:lnTo>
                    <a:pt x="1390809" y="191388"/>
                  </a:lnTo>
                  <a:lnTo>
                    <a:pt x="1339718" y="198687"/>
                  </a:lnTo>
                  <a:lnTo>
                    <a:pt x="1284209" y="205306"/>
                  </a:lnTo>
                  <a:lnTo>
                    <a:pt x="1224617" y="211198"/>
                  </a:lnTo>
                  <a:lnTo>
                    <a:pt x="1161276" y="216316"/>
                  </a:lnTo>
                  <a:lnTo>
                    <a:pt x="1094524" y="220610"/>
                  </a:lnTo>
                  <a:lnTo>
                    <a:pt x="1024694" y="224034"/>
                  </a:lnTo>
                  <a:lnTo>
                    <a:pt x="952123" y="226538"/>
                  </a:lnTo>
                  <a:lnTo>
                    <a:pt x="877147" y="228076"/>
                  </a:lnTo>
                  <a:lnTo>
                    <a:pt x="800100" y="228600"/>
                  </a:lnTo>
                  <a:lnTo>
                    <a:pt x="723052" y="228076"/>
                  </a:lnTo>
                  <a:lnTo>
                    <a:pt x="648076" y="226538"/>
                  </a:lnTo>
                  <a:lnTo>
                    <a:pt x="575505" y="224034"/>
                  </a:lnTo>
                  <a:lnTo>
                    <a:pt x="505675" y="220610"/>
                  </a:lnTo>
                  <a:lnTo>
                    <a:pt x="438923" y="216316"/>
                  </a:lnTo>
                  <a:lnTo>
                    <a:pt x="375582" y="211198"/>
                  </a:lnTo>
                  <a:lnTo>
                    <a:pt x="315990" y="205306"/>
                  </a:lnTo>
                  <a:lnTo>
                    <a:pt x="260481" y="198687"/>
                  </a:lnTo>
                  <a:lnTo>
                    <a:pt x="209390" y="191388"/>
                  </a:lnTo>
                  <a:lnTo>
                    <a:pt x="163054" y="183458"/>
                  </a:lnTo>
                  <a:lnTo>
                    <a:pt x="121808" y="174945"/>
                  </a:lnTo>
                  <a:lnTo>
                    <a:pt x="55926" y="156360"/>
                  </a:lnTo>
                  <a:lnTo>
                    <a:pt x="14428" y="136017"/>
                  </a:lnTo>
                  <a:lnTo>
                    <a:pt x="0" y="1143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876800" y="5334000"/>
              <a:ext cx="309880" cy="762000"/>
            </a:xfrm>
            <a:custGeom>
              <a:avLst/>
              <a:gdLst/>
              <a:ahLst/>
              <a:cxnLst/>
              <a:rect l="l" t="t" r="r" b="b"/>
              <a:pathLst>
                <a:path w="309879" h="762000">
                  <a:moveTo>
                    <a:pt x="152653" y="0"/>
                  </a:moveTo>
                  <a:lnTo>
                    <a:pt x="185815" y="33411"/>
                  </a:lnTo>
                  <a:lnTo>
                    <a:pt x="217636" y="67270"/>
                  </a:lnTo>
                  <a:lnTo>
                    <a:pt x="246775" y="102021"/>
                  </a:lnTo>
                  <a:lnTo>
                    <a:pt x="271891" y="138112"/>
                  </a:lnTo>
                  <a:lnTo>
                    <a:pt x="291643" y="175989"/>
                  </a:lnTo>
                  <a:lnTo>
                    <a:pt x="304690" y="216098"/>
                  </a:lnTo>
                  <a:lnTo>
                    <a:pt x="309692" y="258886"/>
                  </a:lnTo>
                  <a:lnTo>
                    <a:pt x="305308" y="304800"/>
                  </a:lnTo>
                  <a:lnTo>
                    <a:pt x="293591" y="342356"/>
                  </a:lnTo>
                  <a:lnTo>
                    <a:pt x="273511" y="384835"/>
                  </a:lnTo>
                  <a:lnTo>
                    <a:pt x="246785" y="430864"/>
                  </a:lnTo>
                  <a:lnTo>
                    <a:pt x="215133" y="479069"/>
                  </a:lnTo>
                  <a:lnTo>
                    <a:pt x="180274" y="528075"/>
                  </a:lnTo>
                  <a:lnTo>
                    <a:pt x="143926" y="576509"/>
                  </a:lnTo>
                  <a:lnTo>
                    <a:pt x="107807" y="622996"/>
                  </a:lnTo>
                  <a:lnTo>
                    <a:pt x="73636" y="666163"/>
                  </a:lnTo>
                  <a:lnTo>
                    <a:pt x="43132" y="704635"/>
                  </a:lnTo>
                  <a:lnTo>
                    <a:pt x="18014" y="737038"/>
                  </a:lnTo>
                  <a:lnTo>
                    <a:pt x="0" y="762000"/>
                  </a:lnTo>
                </a:path>
                <a:path w="309879" h="762000">
                  <a:moveTo>
                    <a:pt x="0" y="685800"/>
                  </a:moveTo>
                  <a:lnTo>
                    <a:pt x="0" y="762000"/>
                  </a:lnTo>
                </a:path>
                <a:path w="309879" h="762000">
                  <a:moveTo>
                    <a:pt x="0" y="762000"/>
                  </a:moveTo>
                  <a:lnTo>
                    <a:pt x="152400" y="6858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1447800" y="4572000"/>
            <a:ext cx="990600" cy="22860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68605">
              <a:lnSpc>
                <a:spcPts val="1800"/>
              </a:lnSpc>
            </a:pPr>
            <a:r>
              <a:rPr sz="1600" spc="-20" dirty="0">
                <a:latin typeface="Arial MT"/>
                <a:cs typeface="Arial MT"/>
              </a:rPr>
              <a:t>4000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447800" y="4343400"/>
            <a:ext cx="990600" cy="22860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sz="1600" spc="-50" dirty="0">
                <a:latin typeface="Arial MT"/>
                <a:cs typeface="Arial MT"/>
              </a:rPr>
              <a:t>1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447800" y="4114800"/>
            <a:ext cx="990600" cy="22860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sz="1600" spc="-50" dirty="0">
                <a:latin typeface="Arial MT"/>
                <a:cs typeface="Arial MT"/>
              </a:rPr>
              <a:t>1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38022" y="4090797"/>
            <a:ext cx="353060" cy="49784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18745" marR="5080" indent="-106680">
              <a:lnSpc>
                <a:spcPts val="1800"/>
              </a:lnSpc>
              <a:spcBef>
                <a:spcPts val="254"/>
              </a:spcBef>
            </a:pPr>
            <a:r>
              <a:rPr sz="1600" spc="-20" dirty="0">
                <a:latin typeface="Arial MT"/>
                <a:cs typeface="Arial MT"/>
              </a:rPr>
              <a:t>fact </a:t>
            </a:r>
            <a:r>
              <a:rPr sz="1600" spc="-50" dirty="0">
                <a:latin typeface="Arial MT"/>
                <a:cs typeface="Arial MT"/>
              </a:rPr>
              <a:t>n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2590800" y="4114800"/>
            <a:ext cx="76200" cy="685800"/>
          </a:xfrm>
          <a:custGeom>
            <a:avLst/>
            <a:gdLst/>
            <a:ahLst/>
            <a:cxnLst/>
            <a:rect l="l" t="t" r="r" b="b"/>
            <a:pathLst>
              <a:path w="76200" h="685800">
                <a:moveTo>
                  <a:pt x="0" y="0"/>
                </a:moveTo>
                <a:lnTo>
                  <a:pt x="14847" y="4482"/>
                </a:lnTo>
                <a:lnTo>
                  <a:pt x="26955" y="16716"/>
                </a:lnTo>
                <a:lnTo>
                  <a:pt x="35111" y="34879"/>
                </a:lnTo>
                <a:lnTo>
                  <a:pt x="38100" y="57150"/>
                </a:lnTo>
                <a:lnTo>
                  <a:pt x="38100" y="285750"/>
                </a:lnTo>
                <a:lnTo>
                  <a:pt x="41088" y="308020"/>
                </a:lnTo>
                <a:lnTo>
                  <a:pt x="49244" y="326183"/>
                </a:lnTo>
                <a:lnTo>
                  <a:pt x="61352" y="338417"/>
                </a:lnTo>
                <a:lnTo>
                  <a:pt x="76200" y="342900"/>
                </a:lnTo>
                <a:lnTo>
                  <a:pt x="61352" y="347382"/>
                </a:lnTo>
                <a:lnTo>
                  <a:pt x="49244" y="359616"/>
                </a:lnTo>
                <a:lnTo>
                  <a:pt x="41088" y="377779"/>
                </a:lnTo>
                <a:lnTo>
                  <a:pt x="38100" y="400050"/>
                </a:lnTo>
                <a:lnTo>
                  <a:pt x="38100" y="628650"/>
                </a:lnTo>
                <a:lnTo>
                  <a:pt x="35111" y="650920"/>
                </a:lnTo>
                <a:lnTo>
                  <a:pt x="26955" y="669083"/>
                </a:lnTo>
                <a:lnTo>
                  <a:pt x="14847" y="681317"/>
                </a:lnTo>
                <a:lnTo>
                  <a:pt x="0" y="68580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2898394" y="4205097"/>
            <a:ext cx="5842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Arial MT"/>
                <a:cs typeface="Arial MT"/>
              </a:rPr>
              <a:t>fact=1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59946" y="1852993"/>
            <a:ext cx="5779135" cy="4866640"/>
            <a:chOff x="59946" y="1852993"/>
            <a:chExt cx="5779135" cy="4866640"/>
          </a:xfrm>
        </p:grpSpPr>
        <p:sp>
          <p:nvSpPr>
            <p:cNvPr id="49" name="object 49"/>
            <p:cNvSpPr/>
            <p:nvPr/>
          </p:nvSpPr>
          <p:spPr>
            <a:xfrm>
              <a:off x="1371599" y="4343400"/>
              <a:ext cx="3204845" cy="2286000"/>
            </a:xfrm>
            <a:custGeom>
              <a:avLst/>
              <a:gdLst/>
              <a:ahLst/>
              <a:cxnLst/>
              <a:rect l="l" t="t" r="r" b="b"/>
              <a:pathLst>
                <a:path w="3204845" h="2286000">
                  <a:moveTo>
                    <a:pt x="2286000" y="0"/>
                  </a:moveTo>
                  <a:lnTo>
                    <a:pt x="2344194" y="6745"/>
                  </a:lnTo>
                  <a:lnTo>
                    <a:pt x="2402175" y="13580"/>
                  </a:lnTo>
                  <a:lnTo>
                    <a:pt x="2459727" y="20593"/>
                  </a:lnTo>
                  <a:lnTo>
                    <a:pt x="2516633" y="27874"/>
                  </a:lnTo>
                  <a:lnTo>
                    <a:pt x="2572677" y="35511"/>
                  </a:lnTo>
                  <a:lnTo>
                    <a:pt x="2627644" y="43593"/>
                  </a:lnTo>
                  <a:lnTo>
                    <a:pt x="2681317" y="52211"/>
                  </a:lnTo>
                  <a:lnTo>
                    <a:pt x="2733481" y="61451"/>
                  </a:lnTo>
                  <a:lnTo>
                    <a:pt x="2783919" y="71405"/>
                  </a:lnTo>
                  <a:lnTo>
                    <a:pt x="2832416" y="82161"/>
                  </a:lnTo>
                  <a:lnTo>
                    <a:pt x="2878755" y="93808"/>
                  </a:lnTo>
                  <a:lnTo>
                    <a:pt x="2922721" y="106435"/>
                  </a:lnTo>
                  <a:lnTo>
                    <a:pt x="2964098" y="120131"/>
                  </a:lnTo>
                  <a:lnTo>
                    <a:pt x="3002669" y="134986"/>
                  </a:lnTo>
                  <a:lnTo>
                    <a:pt x="3038219" y="151088"/>
                  </a:lnTo>
                  <a:lnTo>
                    <a:pt x="3099391" y="187392"/>
                  </a:lnTo>
                  <a:lnTo>
                    <a:pt x="3153222" y="238577"/>
                  </a:lnTo>
                  <a:lnTo>
                    <a:pt x="3174991" y="272222"/>
                  </a:lnTo>
                  <a:lnTo>
                    <a:pt x="3190460" y="308468"/>
                  </a:lnTo>
                  <a:lnTo>
                    <a:pt x="3200203" y="347080"/>
                  </a:lnTo>
                  <a:lnTo>
                    <a:pt x="3204790" y="387820"/>
                  </a:lnTo>
                  <a:lnTo>
                    <a:pt x="3204794" y="430453"/>
                  </a:lnTo>
                  <a:lnTo>
                    <a:pt x="3200788" y="474742"/>
                  </a:lnTo>
                  <a:lnTo>
                    <a:pt x="3193344" y="520450"/>
                  </a:lnTo>
                  <a:lnTo>
                    <a:pt x="3183034" y="567340"/>
                  </a:lnTo>
                  <a:lnTo>
                    <a:pt x="3170431" y="615177"/>
                  </a:lnTo>
                  <a:lnTo>
                    <a:pt x="3156106" y="663724"/>
                  </a:lnTo>
                  <a:lnTo>
                    <a:pt x="3140631" y="712743"/>
                  </a:lnTo>
                  <a:lnTo>
                    <a:pt x="3124580" y="762000"/>
                  </a:lnTo>
                </a:path>
                <a:path w="3204845" h="2286000">
                  <a:moveTo>
                    <a:pt x="3124200" y="762000"/>
                  </a:moveTo>
                  <a:lnTo>
                    <a:pt x="3048000" y="685800"/>
                  </a:lnTo>
                </a:path>
                <a:path w="3204845" h="2286000">
                  <a:moveTo>
                    <a:pt x="3124200" y="762000"/>
                  </a:moveTo>
                  <a:lnTo>
                    <a:pt x="3200400" y="685800"/>
                  </a:lnTo>
                </a:path>
                <a:path w="3204845" h="2286000">
                  <a:moveTo>
                    <a:pt x="0" y="2133600"/>
                  </a:moveTo>
                  <a:lnTo>
                    <a:pt x="76200" y="2209800"/>
                  </a:lnTo>
                </a:path>
                <a:path w="3204845" h="2286000">
                  <a:moveTo>
                    <a:pt x="76200" y="2209800"/>
                  </a:moveTo>
                  <a:lnTo>
                    <a:pt x="0" y="22860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31601" y="2522207"/>
              <a:ext cx="2083435" cy="3140075"/>
            </a:xfrm>
            <a:custGeom>
              <a:avLst/>
              <a:gdLst/>
              <a:ahLst/>
              <a:cxnLst/>
              <a:rect l="l" t="t" r="r" b="b"/>
              <a:pathLst>
                <a:path w="2083435" h="3140075">
                  <a:moveTo>
                    <a:pt x="2082998" y="50812"/>
                  </a:moveTo>
                  <a:lnTo>
                    <a:pt x="2059850" y="39023"/>
                  </a:lnTo>
                  <a:lnTo>
                    <a:pt x="2037834" y="23460"/>
                  </a:lnTo>
                  <a:lnTo>
                    <a:pt x="2015507" y="9254"/>
                  </a:lnTo>
                  <a:lnTo>
                    <a:pt x="1991431" y="1536"/>
                  </a:lnTo>
                  <a:lnTo>
                    <a:pt x="1940449" y="0"/>
                  </a:lnTo>
                  <a:lnTo>
                    <a:pt x="1889322" y="2459"/>
                  </a:lnTo>
                  <a:lnTo>
                    <a:pt x="1838109" y="7765"/>
                  </a:lnTo>
                  <a:lnTo>
                    <a:pt x="1786867" y="14765"/>
                  </a:lnTo>
                  <a:lnTo>
                    <a:pt x="1735654" y="22310"/>
                  </a:lnTo>
                  <a:lnTo>
                    <a:pt x="1684527" y="29248"/>
                  </a:lnTo>
                  <a:lnTo>
                    <a:pt x="1633545" y="34429"/>
                  </a:lnTo>
                  <a:lnTo>
                    <a:pt x="1585279" y="51822"/>
                  </a:lnTo>
                  <a:lnTo>
                    <a:pt x="1537118" y="69604"/>
                  </a:lnTo>
                  <a:lnTo>
                    <a:pt x="1489002" y="87476"/>
                  </a:lnTo>
                  <a:lnTo>
                    <a:pt x="1440870" y="105137"/>
                  </a:lnTo>
                  <a:lnTo>
                    <a:pt x="1392660" y="122285"/>
                  </a:lnTo>
                  <a:lnTo>
                    <a:pt x="1344312" y="138621"/>
                  </a:lnTo>
                  <a:lnTo>
                    <a:pt x="1295765" y="153844"/>
                  </a:lnTo>
                  <a:lnTo>
                    <a:pt x="1246957" y="167652"/>
                  </a:lnTo>
                  <a:lnTo>
                    <a:pt x="1209192" y="193324"/>
                  </a:lnTo>
                  <a:lnTo>
                    <a:pt x="1171440" y="215770"/>
                  </a:lnTo>
                  <a:lnTo>
                    <a:pt x="1132425" y="235143"/>
                  </a:lnTo>
                  <a:lnTo>
                    <a:pt x="1090874" y="251599"/>
                  </a:lnTo>
                  <a:lnTo>
                    <a:pt x="1059132" y="276021"/>
                  </a:lnTo>
                  <a:lnTo>
                    <a:pt x="1031533" y="299050"/>
                  </a:lnTo>
                  <a:lnTo>
                    <a:pt x="1002649" y="319340"/>
                  </a:lnTo>
                  <a:lnTo>
                    <a:pt x="967049" y="335546"/>
                  </a:lnTo>
                  <a:lnTo>
                    <a:pt x="940565" y="352987"/>
                  </a:lnTo>
                  <a:lnTo>
                    <a:pt x="885074" y="383820"/>
                  </a:lnTo>
                  <a:lnTo>
                    <a:pt x="839968" y="419807"/>
                  </a:lnTo>
                  <a:lnTo>
                    <a:pt x="812291" y="463662"/>
                  </a:lnTo>
                  <a:lnTo>
                    <a:pt x="797504" y="485279"/>
                  </a:lnTo>
                  <a:lnTo>
                    <a:pt x="779829" y="505338"/>
                  </a:lnTo>
                  <a:lnTo>
                    <a:pt x="760406" y="522490"/>
                  </a:lnTo>
                  <a:lnTo>
                    <a:pt x="740027" y="537929"/>
                  </a:lnTo>
                  <a:lnTo>
                    <a:pt x="719488" y="552843"/>
                  </a:lnTo>
                  <a:lnTo>
                    <a:pt x="689413" y="596472"/>
                  </a:lnTo>
                  <a:lnTo>
                    <a:pt x="656951" y="635171"/>
                  </a:lnTo>
                  <a:lnTo>
                    <a:pt x="620992" y="670108"/>
                  </a:lnTo>
                  <a:lnTo>
                    <a:pt x="580423" y="702449"/>
                  </a:lnTo>
                  <a:lnTo>
                    <a:pt x="568592" y="739293"/>
                  </a:lnTo>
                  <a:lnTo>
                    <a:pt x="564910" y="752384"/>
                  </a:lnTo>
                  <a:lnTo>
                    <a:pt x="563678" y="751773"/>
                  </a:lnTo>
                  <a:lnTo>
                    <a:pt x="559194" y="747511"/>
                  </a:lnTo>
                  <a:lnTo>
                    <a:pt x="545759" y="749648"/>
                  </a:lnTo>
                  <a:lnTo>
                    <a:pt x="517672" y="768235"/>
                  </a:lnTo>
                  <a:lnTo>
                    <a:pt x="496899" y="787514"/>
                  </a:lnTo>
                  <a:lnTo>
                    <a:pt x="477399" y="808828"/>
                  </a:lnTo>
                  <a:lnTo>
                    <a:pt x="458534" y="830833"/>
                  </a:lnTo>
                  <a:lnTo>
                    <a:pt x="439669" y="852182"/>
                  </a:lnTo>
                  <a:lnTo>
                    <a:pt x="406582" y="888686"/>
                  </a:lnTo>
                  <a:lnTo>
                    <a:pt x="373402" y="925137"/>
                  </a:lnTo>
                  <a:lnTo>
                    <a:pt x="340032" y="961482"/>
                  </a:lnTo>
                  <a:lnTo>
                    <a:pt x="306381" y="997668"/>
                  </a:lnTo>
                  <a:lnTo>
                    <a:pt x="272352" y="1033643"/>
                  </a:lnTo>
                  <a:lnTo>
                    <a:pt x="237853" y="1069352"/>
                  </a:lnTo>
                  <a:lnTo>
                    <a:pt x="216020" y="1118786"/>
                  </a:lnTo>
                  <a:lnTo>
                    <a:pt x="195494" y="1164531"/>
                  </a:lnTo>
                  <a:lnTo>
                    <a:pt x="173503" y="1207290"/>
                  </a:lnTo>
                  <a:lnTo>
                    <a:pt x="147279" y="1247762"/>
                  </a:lnTo>
                  <a:lnTo>
                    <a:pt x="114053" y="1286649"/>
                  </a:lnTo>
                  <a:lnTo>
                    <a:pt x="98312" y="1340317"/>
                  </a:lnTo>
                  <a:lnTo>
                    <a:pt x="83523" y="1394520"/>
                  </a:lnTo>
                  <a:lnTo>
                    <a:pt x="68733" y="1449080"/>
                  </a:lnTo>
                  <a:lnTo>
                    <a:pt x="52992" y="1503819"/>
                  </a:lnTo>
                  <a:lnTo>
                    <a:pt x="43666" y="1533393"/>
                  </a:lnTo>
                  <a:lnTo>
                    <a:pt x="33067" y="1566383"/>
                  </a:lnTo>
                  <a:lnTo>
                    <a:pt x="24376" y="1593206"/>
                  </a:lnTo>
                  <a:lnTo>
                    <a:pt x="20772" y="1604276"/>
                  </a:lnTo>
                  <a:lnTo>
                    <a:pt x="18750" y="1652645"/>
                  </a:lnTo>
                  <a:lnTo>
                    <a:pt x="16451" y="1701624"/>
                  </a:lnTo>
                  <a:lnTo>
                    <a:pt x="13976" y="1751147"/>
                  </a:lnTo>
                  <a:lnTo>
                    <a:pt x="11426" y="1801144"/>
                  </a:lnTo>
                  <a:lnTo>
                    <a:pt x="8903" y="1851548"/>
                  </a:lnTo>
                  <a:lnTo>
                    <a:pt x="6508" y="1902292"/>
                  </a:lnTo>
                  <a:lnTo>
                    <a:pt x="4343" y="1953307"/>
                  </a:lnTo>
                  <a:lnTo>
                    <a:pt x="2508" y="2004526"/>
                  </a:lnTo>
                  <a:lnTo>
                    <a:pt x="1105" y="2055881"/>
                  </a:lnTo>
                  <a:lnTo>
                    <a:pt x="235" y="2107304"/>
                  </a:lnTo>
                  <a:lnTo>
                    <a:pt x="0" y="2158727"/>
                  </a:lnTo>
                  <a:lnTo>
                    <a:pt x="500" y="2210082"/>
                  </a:lnTo>
                  <a:lnTo>
                    <a:pt x="1837" y="2261302"/>
                  </a:lnTo>
                  <a:lnTo>
                    <a:pt x="4113" y="2312318"/>
                  </a:lnTo>
                  <a:lnTo>
                    <a:pt x="7429" y="2363063"/>
                  </a:lnTo>
                  <a:lnTo>
                    <a:pt x="11885" y="2413469"/>
                  </a:lnTo>
                  <a:lnTo>
                    <a:pt x="17584" y="2463468"/>
                  </a:lnTo>
                  <a:lnTo>
                    <a:pt x="24626" y="2512992"/>
                  </a:lnTo>
                  <a:lnTo>
                    <a:pt x="33113" y="2561974"/>
                  </a:lnTo>
                  <a:lnTo>
                    <a:pt x="43147" y="2610345"/>
                  </a:lnTo>
                  <a:lnTo>
                    <a:pt x="54828" y="2658039"/>
                  </a:lnTo>
                  <a:lnTo>
                    <a:pt x="68257" y="2704985"/>
                  </a:lnTo>
                  <a:lnTo>
                    <a:pt x="82190" y="2754550"/>
                  </a:lnTo>
                  <a:lnTo>
                    <a:pt x="95472" y="2805145"/>
                  </a:lnTo>
                  <a:lnTo>
                    <a:pt x="111116" y="2854325"/>
                  </a:lnTo>
                  <a:lnTo>
                    <a:pt x="132134" y="2899647"/>
                  </a:lnTo>
                  <a:lnTo>
                    <a:pt x="161539" y="2938665"/>
                  </a:lnTo>
                  <a:lnTo>
                    <a:pt x="181902" y="2983776"/>
                  </a:lnTo>
                  <a:lnTo>
                    <a:pt x="208580" y="3014184"/>
                  </a:lnTo>
                  <a:lnTo>
                    <a:pt x="240818" y="3034046"/>
                  </a:lnTo>
                  <a:lnTo>
                    <a:pt x="277861" y="3047517"/>
                  </a:lnTo>
                  <a:lnTo>
                    <a:pt x="318954" y="3058754"/>
                  </a:lnTo>
                  <a:lnTo>
                    <a:pt x="363342" y="3071914"/>
                  </a:lnTo>
                  <a:lnTo>
                    <a:pt x="396999" y="3093761"/>
                  </a:lnTo>
                  <a:lnTo>
                    <a:pt x="430336" y="3111160"/>
                  </a:lnTo>
                  <a:lnTo>
                    <a:pt x="464942" y="3125821"/>
                  </a:lnTo>
                  <a:lnTo>
                    <a:pt x="502407" y="3139452"/>
                  </a:lnTo>
                  <a:lnTo>
                    <a:pt x="555606" y="3137808"/>
                  </a:lnTo>
                  <a:lnTo>
                    <a:pt x="608903" y="3136434"/>
                  </a:lnTo>
                  <a:lnTo>
                    <a:pt x="662270" y="3135195"/>
                  </a:lnTo>
                  <a:lnTo>
                    <a:pt x="715680" y="3133955"/>
                  </a:lnTo>
                  <a:lnTo>
                    <a:pt x="769105" y="3132580"/>
                  </a:lnTo>
                  <a:lnTo>
                    <a:pt x="822519" y="3130934"/>
                  </a:lnTo>
                  <a:lnTo>
                    <a:pt x="875894" y="3128882"/>
                  </a:lnTo>
                  <a:lnTo>
                    <a:pt x="929202" y="3126289"/>
                  </a:lnTo>
                  <a:lnTo>
                    <a:pt x="982416" y="3123019"/>
                  </a:lnTo>
                  <a:lnTo>
                    <a:pt x="1025771" y="3115264"/>
                  </a:lnTo>
                  <a:lnTo>
                    <a:pt x="1029761" y="3105565"/>
                  </a:lnTo>
                  <a:lnTo>
                    <a:pt x="1029787" y="3088335"/>
                  </a:lnTo>
                </a:path>
              </a:pathLst>
            </a:custGeom>
            <a:ln w="9144">
              <a:solidFill>
                <a:srgbClr val="000000"/>
              </a:solidFill>
              <a:prstDash val="sysDash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371599" y="5562600"/>
              <a:ext cx="76200" cy="152400"/>
            </a:xfrm>
            <a:custGeom>
              <a:avLst/>
              <a:gdLst/>
              <a:ahLst/>
              <a:cxnLst/>
              <a:rect l="l" t="t" r="r" b="b"/>
              <a:pathLst>
                <a:path w="76200" h="152400">
                  <a:moveTo>
                    <a:pt x="0" y="0"/>
                  </a:moveTo>
                  <a:lnTo>
                    <a:pt x="76200" y="76200"/>
                  </a:lnTo>
                </a:path>
                <a:path w="76200" h="152400">
                  <a:moveTo>
                    <a:pt x="76200" y="76200"/>
                  </a:moveTo>
                  <a:lnTo>
                    <a:pt x="0" y="1524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33827" y="4643627"/>
              <a:ext cx="161544" cy="85344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64709" y="1857755"/>
              <a:ext cx="5769610" cy="4857115"/>
            </a:xfrm>
            <a:custGeom>
              <a:avLst/>
              <a:gdLst/>
              <a:ahLst/>
              <a:cxnLst/>
              <a:rect l="l" t="t" r="r" b="b"/>
              <a:pathLst>
                <a:path w="5769610" h="4857115">
                  <a:moveTo>
                    <a:pt x="719312" y="0"/>
                  </a:moveTo>
                  <a:lnTo>
                    <a:pt x="697623" y="3097"/>
                  </a:lnTo>
                  <a:lnTo>
                    <a:pt x="675637" y="5921"/>
                  </a:lnTo>
                  <a:lnTo>
                    <a:pt x="653650" y="9340"/>
                  </a:lnTo>
                  <a:lnTo>
                    <a:pt x="605585" y="22322"/>
                  </a:lnTo>
                  <a:lnTo>
                    <a:pt x="554027" y="40852"/>
                  </a:lnTo>
                  <a:lnTo>
                    <a:pt x="544623" y="44450"/>
                  </a:lnTo>
                  <a:lnTo>
                    <a:pt x="526506" y="41064"/>
                  </a:lnTo>
                  <a:lnTo>
                    <a:pt x="471560" y="30099"/>
                  </a:lnTo>
                  <a:lnTo>
                    <a:pt x="450718" y="20399"/>
                  </a:lnTo>
                  <a:lnTo>
                    <a:pt x="440072" y="15615"/>
                  </a:lnTo>
                  <a:lnTo>
                    <a:pt x="428685" y="14224"/>
                  </a:lnTo>
                  <a:lnTo>
                    <a:pt x="394934" y="21205"/>
                  </a:lnTo>
                  <a:lnTo>
                    <a:pt x="362375" y="32924"/>
                  </a:lnTo>
                  <a:lnTo>
                    <a:pt x="330412" y="46406"/>
                  </a:lnTo>
                  <a:lnTo>
                    <a:pt x="298447" y="58674"/>
                  </a:lnTo>
                  <a:lnTo>
                    <a:pt x="239215" y="72515"/>
                  </a:lnTo>
                  <a:lnTo>
                    <a:pt x="172391" y="81295"/>
                  </a:lnTo>
                  <a:lnTo>
                    <a:pt x="117776" y="85909"/>
                  </a:lnTo>
                  <a:lnTo>
                    <a:pt x="95170" y="87249"/>
                  </a:lnTo>
                  <a:lnTo>
                    <a:pt x="62089" y="111188"/>
                  </a:lnTo>
                  <a:lnTo>
                    <a:pt x="22135" y="164973"/>
                  </a:lnTo>
                  <a:lnTo>
                    <a:pt x="7816" y="203200"/>
                  </a:lnTo>
                  <a:lnTo>
                    <a:pt x="6457" y="254646"/>
                  </a:lnTo>
                  <a:lnTo>
                    <a:pt x="5286" y="305894"/>
                  </a:lnTo>
                  <a:lnTo>
                    <a:pt x="4308" y="356960"/>
                  </a:lnTo>
                  <a:lnTo>
                    <a:pt x="3532" y="407861"/>
                  </a:lnTo>
                  <a:lnTo>
                    <a:pt x="2965" y="458612"/>
                  </a:lnTo>
                  <a:lnTo>
                    <a:pt x="2612" y="509230"/>
                  </a:lnTo>
                  <a:lnTo>
                    <a:pt x="2482" y="559732"/>
                  </a:lnTo>
                  <a:lnTo>
                    <a:pt x="2582" y="610134"/>
                  </a:lnTo>
                  <a:lnTo>
                    <a:pt x="2918" y="660452"/>
                  </a:lnTo>
                  <a:lnTo>
                    <a:pt x="3497" y="710702"/>
                  </a:lnTo>
                  <a:lnTo>
                    <a:pt x="4327" y="760901"/>
                  </a:lnTo>
                  <a:lnTo>
                    <a:pt x="5415" y="811065"/>
                  </a:lnTo>
                  <a:lnTo>
                    <a:pt x="6768" y="861211"/>
                  </a:lnTo>
                  <a:lnTo>
                    <a:pt x="8392" y="911355"/>
                  </a:lnTo>
                  <a:lnTo>
                    <a:pt x="10295" y="961513"/>
                  </a:lnTo>
                  <a:lnTo>
                    <a:pt x="12484" y="1011701"/>
                  </a:lnTo>
                  <a:lnTo>
                    <a:pt x="14966" y="1061937"/>
                  </a:lnTo>
                  <a:lnTo>
                    <a:pt x="17748" y="1112235"/>
                  </a:lnTo>
                  <a:lnTo>
                    <a:pt x="20837" y="1162614"/>
                  </a:lnTo>
                  <a:lnTo>
                    <a:pt x="24240" y="1213088"/>
                  </a:lnTo>
                  <a:lnTo>
                    <a:pt x="27964" y="1263674"/>
                  </a:lnTo>
                  <a:lnTo>
                    <a:pt x="32016" y="1314389"/>
                  </a:lnTo>
                  <a:lnTo>
                    <a:pt x="36404" y="1365250"/>
                  </a:lnTo>
                  <a:lnTo>
                    <a:pt x="20100" y="1411708"/>
                  </a:lnTo>
                  <a:lnTo>
                    <a:pt x="6030" y="1436877"/>
                  </a:lnTo>
                  <a:lnTo>
                    <a:pt x="0" y="1462333"/>
                  </a:lnTo>
                  <a:lnTo>
                    <a:pt x="7816" y="1509649"/>
                  </a:lnTo>
                  <a:lnTo>
                    <a:pt x="8695" y="1561917"/>
                  </a:lnTo>
                  <a:lnTo>
                    <a:pt x="9568" y="1613954"/>
                  </a:lnTo>
                  <a:lnTo>
                    <a:pt x="10434" y="1665769"/>
                  </a:lnTo>
                  <a:lnTo>
                    <a:pt x="11295" y="1717373"/>
                  </a:lnTo>
                  <a:lnTo>
                    <a:pt x="12150" y="1768776"/>
                  </a:lnTo>
                  <a:lnTo>
                    <a:pt x="12999" y="1819988"/>
                  </a:lnTo>
                  <a:lnTo>
                    <a:pt x="13843" y="1871020"/>
                  </a:lnTo>
                  <a:lnTo>
                    <a:pt x="14681" y="1921881"/>
                  </a:lnTo>
                  <a:lnTo>
                    <a:pt x="15515" y="1972581"/>
                  </a:lnTo>
                  <a:lnTo>
                    <a:pt x="16343" y="2023131"/>
                  </a:lnTo>
                  <a:lnTo>
                    <a:pt x="17167" y="2073542"/>
                  </a:lnTo>
                  <a:lnTo>
                    <a:pt x="17986" y="2123822"/>
                  </a:lnTo>
                  <a:lnTo>
                    <a:pt x="18801" y="2173982"/>
                  </a:lnTo>
                  <a:lnTo>
                    <a:pt x="19611" y="2224033"/>
                  </a:lnTo>
                  <a:lnTo>
                    <a:pt x="20418" y="2273984"/>
                  </a:lnTo>
                  <a:lnTo>
                    <a:pt x="21221" y="2323846"/>
                  </a:lnTo>
                  <a:lnTo>
                    <a:pt x="22020" y="2373629"/>
                  </a:lnTo>
                  <a:lnTo>
                    <a:pt x="22816" y="2423343"/>
                  </a:lnTo>
                  <a:lnTo>
                    <a:pt x="23608" y="2472999"/>
                  </a:lnTo>
                  <a:lnTo>
                    <a:pt x="24398" y="2522605"/>
                  </a:lnTo>
                  <a:lnTo>
                    <a:pt x="25184" y="2572173"/>
                  </a:lnTo>
                  <a:lnTo>
                    <a:pt x="25968" y="2621713"/>
                  </a:lnTo>
                  <a:lnTo>
                    <a:pt x="26749" y="2671235"/>
                  </a:lnTo>
                  <a:lnTo>
                    <a:pt x="27528" y="2720749"/>
                  </a:lnTo>
                  <a:lnTo>
                    <a:pt x="28305" y="2770265"/>
                  </a:lnTo>
                  <a:lnTo>
                    <a:pt x="29080" y="2819793"/>
                  </a:lnTo>
                  <a:lnTo>
                    <a:pt x="29853" y="2869344"/>
                  </a:lnTo>
                  <a:lnTo>
                    <a:pt x="30624" y="2918927"/>
                  </a:lnTo>
                  <a:lnTo>
                    <a:pt x="31394" y="2968554"/>
                  </a:lnTo>
                  <a:lnTo>
                    <a:pt x="32162" y="3018233"/>
                  </a:lnTo>
                  <a:lnTo>
                    <a:pt x="32930" y="3067975"/>
                  </a:lnTo>
                  <a:lnTo>
                    <a:pt x="33696" y="3117791"/>
                  </a:lnTo>
                  <a:lnTo>
                    <a:pt x="34462" y="3167691"/>
                  </a:lnTo>
                  <a:lnTo>
                    <a:pt x="35227" y="3217684"/>
                  </a:lnTo>
                  <a:lnTo>
                    <a:pt x="35992" y="3267780"/>
                  </a:lnTo>
                  <a:lnTo>
                    <a:pt x="36757" y="3317991"/>
                  </a:lnTo>
                  <a:lnTo>
                    <a:pt x="37521" y="3368326"/>
                  </a:lnTo>
                  <a:lnTo>
                    <a:pt x="38286" y="3418795"/>
                  </a:lnTo>
                  <a:lnTo>
                    <a:pt x="39052" y="3469409"/>
                  </a:lnTo>
                  <a:lnTo>
                    <a:pt x="39817" y="3520177"/>
                  </a:lnTo>
                  <a:lnTo>
                    <a:pt x="40584" y="3571110"/>
                  </a:lnTo>
                  <a:lnTo>
                    <a:pt x="41351" y="3622218"/>
                  </a:lnTo>
                  <a:lnTo>
                    <a:pt x="42120" y="3673512"/>
                  </a:lnTo>
                  <a:lnTo>
                    <a:pt x="42890" y="3725000"/>
                  </a:lnTo>
                  <a:lnTo>
                    <a:pt x="43661" y="3776694"/>
                  </a:lnTo>
                  <a:lnTo>
                    <a:pt x="44434" y="3828604"/>
                  </a:lnTo>
                  <a:lnTo>
                    <a:pt x="45209" y="3880739"/>
                  </a:lnTo>
                  <a:lnTo>
                    <a:pt x="45985" y="3933110"/>
                  </a:lnTo>
                  <a:lnTo>
                    <a:pt x="46764" y="3985727"/>
                  </a:lnTo>
                  <a:lnTo>
                    <a:pt x="47545" y="4038601"/>
                  </a:lnTo>
                  <a:lnTo>
                    <a:pt x="48329" y="4091741"/>
                  </a:lnTo>
                  <a:lnTo>
                    <a:pt x="49116" y="4145158"/>
                  </a:lnTo>
                  <a:lnTo>
                    <a:pt x="49905" y="4198861"/>
                  </a:lnTo>
                  <a:lnTo>
                    <a:pt x="50698" y="4252861"/>
                  </a:lnTo>
                  <a:lnTo>
                    <a:pt x="52748" y="4298467"/>
                  </a:lnTo>
                  <a:lnTo>
                    <a:pt x="57868" y="4345375"/>
                  </a:lnTo>
                  <a:lnTo>
                    <a:pt x="66302" y="4392657"/>
                  </a:lnTo>
                  <a:lnTo>
                    <a:pt x="78290" y="4439381"/>
                  </a:lnTo>
                  <a:lnTo>
                    <a:pt x="94075" y="4484618"/>
                  </a:lnTo>
                  <a:lnTo>
                    <a:pt x="113900" y="4527437"/>
                  </a:lnTo>
                  <a:lnTo>
                    <a:pt x="138005" y="4566907"/>
                  </a:lnTo>
                  <a:lnTo>
                    <a:pt x="166633" y="4602099"/>
                  </a:lnTo>
                  <a:lnTo>
                    <a:pt x="174027" y="4623530"/>
                  </a:lnTo>
                  <a:lnTo>
                    <a:pt x="181721" y="4644961"/>
                  </a:lnTo>
                  <a:lnTo>
                    <a:pt x="189415" y="4666392"/>
                  </a:lnTo>
                  <a:lnTo>
                    <a:pt x="196809" y="4687824"/>
                  </a:lnTo>
                  <a:lnTo>
                    <a:pt x="199487" y="4699234"/>
                  </a:lnTo>
                  <a:lnTo>
                    <a:pt x="201571" y="4711239"/>
                  </a:lnTo>
                  <a:lnTo>
                    <a:pt x="204845" y="4722649"/>
                  </a:lnTo>
                  <a:lnTo>
                    <a:pt x="250043" y="4764366"/>
                  </a:lnTo>
                  <a:lnTo>
                    <a:pt x="290893" y="4786325"/>
                  </a:lnTo>
                  <a:lnTo>
                    <a:pt x="334029" y="4800968"/>
                  </a:lnTo>
                  <a:lnTo>
                    <a:pt x="379832" y="4811115"/>
                  </a:lnTo>
                  <a:lnTo>
                    <a:pt x="428685" y="4819586"/>
                  </a:lnTo>
                  <a:lnTo>
                    <a:pt x="477281" y="4833816"/>
                  </a:lnTo>
                  <a:lnTo>
                    <a:pt x="526780" y="4844554"/>
                  </a:lnTo>
                  <a:lnTo>
                    <a:pt x="576979" y="4851929"/>
                  </a:lnTo>
                  <a:lnTo>
                    <a:pt x="627679" y="4856069"/>
                  </a:lnTo>
                  <a:lnTo>
                    <a:pt x="678680" y="4857103"/>
                  </a:lnTo>
                  <a:lnTo>
                    <a:pt x="729781" y="4855160"/>
                  </a:lnTo>
                  <a:lnTo>
                    <a:pt x="780782" y="4850369"/>
                  </a:lnTo>
                  <a:lnTo>
                    <a:pt x="831482" y="4842858"/>
                  </a:lnTo>
                  <a:lnTo>
                    <a:pt x="881682" y="4832757"/>
                  </a:lnTo>
                  <a:lnTo>
                    <a:pt x="931180" y="4820194"/>
                  </a:lnTo>
                  <a:lnTo>
                    <a:pt x="979776" y="4805299"/>
                  </a:lnTo>
                  <a:lnTo>
                    <a:pt x="1012631" y="4776922"/>
                  </a:lnTo>
                  <a:lnTo>
                    <a:pt x="1050847" y="4748545"/>
                  </a:lnTo>
                  <a:lnTo>
                    <a:pt x="1082512" y="4726717"/>
                  </a:lnTo>
                  <a:lnTo>
                    <a:pt x="1095715" y="4717986"/>
                  </a:lnTo>
                  <a:lnTo>
                    <a:pt x="1155873" y="4730264"/>
                  </a:lnTo>
                  <a:lnTo>
                    <a:pt x="1202936" y="4737631"/>
                  </a:lnTo>
                  <a:lnTo>
                    <a:pt x="1251182" y="4738748"/>
                  </a:lnTo>
                  <a:lnTo>
                    <a:pt x="1314891" y="4732274"/>
                  </a:lnTo>
                  <a:lnTo>
                    <a:pt x="1340341" y="4692760"/>
                  </a:lnTo>
                  <a:lnTo>
                    <a:pt x="1343466" y="4687824"/>
                  </a:lnTo>
                </a:path>
                <a:path w="5769610" h="4857115">
                  <a:moveTo>
                    <a:pt x="5769162" y="580644"/>
                  </a:moveTo>
                  <a:lnTo>
                    <a:pt x="5729556" y="608229"/>
                  </a:lnTo>
                  <a:lnTo>
                    <a:pt x="5690243" y="639569"/>
                  </a:lnTo>
                  <a:lnTo>
                    <a:pt x="5653436" y="674580"/>
                  </a:lnTo>
                  <a:lnTo>
                    <a:pt x="5621346" y="713175"/>
                  </a:lnTo>
                  <a:lnTo>
                    <a:pt x="5596188" y="755269"/>
                  </a:lnTo>
                  <a:lnTo>
                    <a:pt x="5589632" y="777239"/>
                  </a:lnTo>
                  <a:lnTo>
                    <a:pt x="5586562" y="788023"/>
                  </a:lnTo>
                  <a:lnTo>
                    <a:pt x="5581837" y="798068"/>
                  </a:lnTo>
                  <a:lnTo>
                    <a:pt x="5568901" y="813970"/>
                  </a:lnTo>
                  <a:lnTo>
                    <a:pt x="5553119" y="827468"/>
                  </a:lnTo>
                  <a:lnTo>
                    <a:pt x="5537028" y="840966"/>
                  </a:lnTo>
                  <a:lnTo>
                    <a:pt x="5523163" y="856869"/>
                  </a:lnTo>
                  <a:lnTo>
                    <a:pt x="5500287" y="893935"/>
                  </a:lnTo>
                  <a:lnTo>
                    <a:pt x="5493106" y="909771"/>
                  </a:lnTo>
                  <a:lnTo>
                    <a:pt x="5493778" y="913542"/>
                  </a:lnTo>
                  <a:lnTo>
                    <a:pt x="5494461" y="914414"/>
                  </a:lnTo>
                  <a:lnTo>
                    <a:pt x="5487312" y="921550"/>
                  </a:lnTo>
                  <a:lnTo>
                    <a:pt x="5464489" y="944118"/>
                  </a:lnTo>
                  <a:lnTo>
                    <a:pt x="5447495" y="988308"/>
                  </a:lnTo>
                  <a:lnTo>
                    <a:pt x="5428739" y="1029985"/>
                  </a:lnTo>
                  <a:lnTo>
                    <a:pt x="5409982" y="1071973"/>
                  </a:lnTo>
                  <a:lnTo>
                    <a:pt x="5392988" y="1117092"/>
                  </a:lnTo>
                  <a:lnTo>
                    <a:pt x="5376917" y="1142593"/>
                  </a:lnTo>
                  <a:lnTo>
                    <a:pt x="5352332" y="1166129"/>
                  </a:lnTo>
                  <a:lnTo>
                    <a:pt x="5329819" y="1183403"/>
                  </a:lnTo>
                  <a:lnTo>
                    <a:pt x="5319963" y="1190117"/>
                  </a:lnTo>
                  <a:lnTo>
                    <a:pt x="5296722" y="1239690"/>
                  </a:lnTo>
                  <a:lnTo>
                    <a:pt x="5267385" y="1280953"/>
                  </a:lnTo>
                  <a:lnTo>
                    <a:pt x="5235381" y="1320454"/>
                  </a:lnTo>
                  <a:lnTo>
                    <a:pt x="5204139" y="1364742"/>
                  </a:lnTo>
                  <a:lnTo>
                    <a:pt x="5184544" y="1406563"/>
                  </a:lnTo>
                  <a:lnTo>
                    <a:pt x="5171580" y="1449226"/>
                  </a:lnTo>
                  <a:lnTo>
                    <a:pt x="5159690" y="1491285"/>
                  </a:lnTo>
                  <a:lnTo>
                    <a:pt x="5143313" y="1531296"/>
                  </a:lnTo>
                  <a:lnTo>
                    <a:pt x="5116890" y="1567815"/>
                  </a:lnTo>
                  <a:lnTo>
                    <a:pt x="5107622" y="1621767"/>
                  </a:lnTo>
                  <a:lnTo>
                    <a:pt x="5096340" y="1673850"/>
                  </a:lnTo>
                  <a:lnTo>
                    <a:pt x="5081536" y="1723802"/>
                  </a:lnTo>
                  <a:lnTo>
                    <a:pt x="5061706" y="1771363"/>
                  </a:lnTo>
                  <a:lnTo>
                    <a:pt x="5035343" y="1816270"/>
                  </a:lnTo>
                  <a:lnTo>
                    <a:pt x="5000939" y="1858264"/>
                  </a:lnTo>
                  <a:lnTo>
                    <a:pt x="4984395" y="1902080"/>
                  </a:lnTo>
                  <a:lnTo>
                    <a:pt x="4963839" y="1947814"/>
                  </a:lnTo>
                  <a:lnTo>
                    <a:pt x="4940021" y="1992048"/>
                  </a:lnTo>
                  <a:lnTo>
                    <a:pt x="4913690" y="2031365"/>
                  </a:lnTo>
                  <a:lnTo>
                    <a:pt x="4883115" y="2063003"/>
                  </a:lnTo>
                  <a:lnTo>
                    <a:pt x="4872614" y="2074995"/>
                  </a:lnTo>
                  <a:lnTo>
                    <a:pt x="4855016" y="2104263"/>
                  </a:lnTo>
                  <a:lnTo>
                    <a:pt x="4824397" y="2160597"/>
                  </a:lnTo>
                  <a:lnTo>
                    <a:pt x="4799422" y="2204704"/>
                  </a:lnTo>
                  <a:lnTo>
                    <a:pt x="4773256" y="2245834"/>
                  </a:lnTo>
                  <a:lnTo>
                    <a:pt x="4739065" y="2293239"/>
                  </a:lnTo>
                  <a:lnTo>
                    <a:pt x="4724343" y="2316462"/>
                  </a:lnTo>
                  <a:lnTo>
                    <a:pt x="4703203" y="2350531"/>
                  </a:lnTo>
                  <a:lnTo>
                    <a:pt x="4678182" y="2384911"/>
                  </a:lnTo>
                  <a:lnTo>
                    <a:pt x="4624385" y="2424054"/>
                  </a:lnTo>
                  <a:lnTo>
                    <a:pt x="4611436" y="2428698"/>
                  </a:lnTo>
                  <a:lnTo>
                    <a:pt x="4608116" y="2426790"/>
                  </a:lnTo>
                  <a:lnTo>
                    <a:pt x="4609573" y="2422128"/>
                  </a:lnTo>
                  <a:lnTo>
                    <a:pt x="4610952" y="2418507"/>
                  </a:lnTo>
                  <a:lnTo>
                    <a:pt x="4607400" y="2419725"/>
                  </a:lnTo>
                  <a:lnTo>
                    <a:pt x="4594064" y="2429577"/>
                  </a:lnTo>
                  <a:lnTo>
                    <a:pt x="4566091" y="2451862"/>
                  </a:lnTo>
                  <a:lnTo>
                    <a:pt x="4540155" y="2473393"/>
                  </a:lnTo>
                  <a:lnTo>
                    <a:pt x="4533607" y="2481067"/>
                  </a:lnTo>
                  <a:lnTo>
                    <a:pt x="4536754" y="2482469"/>
                  </a:lnTo>
                  <a:lnTo>
                    <a:pt x="4539901" y="2485183"/>
                  </a:lnTo>
                  <a:lnTo>
                    <a:pt x="4533353" y="2496794"/>
                  </a:lnTo>
                  <a:lnTo>
                    <a:pt x="4507417" y="2524887"/>
                  </a:lnTo>
                  <a:lnTo>
                    <a:pt x="4479271" y="2550867"/>
                  </a:lnTo>
                  <a:lnTo>
                    <a:pt x="4467628" y="2557431"/>
                  </a:lnTo>
                  <a:lnTo>
                    <a:pt x="4464904" y="2554287"/>
                  </a:lnTo>
                  <a:lnTo>
                    <a:pt x="4463513" y="2551143"/>
                  </a:lnTo>
                  <a:lnTo>
                    <a:pt x="4455870" y="2557707"/>
                  </a:lnTo>
                  <a:lnTo>
                    <a:pt x="4434392" y="2583688"/>
                  </a:lnTo>
                  <a:lnTo>
                    <a:pt x="4427213" y="2594393"/>
                  </a:lnTo>
                  <a:lnTo>
                    <a:pt x="4421248" y="2606278"/>
                  </a:lnTo>
                  <a:lnTo>
                    <a:pt x="4414711" y="2617567"/>
                  </a:lnTo>
                  <a:lnTo>
                    <a:pt x="4405817" y="2626487"/>
                  </a:lnTo>
                  <a:lnTo>
                    <a:pt x="4374726" y="2641433"/>
                  </a:lnTo>
                  <a:lnTo>
                    <a:pt x="4341873" y="2652236"/>
                  </a:lnTo>
                  <a:lnTo>
                    <a:pt x="4308448" y="2661277"/>
                  </a:lnTo>
                  <a:lnTo>
                    <a:pt x="4275642" y="2670937"/>
                  </a:lnTo>
                  <a:lnTo>
                    <a:pt x="4226410" y="2687679"/>
                  </a:lnTo>
                  <a:lnTo>
                    <a:pt x="4179756" y="2703031"/>
                  </a:lnTo>
                  <a:lnTo>
                    <a:pt x="4134841" y="2717005"/>
                  </a:lnTo>
                  <a:lnTo>
                    <a:pt x="4090830" y="2729611"/>
                  </a:lnTo>
                  <a:lnTo>
                    <a:pt x="4046885" y="2740861"/>
                  </a:lnTo>
                  <a:lnTo>
                    <a:pt x="4002169" y="2750768"/>
                  </a:lnTo>
                  <a:lnTo>
                    <a:pt x="3955844" y="2759341"/>
                  </a:lnTo>
                  <a:lnTo>
                    <a:pt x="3907072" y="2766594"/>
                  </a:lnTo>
                  <a:lnTo>
                    <a:pt x="3855018" y="2772537"/>
                  </a:lnTo>
                  <a:lnTo>
                    <a:pt x="3807468" y="2787136"/>
                  </a:lnTo>
                  <a:lnTo>
                    <a:pt x="3759721" y="2800050"/>
                  </a:lnTo>
                  <a:lnTo>
                    <a:pt x="3711784" y="2811365"/>
                  </a:lnTo>
                  <a:lnTo>
                    <a:pt x="3663665" y="2821169"/>
                  </a:lnTo>
                  <a:lnTo>
                    <a:pt x="3615373" y="2829549"/>
                  </a:lnTo>
                  <a:lnTo>
                    <a:pt x="3566917" y="2836592"/>
                  </a:lnTo>
                  <a:lnTo>
                    <a:pt x="3518303" y="2842385"/>
                  </a:lnTo>
                  <a:lnTo>
                    <a:pt x="3469542" y="2847015"/>
                  </a:lnTo>
                  <a:lnTo>
                    <a:pt x="3420640" y="2850570"/>
                  </a:lnTo>
                  <a:lnTo>
                    <a:pt x="3371606" y="2853136"/>
                  </a:lnTo>
                  <a:lnTo>
                    <a:pt x="3322448" y="2854801"/>
                  </a:lnTo>
                  <a:lnTo>
                    <a:pt x="3273174" y="2855652"/>
                  </a:lnTo>
                  <a:lnTo>
                    <a:pt x="3223794" y="2855777"/>
                  </a:lnTo>
                  <a:lnTo>
                    <a:pt x="3174314" y="2855261"/>
                  </a:lnTo>
                  <a:lnTo>
                    <a:pt x="3124743" y="2854193"/>
                  </a:lnTo>
                  <a:lnTo>
                    <a:pt x="3075090" y="2852660"/>
                  </a:lnTo>
                  <a:lnTo>
                    <a:pt x="3025362" y="2850748"/>
                  </a:lnTo>
                  <a:lnTo>
                    <a:pt x="2975568" y="2848546"/>
                  </a:lnTo>
                  <a:lnTo>
                    <a:pt x="2925716" y="2846139"/>
                  </a:lnTo>
                  <a:lnTo>
                    <a:pt x="2875815" y="2843616"/>
                  </a:lnTo>
                  <a:lnTo>
                    <a:pt x="2825872" y="2841063"/>
                  </a:lnTo>
                  <a:lnTo>
                    <a:pt x="2775895" y="2838568"/>
                  </a:lnTo>
                  <a:lnTo>
                    <a:pt x="2725894" y="2836217"/>
                  </a:lnTo>
                  <a:lnTo>
                    <a:pt x="2675875" y="2834099"/>
                  </a:lnTo>
                  <a:lnTo>
                    <a:pt x="2625848" y="2832299"/>
                  </a:lnTo>
                  <a:lnTo>
                    <a:pt x="2575821" y="2830906"/>
                  </a:lnTo>
                  <a:lnTo>
                    <a:pt x="2525802" y="2830006"/>
                  </a:lnTo>
                  <a:lnTo>
                    <a:pt x="2475798" y="2829687"/>
                  </a:lnTo>
                </a:path>
              </a:pathLst>
            </a:custGeom>
            <a:ln w="9144">
              <a:solidFill>
                <a:srgbClr val="000000"/>
              </a:solidFill>
              <a:prstDash val="sysDash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600199" y="3429000"/>
              <a:ext cx="2590800" cy="228600"/>
            </a:xfrm>
            <a:custGeom>
              <a:avLst/>
              <a:gdLst/>
              <a:ahLst/>
              <a:cxnLst/>
              <a:rect l="l" t="t" r="r" b="b"/>
              <a:pathLst>
                <a:path w="2590800" h="228600">
                  <a:moveTo>
                    <a:pt x="25908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590800" y="228600"/>
                  </a:lnTo>
                  <a:lnTo>
                    <a:pt x="2590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1600200" y="3429000"/>
            <a:ext cx="2590800" cy="22860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76250">
              <a:lnSpc>
                <a:spcPts val="1800"/>
              </a:lnSpc>
            </a:pPr>
            <a:r>
              <a:rPr sz="1800" dirty="0">
                <a:solidFill>
                  <a:srgbClr val="FF3399"/>
                </a:solidFill>
                <a:latin typeface="Arial MT"/>
                <a:cs typeface="Arial MT"/>
              </a:rPr>
              <a:t>location</a:t>
            </a:r>
            <a:r>
              <a:rPr sz="1800" spc="-2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3399"/>
                </a:solidFill>
                <a:latin typeface="Arial MT"/>
                <a:cs typeface="Arial MT"/>
              </a:rPr>
              <a:t>to</a:t>
            </a:r>
            <a:r>
              <a:rPr sz="1800" spc="-2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3399"/>
                </a:solidFill>
                <a:latin typeface="Arial MT"/>
                <a:cs typeface="Arial MT"/>
              </a:rPr>
              <a:t>return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-631" y="3118866"/>
            <a:ext cx="5031105" cy="3743960"/>
            <a:chOff x="-631" y="3118866"/>
            <a:chExt cx="5031105" cy="3743960"/>
          </a:xfrm>
        </p:grpSpPr>
        <p:sp>
          <p:nvSpPr>
            <p:cNvPr id="57" name="object 57"/>
            <p:cNvSpPr/>
            <p:nvPr/>
          </p:nvSpPr>
          <p:spPr>
            <a:xfrm>
              <a:off x="-622" y="3118865"/>
              <a:ext cx="5031105" cy="621665"/>
            </a:xfrm>
            <a:custGeom>
              <a:avLst/>
              <a:gdLst/>
              <a:ahLst/>
              <a:cxnLst/>
              <a:rect l="l" t="t" r="r" b="b"/>
              <a:pathLst>
                <a:path w="5031105" h="621664">
                  <a:moveTo>
                    <a:pt x="13881" y="543814"/>
                  </a:moveTo>
                  <a:lnTo>
                    <a:pt x="12750" y="532384"/>
                  </a:lnTo>
                  <a:lnTo>
                    <a:pt x="12623" y="531114"/>
                  </a:lnTo>
                  <a:lnTo>
                    <a:pt x="0" y="532384"/>
                  </a:lnTo>
                  <a:lnTo>
                    <a:pt x="1117" y="543814"/>
                  </a:lnTo>
                  <a:lnTo>
                    <a:pt x="1244" y="545084"/>
                  </a:lnTo>
                  <a:lnTo>
                    <a:pt x="13881" y="543814"/>
                  </a:lnTo>
                  <a:close/>
                </a:path>
                <a:path w="5031105" h="621664">
                  <a:moveTo>
                    <a:pt x="39154" y="541274"/>
                  </a:moveTo>
                  <a:lnTo>
                    <a:pt x="38023" y="529844"/>
                  </a:lnTo>
                  <a:lnTo>
                    <a:pt x="37896" y="528574"/>
                  </a:lnTo>
                  <a:lnTo>
                    <a:pt x="25260" y="529844"/>
                  </a:lnTo>
                  <a:lnTo>
                    <a:pt x="26390" y="541274"/>
                  </a:lnTo>
                  <a:lnTo>
                    <a:pt x="26517" y="542544"/>
                  </a:lnTo>
                  <a:lnTo>
                    <a:pt x="39154" y="541274"/>
                  </a:lnTo>
                  <a:close/>
                </a:path>
                <a:path w="5031105" h="621664">
                  <a:moveTo>
                    <a:pt x="64427" y="538734"/>
                  </a:moveTo>
                  <a:lnTo>
                    <a:pt x="63296" y="527304"/>
                  </a:lnTo>
                  <a:lnTo>
                    <a:pt x="63169" y="526034"/>
                  </a:lnTo>
                  <a:lnTo>
                    <a:pt x="50533" y="527304"/>
                  </a:lnTo>
                  <a:lnTo>
                    <a:pt x="51663" y="538734"/>
                  </a:lnTo>
                  <a:lnTo>
                    <a:pt x="51790" y="540004"/>
                  </a:lnTo>
                  <a:lnTo>
                    <a:pt x="64427" y="538734"/>
                  </a:lnTo>
                  <a:close/>
                </a:path>
                <a:path w="5031105" h="621664">
                  <a:moveTo>
                    <a:pt x="89712" y="536194"/>
                  </a:moveTo>
                  <a:lnTo>
                    <a:pt x="88442" y="523621"/>
                  </a:lnTo>
                  <a:lnTo>
                    <a:pt x="75806" y="524891"/>
                  </a:lnTo>
                  <a:lnTo>
                    <a:pt x="77076" y="537464"/>
                  </a:lnTo>
                  <a:lnTo>
                    <a:pt x="89712" y="536194"/>
                  </a:lnTo>
                  <a:close/>
                </a:path>
                <a:path w="5031105" h="621664">
                  <a:moveTo>
                    <a:pt x="114985" y="533654"/>
                  </a:moveTo>
                  <a:lnTo>
                    <a:pt x="113715" y="521081"/>
                  </a:lnTo>
                  <a:lnTo>
                    <a:pt x="101079" y="522351"/>
                  </a:lnTo>
                  <a:lnTo>
                    <a:pt x="102349" y="534924"/>
                  </a:lnTo>
                  <a:lnTo>
                    <a:pt x="114985" y="533654"/>
                  </a:lnTo>
                  <a:close/>
                </a:path>
                <a:path w="5031105" h="621664">
                  <a:moveTo>
                    <a:pt x="140258" y="531114"/>
                  </a:moveTo>
                  <a:lnTo>
                    <a:pt x="139128" y="519811"/>
                  </a:lnTo>
                  <a:lnTo>
                    <a:pt x="139001" y="518541"/>
                  </a:lnTo>
                  <a:lnTo>
                    <a:pt x="126352" y="519811"/>
                  </a:lnTo>
                  <a:lnTo>
                    <a:pt x="127622" y="532384"/>
                  </a:lnTo>
                  <a:lnTo>
                    <a:pt x="140258" y="531114"/>
                  </a:lnTo>
                  <a:close/>
                </a:path>
                <a:path w="5031105" h="621664">
                  <a:moveTo>
                    <a:pt x="165531" y="528574"/>
                  </a:moveTo>
                  <a:lnTo>
                    <a:pt x="164388" y="517271"/>
                  </a:lnTo>
                  <a:lnTo>
                    <a:pt x="164274" y="516001"/>
                  </a:lnTo>
                  <a:lnTo>
                    <a:pt x="151638" y="517271"/>
                  </a:lnTo>
                  <a:lnTo>
                    <a:pt x="152895" y="529844"/>
                  </a:lnTo>
                  <a:lnTo>
                    <a:pt x="165531" y="528574"/>
                  </a:lnTo>
                  <a:close/>
                </a:path>
                <a:path w="5031105" h="621664">
                  <a:moveTo>
                    <a:pt x="190804" y="526034"/>
                  </a:moveTo>
                  <a:lnTo>
                    <a:pt x="189547" y="513461"/>
                  </a:lnTo>
                  <a:lnTo>
                    <a:pt x="176911" y="514731"/>
                  </a:lnTo>
                  <a:lnTo>
                    <a:pt x="178041" y="526034"/>
                  </a:lnTo>
                  <a:lnTo>
                    <a:pt x="178168" y="527304"/>
                  </a:lnTo>
                  <a:lnTo>
                    <a:pt x="190804" y="526034"/>
                  </a:lnTo>
                  <a:close/>
                </a:path>
                <a:path w="5031105" h="621664">
                  <a:moveTo>
                    <a:pt x="216077" y="523621"/>
                  </a:moveTo>
                  <a:lnTo>
                    <a:pt x="214934" y="512191"/>
                  </a:lnTo>
                  <a:lnTo>
                    <a:pt x="214820" y="510921"/>
                  </a:lnTo>
                  <a:lnTo>
                    <a:pt x="202184" y="512191"/>
                  </a:lnTo>
                  <a:lnTo>
                    <a:pt x="203314" y="523621"/>
                  </a:lnTo>
                  <a:lnTo>
                    <a:pt x="203441" y="524891"/>
                  </a:lnTo>
                  <a:lnTo>
                    <a:pt x="216077" y="523621"/>
                  </a:lnTo>
                  <a:close/>
                </a:path>
                <a:path w="5031105" h="621664">
                  <a:moveTo>
                    <a:pt x="241350" y="521081"/>
                  </a:moveTo>
                  <a:lnTo>
                    <a:pt x="240207" y="509651"/>
                  </a:lnTo>
                  <a:lnTo>
                    <a:pt x="240093" y="508381"/>
                  </a:lnTo>
                  <a:lnTo>
                    <a:pt x="227457" y="509651"/>
                  </a:lnTo>
                  <a:lnTo>
                    <a:pt x="228587" y="521081"/>
                  </a:lnTo>
                  <a:lnTo>
                    <a:pt x="228714" y="522351"/>
                  </a:lnTo>
                  <a:lnTo>
                    <a:pt x="241350" y="521081"/>
                  </a:lnTo>
                  <a:close/>
                </a:path>
                <a:path w="5031105" h="621664">
                  <a:moveTo>
                    <a:pt x="266636" y="518541"/>
                  </a:moveTo>
                  <a:lnTo>
                    <a:pt x="265480" y="507111"/>
                  </a:lnTo>
                  <a:lnTo>
                    <a:pt x="265366" y="505841"/>
                  </a:lnTo>
                  <a:lnTo>
                    <a:pt x="252730" y="507111"/>
                  </a:lnTo>
                  <a:lnTo>
                    <a:pt x="253860" y="518541"/>
                  </a:lnTo>
                  <a:lnTo>
                    <a:pt x="253987" y="519811"/>
                  </a:lnTo>
                  <a:lnTo>
                    <a:pt x="266636" y="518541"/>
                  </a:lnTo>
                  <a:close/>
                </a:path>
                <a:path w="5031105" h="621664">
                  <a:moveTo>
                    <a:pt x="291909" y="516001"/>
                  </a:moveTo>
                  <a:lnTo>
                    <a:pt x="290753" y="504571"/>
                  </a:lnTo>
                  <a:lnTo>
                    <a:pt x="290639" y="503301"/>
                  </a:lnTo>
                  <a:lnTo>
                    <a:pt x="278003" y="504571"/>
                  </a:lnTo>
                  <a:lnTo>
                    <a:pt x="279146" y="516001"/>
                  </a:lnTo>
                  <a:lnTo>
                    <a:pt x="279273" y="517271"/>
                  </a:lnTo>
                  <a:lnTo>
                    <a:pt x="291909" y="516001"/>
                  </a:lnTo>
                  <a:close/>
                </a:path>
                <a:path w="5031105" h="621664">
                  <a:moveTo>
                    <a:pt x="317182" y="513461"/>
                  </a:moveTo>
                  <a:lnTo>
                    <a:pt x="315912" y="500761"/>
                  </a:lnTo>
                  <a:lnTo>
                    <a:pt x="303276" y="502031"/>
                  </a:lnTo>
                  <a:lnTo>
                    <a:pt x="304546" y="514731"/>
                  </a:lnTo>
                  <a:lnTo>
                    <a:pt x="317182" y="513461"/>
                  </a:lnTo>
                  <a:close/>
                </a:path>
                <a:path w="5031105" h="621664">
                  <a:moveTo>
                    <a:pt x="342455" y="510921"/>
                  </a:moveTo>
                  <a:lnTo>
                    <a:pt x="341185" y="498348"/>
                  </a:lnTo>
                  <a:lnTo>
                    <a:pt x="328549" y="499618"/>
                  </a:lnTo>
                  <a:lnTo>
                    <a:pt x="329819" y="512191"/>
                  </a:lnTo>
                  <a:lnTo>
                    <a:pt x="342455" y="510921"/>
                  </a:lnTo>
                  <a:close/>
                </a:path>
                <a:path w="5031105" h="621664">
                  <a:moveTo>
                    <a:pt x="367728" y="508381"/>
                  </a:moveTo>
                  <a:lnTo>
                    <a:pt x="366458" y="495808"/>
                  </a:lnTo>
                  <a:lnTo>
                    <a:pt x="353822" y="497078"/>
                  </a:lnTo>
                  <a:lnTo>
                    <a:pt x="355092" y="509651"/>
                  </a:lnTo>
                  <a:lnTo>
                    <a:pt x="367728" y="508381"/>
                  </a:lnTo>
                  <a:close/>
                </a:path>
                <a:path w="5031105" h="621664">
                  <a:moveTo>
                    <a:pt x="393001" y="505841"/>
                  </a:moveTo>
                  <a:lnTo>
                    <a:pt x="391731" y="493268"/>
                  </a:lnTo>
                  <a:lnTo>
                    <a:pt x="379095" y="494538"/>
                  </a:lnTo>
                  <a:lnTo>
                    <a:pt x="380365" y="507111"/>
                  </a:lnTo>
                  <a:lnTo>
                    <a:pt x="393001" y="505841"/>
                  </a:lnTo>
                  <a:close/>
                </a:path>
                <a:path w="5031105" h="621664">
                  <a:moveTo>
                    <a:pt x="418274" y="503301"/>
                  </a:moveTo>
                  <a:lnTo>
                    <a:pt x="417004" y="490728"/>
                  </a:lnTo>
                  <a:lnTo>
                    <a:pt x="404368" y="491998"/>
                  </a:lnTo>
                  <a:lnTo>
                    <a:pt x="405638" y="504571"/>
                  </a:lnTo>
                  <a:lnTo>
                    <a:pt x="418274" y="503301"/>
                  </a:lnTo>
                  <a:close/>
                </a:path>
                <a:path w="5031105" h="621664">
                  <a:moveTo>
                    <a:pt x="443547" y="500761"/>
                  </a:moveTo>
                  <a:lnTo>
                    <a:pt x="442417" y="489458"/>
                  </a:lnTo>
                  <a:lnTo>
                    <a:pt x="442290" y="488188"/>
                  </a:lnTo>
                  <a:lnTo>
                    <a:pt x="429641" y="489458"/>
                  </a:lnTo>
                  <a:lnTo>
                    <a:pt x="430911" y="502031"/>
                  </a:lnTo>
                  <a:lnTo>
                    <a:pt x="443547" y="500761"/>
                  </a:lnTo>
                  <a:close/>
                </a:path>
                <a:path w="5031105" h="621664">
                  <a:moveTo>
                    <a:pt x="468820" y="498348"/>
                  </a:moveTo>
                  <a:lnTo>
                    <a:pt x="467677" y="486930"/>
                  </a:lnTo>
                  <a:lnTo>
                    <a:pt x="467563" y="485648"/>
                  </a:lnTo>
                  <a:lnTo>
                    <a:pt x="454926" y="486930"/>
                  </a:lnTo>
                  <a:lnTo>
                    <a:pt x="456057" y="498348"/>
                  </a:lnTo>
                  <a:lnTo>
                    <a:pt x="456184" y="499618"/>
                  </a:lnTo>
                  <a:lnTo>
                    <a:pt x="468820" y="498348"/>
                  </a:lnTo>
                  <a:close/>
                </a:path>
                <a:path w="5031105" h="621664">
                  <a:moveTo>
                    <a:pt x="494093" y="495808"/>
                  </a:moveTo>
                  <a:lnTo>
                    <a:pt x="492950" y="484390"/>
                  </a:lnTo>
                  <a:lnTo>
                    <a:pt x="492836" y="483108"/>
                  </a:lnTo>
                  <a:lnTo>
                    <a:pt x="480199" y="484390"/>
                  </a:lnTo>
                  <a:lnTo>
                    <a:pt x="481330" y="495808"/>
                  </a:lnTo>
                  <a:lnTo>
                    <a:pt x="481457" y="497078"/>
                  </a:lnTo>
                  <a:lnTo>
                    <a:pt x="494093" y="495808"/>
                  </a:lnTo>
                  <a:close/>
                </a:path>
                <a:path w="5031105" h="621664">
                  <a:moveTo>
                    <a:pt x="519366" y="493268"/>
                  </a:moveTo>
                  <a:lnTo>
                    <a:pt x="518223" y="481838"/>
                  </a:lnTo>
                  <a:lnTo>
                    <a:pt x="518109" y="480580"/>
                  </a:lnTo>
                  <a:lnTo>
                    <a:pt x="505472" y="481838"/>
                  </a:lnTo>
                  <a:lnTo>
                    <a:pt x="506603" y="493268"/>
                  </a:lnTo>
                  <a:lnTo>
                    <a:pt x="506730" y="494538"/>
                  </a:lnTo>
                  <a:lnTo>
                    <a:pt x="519366" y="493268"/>
                  </a:lnTo>
                  <a:close/>
                </a:path>
                <a:path w="5031105" h="621664">
                  <a:moveTo>
                    <a:pt x="544639" y="490728"/>
                  </a:moveTo>
                  <a:lnTo>
                    <a:pt x="543496" y="479298"/>
                  </a:lnTo>
                  <a:lnTo>
                    <a:pt x="543382" y="478040"/>
                  </a:lnTo>
                  <a:lnTo>
                    <a:pt x="530745" y="479298"/>
                  </a:lnTo>
                  <a:lnTo>
                    <a:pt x="531876" y="490728"/>
                  </a:lnTo>
                  <a:lnTo>
                    <a:pt x="532003" y="491998"/>
                  </a:lnTo>
                  <a:lnTo>
                    <a:pt x="544639" y="490728"/>
                  </a:lnTo>
                  <a:close/>
                </a:path>
                <a:path w="5031105" h="621664">
                  <a:moveTo>
                    <a:pt x="569912" y="488188"/>
                  </a:moveTo>
                  <a:lnTo>
                    <a:pt x="568769" y="476758"/>
                  </a:lnTo>
                  <a:lnTo>
                    <a:pt x="568655" y="475488"/>
                  </a:lnTo>
                  <a:lnTo>
                    <a:pt x="556018" y="476758"/>
                  </a:lnTo>
                  <a:lnTo>
                    <a:pt x="557149" y="488188"/>
                  </a:lnTo>
                  <a:lnTo>
                    <a:pt x="557276" y="489458"/>
                  </a:lnTo>
                  <a:lnTo>
                    <a:pt x="569912" y="488188"/>
                  </a:lnTo>
                  <a:close/>
                </a:path>
                <a:path w="5031105" h="621664">
                  <a:moveTo>
                    <a:pt x="595185" y="485648"/>
                  </a:moveTo>
                  <a:lnTo>
                    <a:pt x="593928" y="473075"/>
                  </a:lnTo>
                  <a:lnTo>
                    <a:pt x="581291" y="474345"/>
                  </a:lnTo>
                  <a:lnTo>
                    <a:pt x="582549" y="486930"/>
                  </a:lnTo>
                  <a:lnTo>
                    <a:pt x="595185" y="485648"/>
                  </a:lnTo>
                  <a:close/>
                </a:path>
                <a:path w="5031105" h="621664">
                  <a:moveTo>
                    <a:pt x="620471" y="483108"/>
                  </a:moveTo>
                  <a:lnTo>
                    <a:pt x="619201" y="470535"/>
                  </a:lnTo>
                  <a:lnTo>
                    <a:pt x="606564" y="471817"/>
                  </a:lnTo>
                  <a:lnTo>
                    <a:pt x="607822" y="484390"/>
                  </a:lnTo>
                  <a:lnTo>
                    <a:pt x="620471" y="483108"/>
                  </a:lnTo>
                  <a:close/>
                </a:path>
                <a:path w="5031105" h="621664">
                  <a:moveTo>
                    <a:pt x="645744" y="480580"/>
                  </a:moveTo>
                  <a:lnTo>
                    <a:pt x="644474" y="467995"/>
                  </a:lnTo>
                  <a:lnTo>
                    <a:pt x="631837" y="469265"/>
                  </a:lnTo>
                  <a:lnTo>
                    <a:pt x="633107" y="481838"/>
                  </a:lnTo>
                  <a:lnTo>
                    <a:pt x="645744" y="480580"/>
                  </a:lnTo>
                  <a:close/>
                </a:path>
                <a:path w="5031105" h="621664">
                  <a:moveTo>
                    <a:pt x="671017" y="478040"/>
                  </a:moveTo>
                  <a:lnTo>
                    <a:pt x="669747" y="465467"/>
                  </a:lnTo>
                  <a:lnTo>
                    <a:pt x="657110" y="466725"/>
                  </a:lnTo>
                  <a:lnTo>
                    <a:pt x="658380" y="479298"/>
                  </a:lnTo>
                  <a:lnTo>
                    <a:pt x="671017" y="478040"/>
                  </a:lnTo>
                  <a:close/>
                </a:path>
                <a:path w="5031105" h="621664">
                  <a:moveTo>
                    <a:pt x="696290" y="475488"/>
                  </a:moveTo>
                  <a:lnTo>
                    <a:pt x="695020" y="462915"/>
                  </a:lnTo>
                  <a:lnTo>
                    <a:pt x="682383" y="464185"/>
                  </a:lnTo>
                  <a:lnTo>
                    <a:pt x="683653" y="476758"/>
                  </a:lnTo>
                  <a:lnTo>
                    <a:pt x="696290" y="475488"/>
                  </a:lnTo>
                  <a:close/>
                </a:path>
                <a:path w="5031105" h="621664">
                  <a:moveTo>
                    <a:pt x="721563" y="473075"/>
                  </a:moveTo>
                  <a:lnTo>
                    <a:pt x="720293" y="460375"/>
                  </a:lnTo>
                  <a:lnTo>
                    <a:pt x="707656" y="461645"/>
                  </a:lnTo>
                  <a:lnTo>
                    <a:pt x="708926" y="474345"/>
                  </a:lnTo>
                  <a:lnTo>
                    <a:pt x="721563" y="473075"/>
                  </a:lnTo>
                  <a:close/>
                </a:path>
                <a:path w="5031105" h="621664">
                  <a:moveTo>
                    <a:pt x="746836" y="470535"/>
                  </a:moveTo>
                  <a:lnTo>
                    <a:pt x="745566" y="457835"/>
                  </a:lnTo>
                  <a:lnTo>
                    <a:pt x="732929" y="459117"/>
                  </a:lnTo>
                  <a:lnTo>
                    <a:pt x="734199" y="471817"/>
                  </a:lnTo>
                  <a:lnTo>
                    <a:pt x="746836" y="470535"/>
                  </a:lnTo>
                  <a:close/>
                </a:path>
                <a:path w="5031105" h="621664">
                  <a:moveTo>
                    <a:pt x="772109" y="467995"/>
                  </a:moveTo>
                  <a:lnTo>
                    <a:pt x="770966" y="456565"/>
                  </a:lnTo>
                  <a:lnTo>
                    <a:pt x="770839" y="455295"/>
                  </a:lnTo>
                  <a:lnTo>
                    <a:pt x="758202" y="456565"/>
                  </a:lnTo>
                  <a:lnTo>
                    <a:pt x="759345" y="467995"/>
                  </a:lnTo>
                  <a:lnTo>
                    <a:pt x="759472" y="469265"/>
                  </a:lnTo>
                  <a:lnTo>
                    <a:pt x="772109" y="467995"/>
                  </a:lnTo>
                  <a:close/>
                </a:path>
                <a:path w="5031105" h="621664">
                  <a:moveTo>
                    <a:pt x="797382" y="465467"/>
                  </a:moveTo>
                  <a:lnTo>
                    <a:pt x="796239" y="454025"/>
                  </a:lnTo>
                  <a:lnTo>
                    <a:pt x="796124" y="452767"/>
                  </a:lnTo>
                  <a:lnTo>
                    <a:pt x="783475" y="454025"/>
                  </a:lnTo>
                  <a:lnTo>
                    <a:pt x="784618" y="465467"/>
                  </a:lnTo>
                  <a:lnTo>
                    <a:pt x="784745" y="466725"/>
                  </a:lnTo>
                  <a:lnTo>
                    <a:pt x="797382" y="465467"/>
                  </a:lnTo>
                  <a:close/>
                </a:path>
                <a:path w="5031105" h="621664">
                  <a:moveTo>
                    <a:pt x="822655" y="462915"/>
                  </a:moveTo>
                  <a:lnTo>
                    <a:pt x="821512" y="451485"/>
                  </a:lnTo>
                  <a:lnTo>
                    <a:pt x="821397" y="450215"/>
                  </a:lnTo>
                  <a:lnTo>
                    <a:pt x="808761" y="451485"/>
                  </a:lnTo>
                  <a:lnTo>
                    <a:pt x="809891" y="462915"/>
                  </a:lnTo>
                  <a:lnTo>
                    <a:pt x="810018" y="464185"/>
                  </a:lnTo>
                  <a:lnTo>
                    <a:pt x="822655" y="462915"/>
                  </a:lnTo>
                  <a:close/>
                </a:path>
                <a:path w="5031105" h="621664">
                  <a:moveTo>
                    <a:pt x="847928" y="460375"/>
                  </a:moveTo>
                  <a:lnTo>
                    <a:pt x="846670" y="447802"/>
                  </a:lnTo>
                  <a:lnTo>
                    <a:pt x="834034" y="449072"/>
                  </a:lnTo>
                  <a:lnTo>
                    <a:pt x="835291" y="461645"/>
                  </a:lnTo>
                  <a:lnTo>
                    <a:pt x="847928" y="460375"/>
                  </a:lnTo>
                  <a:close/>
                </a:path>
                <a:path w="5031105" h="621664">
                  <a:moveTo>
                    <a:pt x="873201" y="457835"/>
                  </a:moveTo>
                  <a:lnTo>
                    <a:pt x="871943" y="445262"/>
                  </a:lnTo>
                  <a:lnTo>
                    <a:pt x="859307" y="446532"/>
                  </a:lnTo>
                  <a:lnTo>
                    <a:pt x="860564" y="459117"/>
                  </a:lnTo>
                  <a:lnTo>
                    <a:pt x="873201" y="457835"/>
                  </a:lnTo>
                  <a:close/>
                </a:path>
                <a:path w="5031105" h="621664">
                  <a:moveTo>
                    <a:pt x="898474" y="455295"/>
                  </a:moveTo>
                  <a:lnTo>
                    <a:pt x="897216" y="442722"/>
                  </a:lnTo>
                  <a:lnTo>
                    <a:pt x="884580" y="444004"/>
                  </a:lnTo>
                  <a:lnTo>
                    <a:pt x="885710" y="455295"/>
                  </a:lnTo>
                  <a:lnTo>
                    <a:pt x="885837" y="456565"/>
                  </a:lnTo>
                  <a:lnTo>
                    <a:pt x="898474" y="455295"/>
                  </a:lnTo>
                  <a:close/>
                </a:path>
                <a:path w="5031105" h="621664">
                  <a:moveTo>
                    <a:pt x="923747" y="452767"/>
                  </a:moveTo>
                  <a:lnTo>
                    <a:pt x="922604" y="441452"/>
                  </a:lnTo>
                  <a:lnTo>
                    <a:pt x="922489" y="440182"/>
                  </a:lnTo>
                  <a:lnTo>
                    <a:pt x="909853" y="441452"/>
                  </a:lnTo>
                  <a:lnTo>
                    <a:pt x="910983" y="452767"/>
                  </a:lnTo>
                  <a:lnTo>
                    <a:pt x="911110" y="454025"/>
                  </a:lnTo>
                  <a:lnTo>
                    <a:pt x="923747" y="452767"/>
                  </a:lnTo>
                  <a:close/>
                </a:path>
                <a:path w="5031105" h="621664">
                  <a:moveTo>
                    <a:pt x="949020" y="450215"/>
                  </a:moveTo>
                  <a:lnTo>
                    <a:pt x="947889" y="438912"/>
                  </a:lnTo>
                  <a:lnTo>
                    <a:pt x="947762" y="437654"/>
                  </a:lnTo>
                  <a:lnTo>
                    <a:pt x="935126" y="438912"/>
                  </a:lnTo>
                  <a:lnTo>
                    <a:pt x="936383" y="451485"/>
                  </a:lnTo>
                  <a:lnTo>
                    <a:pt x="949020" y="450215"/>
                  </a:lnTo>
                  <a:close/>
                </a:path>
                <a:path w="5031105" h="621664">
                  <a:moveTo>
                    <a:pt x="974305" y="447802"/>
                  </a:moveTo>
                  <a:lnTo>
                    <a:pt x="973035" y="435102"/>
                  </a:lnTo>
                  <a:lnTo>
                    <a:pt x="960399" y="436372"/>
                  </a:lnTo>
                  <a:lnTo>
                    <a:pt x="961529" y="447802"/>
                  </a:lnTo>
                  <a:lnTo>
                    <a:pt x="961656" y="449072"/>
                  </a:lnTo>
                  <a:lnTo>
                    <a:pt x="974305" y="447802"/>
                  </a:lnTo>
                  <a:close/>
                </a:path>
                <a:path w="5031105" h="621664">
                  <a:moveTo>
                    <a:pt x="999578" y="445262"/>
                  </a:moveTo>
                  <a:lnTo>
                    <a:pt x="998308" y="432562"/>
                  </a:lnTo>
                  <a:lnTo>
                    <a:pt x="985672" y="433832"/>
                  </a:lnTo>
                  <a:lnTo>
                    <a:pt x="986942" y="446532"/>
                  </a:lnTo>
                  <a:lnTo>
                    <a:pt x="999578" y="445262"/>
                  </a:lnTo>
                  <a:close/>
                </a:path>
                <a:path w="5031105" h="621664">
                  <a:moveTo>
                    <a:pt x="1024851" y="442722"/>
                  </a:moveTo>
                  <a:lnTo>
                    <a:pt x="1023581" y="430022"/>
                  </a:lnTo>
                  <a:lnTo>
                    <a:pt x="1010945" y="431304"/>
                  </a:lnTo>
                  <a:lnTo>
                    <a:pt x="1012215" y="444004"/>
                  </a:lnTo>
                  <a:lnTo>
                    <a:pt x="1024851" y="442722"/>
                  </a:lnTo>
                  <a:close/>
                </a:path>
                <a:path w="5031105" h="621664">
                  <a:moveTo>
                    <a:pt x="1050124" y="440182"/>
                  </a:moveTo>
                  <a:lnTo>
                    <a:pt x="1048969" y="428752"/>
                  </a:lnTo>
                  <a:lnTo>
                    <a:pt x="1048854" y="427482"/>
                  </a:lnTo>
                  <a:lnTo>
                    <a:pt x="1036218" y="428752"/>
                  </a:lnTo>
                  <a:lnTo>
                    <a:pt x="1037361" y="440182"/>
                  </a:lnTo>
                  <a:lnTo>
                    <a:pt x="1037488" y="441452"/>
                  </a:lnTo>
                  <a:lnTo>
                    <a:pt x="1050124" y="440182"/>
                  </a:lnTo>
                  <a:close/>
                </a:path>
                <a:path w="5031105" h="621664">
                  <a:moveTo>
                    <a:pt x="1075397" y="437654"/>
                  </a:moveTo>
                  <a:lnTo>
                    <a:pt x="1074254" y="426212"/>
                  </a:lnTo>
                  <a:lnTo>
                    <a:pt x="1074127" y="424954"/>
                  </a:lnTo>
                  <a:lnTo>
                    <a:pt x="1061491" y="426212"/>
                  </a:lnTo>
                  <a:lnTo>
                    <a:pt x="1062634" y="437654"/>
                  </a:lnTo>
                  <a:lnTo>
                    <a:pt x="1062761" y="438912"/>
                  </a:lnTo>
                  <a:lnTo>
                    <a:pt x="1075397" y="437654"/>
                  </a:lnTo>
                  <a:close/>
                </a:path>
                <a:path w="5031105" h="621664">
                  <a:moveTo>
                    <a:pt x="1081506" y="7112"/>
                  </a:moveTo>
                  <a:lnTo>
                    <a:pt x="1070940" y="0"/>
                  </a:lnTo>
                  <a:lnTo>
                    <a:pt x="1063904" y="10668"/>
                  </a:lnTo>
                  <a:lnTo>
                    <a:pt x="1074470" y="17653"/>
                  </a:lnTo>
                  <a:lnTo>
                    <a:pt x="1081506" y="7112"/>
                  </a:lnTo>
                  <a:close/>
                </a:path>
                <a:path w="5031105" h="621664">
                  <a:moveTo>
                    <a:pt x="1100670" y="435102"/>
                  </a:moveTo>
                  <a:lnTo>
                    <a:pt x="1099400" y="422541"/>
                  </a:lnTo>
                  <a:lnTo>
                    <a:pt x="1086764" y="423799"/>
                  </a:lnTo>
                  <a:lnTo>
                    <a:pt x="1088034" y="436372"/>
                  </a:lnTo>
                  <a:lnTo>
                    <a:pt x="1100670" y="435102"/>
                  </a:lnTo>
                  <a:close/>
                </a:path>
                <a:path w="5031105" h="621664">
                  <a:moveTo>
                    <a:pt x="1102639" y="21209"/>
                  </a:moveTo>
                  <a:lnTo>
                    <a:pt x="1092073" y="14097"/>
                  </a:lnTo>
                  <a:lnTo>
                    <a:pt x="1085037" y="24765"/>
                  </a:lnTo>
                  <a:lnTo>
                    <a:pt x="1095603" y="31750"/>
                  </a:lnTo>
                  <a:lnTo>
                    <a:pt x="1102639" y="21209"/>
                  </a:lnTo>
                  <a:close/>
                </a:path>
                <a:path w="5031105" h="621664">
                  <a:moveTo>
                    <a:pt x="1123784" y="35306"/>
                  </a:moveTo>
                  <a:lnTo>
                    <a:pt x="1113218" y="28194"/>
                  </a:lnTo>
                  <a:lnTo>
                    <a:pt x="1106170" y="38735"/>
                  </a:lnTo>
                  <a:lnTo>
                    <a:pt x="1116736" y="45847"/>
                  </a:lnTo>
                  <a:lnTo>
                    <a:pt x="1123784" y="35306"/>
                  </a:lnTo>
                  <a:close/>
                </a:path>
                <a:path w="5031105" h="621664">
                  <a:moveTo>
                    <a:pt x="1125943" y="432562"/>
                  </a:moveTo>
                  <a:lnTo>
                    <a:pt x="1124673" y="419989"/>
                  </a:lnTo>
                  <a:lnTo>
                    <a:pt x="1112037" y="421259"/>
                  </a:lnTo>
                  <a:lnTo>
                    <a:pt x="1113307" y="433832"/>
                  </a:lnTo>
                  <a:lnTo>
                    <a:pt x="1125943" y="432562"/>
                  </a:lnTo>
                  <a:close/>
                </a:path>
                <a:path w="5031105" h="621664">
                  <a:moveTo>
                    <a:pt x="1144917" y="49403"/>
                  </a:moveTo>
                  <a:lnTo>
                    <a:pt x="1134351" y="42291"/>
                  </a:lnTo>
                  <a:lnTo>
                    <a:pt x="1127302" y="52832"/>
                  </a:lnTo>
                  <a:lnTo>
                    <a:pt x="1137869" y="59944"/>
                  </a:lnTo>
                  <a:lnTo>
                    <a:pt x="1144917" y="49403"/>
                  </a:lnTo>
                  <a:close/>
                </a:path>
                <a:path w="5031105" h="621664">
                  <a:moveTo>
                    <a:pt x="1151216" y="430022"/>
                  </a:moveTo>
                  <a:lnTo>
                    <a:pt x="1149959" y="417449"/>
                  </a:lnTo>
                  <a:lnTo>
                    <a:pt x="1137323" y="418719"/>
                  </a:lnTo>
                  <a:lnTo>
                    <a:pt x="1138580" y="431304"/>
                  </a:lnTo>
                  <a:lnTo>
                    <a:pt x="1151216" y="430022"/>
                  </a:lnTo>
                  <a:close/>
                </a:path>
                <a:path w="5031105" h="621664">
                  <a:moveTo>
                    <a:pt x="1166050" y="63500"/>
                  </a:moveTo>
                  <a:lnTo>
                    <a:pt x="1155484" y="56388"/>
                  </a:lnTo>
                  <a:lnTo>
                    <a:pt x="1148435" y="66929"/>
                  </a:lnTo>
                  <a:lnTo>
                    <a:pt x="1159002" y="74041"/>
                  </a:lnTo>
                  <a:lnTo>
                    <a:pt x="1166050" y="63500"/>
                  </a:lnTo>
                  <a:close/>
                </a:path>
                <a:path w="5031105" h="621664">
                  <a:moveTo>
                    <a:pt x="1176489" y="427482"/>
                  </a:moveTo>
                  <a:lnTo>
                    <a:pt x="1175232" y="414909"/>
                  </a:lnTo>
                  <a:lnTo>
                    <a:pt x="1162596" y="416191"/>
                  </a:lnTo>
                  <a:lnTo>
                    <a:pt x="1163726" y="427482"/>
                  </a:lnTo>
                  <a:lnTo>
                    <a:pt x="1163853" y="428752"/>
                  </a:lnTo>
                  <a:lnTo>
                    <a:pt x="1176489" y="427482"/>
                  </a:lnTo>
                  <a:close/>
                </a:path>
                <a:path w="5031105" h="621664">
                  <a:moveTo>
                    <a:pt x="1187183" y="77597"/>
                  </a:moveTo>
                  <a:lnTo>
                    <a:pt x="1176616" y="70485"/>
                  </a:lnTo>
                  <a:lnTo>
                    <a:pt x="1169568" y="81026"/>
                  </a:lnTo>
                  <a:lnTo>
                    <a:pt x="1180134" y="88138"/>
                  </a:lnTo>
                  <a:lnTo>
                    <a:pt x="1187183" y="77597"/>
                  </a:lnTo>
                  <a:close/>
                </a:path>
                <a:path w="5031105" h="621664">
                  <a:moveTo>
                    <a:pt x="1201762" y="424954"/>
                  </a:moveTo>
                  <a:lnTo>
                    <a:pt x="1200619" y="413639"/>
                  </a:lnTo>
                  <a:lnTo>
                    <a:pt x="1200505" y="412369"/>
                  </a:lnTo>
                  <a:lnTo>
                    <a:pt x="1187869" y="413639"/>
                  </a:lnTo>
                  <a:lnTo>
                    <a:pt x="1188999" y="424954"/>
                  </a:lnTo>
                  <a:lnTo>
                    <a:pt x="1189126" y="426212"/>
                  </a:lnTo>
                  <a:lnTo>
                    <a:pt x="1201762" y="424954"/>
                  </a:lnTo>
                  <a:close/>
                </a:path>
                <a:path w="5031105" h="621664">
                  <a:moveTo>
                    <a:pt x="1208316" y="91567"/>
                  </a:moveTo>
                  <a:lnTo>
                    <a:pt x="1197749" y="84582"/>
                  </a:lnTo>
                  <a:lnTo>
                    <a:pt x="1190701" y="95123"/>
                  </a:lnTo>
                  <a:lnTo>
                    <a:pt x="1201267" y="102235"/>
                  </a:lnTo>
                  <a:lnTo>
                    <a:pt x="1208316" y="91567"/>
                  </a:lnTo>
                  <a:close/>
                </a:path>
                <a:path w="5031105" h="621664">
                  <a:moveTo>
                    <a:pt x="1227035" y="422541"/>
                  </a:moveTo>
                  <a:lnTo>
                    <a:pt x="1225892" y="411099"/>
                  </a:lnTo>
                  <a:lnTo>
                    <a:pt x="1225778" y="409829"/>
                  </a:lnTo>
                  <a:lnTo>
                    <a:pt x="1213142" y="411099"/>
                  </a:lnTo>
                  <a:lnTo>
                    <a:pt x="1214272" y="422541"/>
                  </a:lnTo>
                  <a:lnTo>
                    <a:pt x="1214399" y="423799"/>
                  </a:lnTo>
                  <a:lnTo>
                    <a:pt x="1227035" y="422541"/>
                  </a:lnTo>
                  <a:close/>
                </a:path>
                <a:path w="5031105" h="621664">
                  <a:moveTo>
                    <a:pt x="1229448" y="105664"/>
                  </a:moveTo>
                  <a:lnTo>
                    <a:pt x="1218882" y="98679"/>
                  </a:lnTo>
                  <a:lnTo>
                    <a:pt x="1211834" y="109220"/>
                  </a:lnTo>
                  <a:lnTo>
                    <a:pt x="1222400" y="116332"/>
                  </a:lnTo>
                  <a:lnTo>
                    <a:pt x="1229448" y="105664"/>
                  </a:lnTo>
                  <a:close/>
                </a:path>
                <a:path w="5031105" h="621664">
                  <a:moveTo>
                    <a:pt x="1250581" y="119761"/>
                  </a:moveTo>
                  <a:lnTo>
                    <a:pt x="1240015" y="112776"/>
                  </a:lnTo>
                  <a:lnTo>
                    <a:pt x="1232966" y="123317"/>
                  </a:lnTo>
                  <a:lnTo>
                    <a:pt x="1243533" y="130429"/>
                  </a:lnTo>
                  <a:lnTo>
                    <a:pt x="1250581" y="119761"/>
                  </a:lnTo>
                  <a:close/>
                </a:path>
                <a:path w="5031105" h="621664">
                  <a:moveTo>
                    <a:pt x="1252308" y="419989"/>
                  </a:moveTo>
                  <a:lnTo>
                    <a:pt x="1251165" y="408559"/>
                  </a:lnTo>
                  <a:lnTo>
                    <a:pt x="1251051" y="407289"/>
                  </a:lnTo>
                  <a:lnTo>
                    <a:pt x="1238415" y="408559"/>
                  </a:lnTo>
                  <a:lnTo>
                    <a:pt x="1239545" y="419989"/>
                  </a:lnTo>
                  <a:lnTo>
                    <a:pt x="1239672" y="421259"/>
                  </a:lnTo>
                  <a:lnTo>
                    <a:pt x="1252308" y="419989"/>
                  </a:lnTo>
                  <a:close/>
                </a:path>
                <a:path w="5031105" h="621664">
                  <a:moveTo>
                    <a:pt x="1271765" y="133858"/>
                  </a:moveTo>
                  <a:lnTo>
                    <a:pt x="1261148" y="126873"/>
                  </a:lnTo>
                  <a:lnTo>
                    <a:pt x="1254112" y="137414"/>
                  </a:lnTo>
                  <a:lnTo>
                    <a:pt x="1264678" y="144526"/>
                  </a:lnTo>
                  <a:lnTo>
                    <a:pt x="1271765" y="133858"/>
                  </a:lnTo>
                  <a:close/>
                </a:path>
                <a:path w="5031105" h="621664">
                  <a:moveTo>
                    <a:pt x="1277607" y="417449"/>
                  </a:moveTo>
                  <a:lnTo>
                    <a:pt x="1276337" y="404749"/>
                  </a:lnTo>
                  <a:lnTo>
                    <a:pt x="1263688" y="406019"/>
                  </a:lnTo>
                  <a:lnTo>
                    <a:pt x="1264818" y="417449"/>
                  </a:lnTo>
                  <a:lnTo>
                    <a:pt x="1264945" y="418719"/>
                  </a:lnTo>
                  <a:lnTo>
                    <a:pt x="1277607" y="417449"/>
                  </a:lnTo>
                  <a:close/>
                </a:path>
                <a:path w="5031105" h="621664">
                  <a:moveTo>
                    <a:pt x="1292847" y="147955"/>
                  </a:moveTo>
                  <a:lnTo>
                    <a:pt x="1282306" y="140970"/>
                  </a:lnTo>
                  <a:lnTo>
                    <a:pt x="1275194" y="151511"/>
                  </a:lnTo>
                  <a:lnTo>
                    <a:pt x="1285862" y="158496"/>
                  </a:lnTo>
                  <a:lnTo>
                    <a:pt x="1292847" y="147955"/>
                  </a:lnTo>
                  <a:close/>
                </a:path>
                <a:path w="5031105" h="621664">
                  <a:moveTo>
                    <a:pt x="1302880" y="414909"/>
                  </a:moveTo>
                  <a:lnTo>
                    <a:pt x="1301610" y="402209"/>
                  </a:lnTo>
                  <a:lnTo>
                    <a:pt x="1288910" y="403479"/>
                  </a:lnTo>
                  <a:lnTo>
                    <a:pt x="1290180" y="416191"/>
                  </a:lnTo>
                  <a:lnTo>
                    <a:pt x="1302880" y="414909"/>
                  </a:lnTo>
                  <a:close/>
                </a:path>
                <a:path w="5031105" h="621664">
                  <a:moveTo>
                    <a:pt x="1313929" y="162052"/>
                  </a:moveTo>
                  <a:lnTo>
                    <a:pt x="1303388" y="155067"/>
                  </a:lnTo>
                  <a:lnTo>
                    <a:pt x="1296403" y="165608"/>
                  </a:lnTo>
                  <a:lnTo>
                    <a:pt x="1306944" y="172593"/>
                  </a:lnTo>
                  <a:lnTo>
                    <a:pt x="1313929" y="162052"/>
                  </a:lnTo>
                  <a:close/>
                </a:path>
                <a:path w="5031105" h="621664">
                  <a:moveTo>
                    <a:pt x="1328153" y="412369"/>
                  </a:moveTo>
                  <a:lnTo>
                    <a:pt x="1327010" y="400939"/>
                  </a:lnTo>
                  <a:lnTo>
                    <a:pt x="1326883" y="399669"/>
                  </a:lnTo>
                  <a:lnTo>
                    <a:pt x="1314183" y="400939"/>
                  </a:lnTo>
                  <a:lnTo>
                    <a:pt x="1315326" y="412369"/>
                  </a:lnTo>
                  <a:lnTo>
                    <a:pt x="1315453" y="413639"/>
                  </a:lnTo>
                  <a:lnTo>
                    <a:pt x="1328153" y="412369"/>
                  </a:lnTo>
                  <a:close/>
                </a:path>
                <a:path w="5031105" h="621664">
                  <a:moveTo>
                    <a:pt x="1335138" y="176149"/>
                  </a:moveTo>
                  <a:lnTo>
                    <a:pt x="1324597" y="169164"/>
                  </a:lnTo>
                  <a:lnTo>
                    <a:pt x="1317485" y="179705"/>
                  </a:lnTo>
                  <a:lnTo>
                    <a:pt x="1328026" y="186690"/>
                  </a:lnTo>
                  <a:lnTo>
                    <a:pt x="1335138" y="176149"/>
                  </a:lnTo>
                  <a:close/>
                </a:path>
                <a:path w="5031105" h="621664">
                  <a:moveTo>
                    <a:pt x="1353426" y="409829"/>
                  </a:moveTo>
                  <a:lnTo>
                    <a:pt x="1352156" y="397256"/>
                  </a:lnTo>
                  <a:lnTo>
                    <a:pt x="1339456" y="398526"/>
                  </a:lnTo>
                  <a:lnTo>
                    <a:pt x="1340726" y="411099"/>
                  </a:lnTo>
                  <a:lnTo>
                    <a:pt x="1353426" y="409829"/>
                  </a:lnTo>
                  <a:close/>
                </a:path>
                <a:path w="5031105" h="621664">
                  <a:moveTo>
                    <a:pt x="1356220" y="190246"/>
                  </a:moveTo>
                  <a:lnTo>
                    <a:pt x="1345679" y="183261"/>
                  </a:lnTo>
                  <a:lnTo>
                    <a:pt x="1338694" y="193802"/>
                  </a:lnTo>
                  <a:lnTo>
                    <a:pt x="1349235" y="200787"/>
                  </a:lnTo>
                  <a:lnTo>
                    <a:pt x="1356220" y="190246"/>
                  </a:lnTo>
                  <a:close/>
                </a:path>
                <a:path w="5031105" h="621664">
                  <a:moveTo>
                    <a:pt x="1377429" y="204343"/>
                  </a:moveTo>
                  <a:lnTo>
                    <a:pt x="1366761" y="197358"/>
                  </a:lnTo>
                  <a:lnTo>
                    <a:pt x="1359776" y="207899"/>
                  </a:lnTo>
                  <a:lnTo>
                    <a:pt x="1370317" y="214884"/>
                  </a:lnTo>
                  <a:lnTo>
                    <a:pt x="1377429" y="204343"/>
                  </a:lnTo>
                  <a:close/>
                </a:path>
                <a:path w="5031105" h="621664">
                  <a:moveTo>
                    <a:pt x="1378699" y="407289"/>
                  </a:moveTo>
                  <a:lnTo>
                    <a:pt x="1377429" y="394716"/>
                  </a:lnTo>
                  <a:lnTo>
                    <a:pt x="1364729" y="395986"/>
                  </a:lnTo>
                  <a:lnTo>
                    <a:pt x="1365999" y="408559"/>
                  </a:lnTo>
                  <a:lnTo>
                    <a:pt x="1378699" y="407289"/>
                  </a:lnTo>
                  <a:close/>
                </a:path>
                <a:path w="5031105" h="621664">
                  <a:moveTo>
                    <a:pt x="1398511" y="218440"/>
                  </a:moveTo>
                  <a:lnTo>
                    <a:pt x="1387970" y="211328"/>
                  </a:lnTo>
                  <a:lnTo>
                    <a:pt x="1380858" y="221996"/>
                  </a:lnTo>
                  <a:lnTo>
                    <a:pt x="1391526" y="228981"/>
                  </a:lnTo>
                  <a:lnTo>
                    <a:pt x="1398511" y="218440"/>
                  </a:lnTo>
                  <a:close/>
                </a:path>
                <a:path w="5031105" h="621664">
                  <a:moveTo>
                    <a:pt x="1403972" y="404749"/>
                  </a:moveTo>
                  <a:lnTo>
                    <a:pt x="1402702" y="392176"/>
                  </a:lnTo>
                  <a:lnTo>
                    <a:pt x="1390002" y="393446"/>
                  </a:lnTo>
                  <a:lnTo>
                    <a:pt x="1391272" y="406019"/>
                  </a:lnTo>
                  <a:lnTo>
                    <a:pt x="1403972" y="404749"/>
                  </a:lnTo>
                  <a:close/>
                </a:path>
                <a:path w="5031105" h="621664">
                  <a:moveTo>
                    <a:pt x="1419593" y="232537"/>
                  </a:moveTo>
                  <a:lnTo>
                    <a:pt x="1409052" y="225425"/>
                  </a:lnTo>
                  <a:lnTo>
                    <a:pt x="1402067" y="236093"/>
                  </a:lnTo>
                  <a:lnTo>
                    <a:pt x="1412608" y="243078"/>
                  </a:lnTo>
                  <a:lnTo>
                    <a:pt x="1419593" y="232537"/>
                  </a:lnTo>
                  <a:close/>
                </a:path>
                <a:path w="5031105" h="621664">
                  <a:moveTo>
                    <a:pt x="1429245" y="402209"/>
                  </a:moveTo>
                  <a:lnTo>
                    <a:pt x="1427975" y="389636"/>
                  </a:lnTo>
                  <a:lnTo>
                    <a:pt x="1415275" y="390906"/>
                  </a:lnTo>
                  <a:lnTo>
                    <a:pt x="1416545" y="403479"/>
                  </a:lnTo>
                  <a:lnTo>
                    <a:pt x="1429245" y="402209"/>
                  </a:lnTo>
                  <a:close/>
                </a:path>
                <a:path w="5031105" h="621664">
                  <a:moveTo>
                    <a:pt x="1440802" y="246634"/>
                  </a:moveTo>
                  <a:lnTo>
                    <a:pt x="1430261" y="239522"/>
                  </a:lnTo>
                  <a:lnTo>
                    <a:pt x="1423149" y="250190"/>
                  </a:lnTo>
                  <a:lnTo>
                    <a:pt x="1433690" y="257175"/>
                  </a:lnTo>
                  <a:lnTo>
                    <a:pt x="1440802" y="246634"/>
                  </a:lnTo>
                  <a:close/>
                </a:path>
                <a:path w="5031105" h="621664">
                  <a:moveTo>
                    <a:pt x="1461884" y="260731"/>
                  </a:moveTo>
                  <a:lnTo>
                    <a:pt x="1451343" y="253619"/>
                  </a:lnTo>
                  <a:lnTo>
                    <a:pt x="1444358" y="264287"/>
                  </a:lnTo>
                  <a:lnTo>
                    <a:pt x="1454899" y="271272"/>
                  </a:lnTo>
                  <a:lnTo>
                    <a:pt x="1461884" y="260731"/>
                  </a:lnTo>
                  <a:close/>
                </a:path>
                <a:path w="5031105" h="621664">
                  <a:moveTo>
                    <a:pt x="1524622" y="386334"/>
                  </a:moveTo>
                  <a:lnTo>
                    <a:pt x="1444993" y="355981"/>
                  </a:lnTo>
                  <a:lnTo>
                    <a:pt x="1448041" y="386334"/>
                  </a:lnTo>
                  <a:lnTo>
                    <a:pt x="1448117" y="387096"/>
                  </a:lnTo>
                  <a:lnTo>
                    <a:pt x="1448168" y="387604"/>
                  </a:lnTo>
                  <a:lnTo>
                    <a:pt x="1440548" y="388366"/>
                  </a:lnTo>
                  <a:lnTo>
                    <a:pt x="1441678" y="399669"/>
                  </a:lnTo>
                  <a:lnTo>
                    <a:pt x="1441729" y="400189"/>
                  </a:lnTo>
                  <a:lnTo>
                    <a:pt x="1441818" y="400939"/>
                  </a:lnTo>
                  <a:lnTo>
                    <a:pt x="1449425" y="400189"/>
                  </a:lnTo>
                  <a:lnTo>
                    <a:pt x="1448244" y="388366"/>
                  </a:lnTo>
                  <a:lnTo>
                    <a:pt x="1449374" y="399669"/>
                  </a:lnTo>
                  <a:lnTo>
                    <a:pt x="1449425" y="400189"/>
                  </a:lnTo>
                  <a:lnTo>
                    <a:pt x="1452613" y="431800"/>
                  </a:lnTo>
                  <a:lnTo>
                    <a:pt x="1523403" y="387096"/>
                  </a:lnTo>
                  <a:lnTo>
                    <a:pt x="1524622" y="386334"/>
                  </a:lnTo>
                  <a:close/>
                </a:path>
                <a:path w="5031105" h="621664">
                  <a:moveTo>
                    <a:pt x="1524622" y="310134"/>
                  </a:moveTo>
                  <a:lnTo>
                    <a:pt x="1507464" y="280162"/>
                  </a:lnTo>
                  <a:lnTo>
                    <a:pt x="1500339" y="267716"/>
                  </a:lnTo>
                  <a:lnTo>
                    <a:pt x="1482331" y="236220"/>
                  </a:lnTo>
                  <a:lnTo>
                    <a:pt x="1440040" y="299593"/>
                  </a:lnTo>
                  <a:lnTo>
                    <a:pt x="1524622" y="310134"/>
                  </a:lnTo>
                  <a:close/>
                </a:path>
                <a:path w="5031105" h="621664">
                  <a:moveTo>
                    <a:pt x="4273410" y="438658"/>
                  </a:moveTo>
                  <a:lnTo>
                    <a:pt x="4191622" y="462534"/>
                  </a:lnTo>
                  <a:lnTo>
                    <a:pt x="4259821" y="513588"/>
                  </a:lnTo>
                  <a:lnTo>
                    <a:pt x="4265854" y="480314"/>
                  </a:lnTo>
                  <a:lnTo>
                    <a:pt x="4268101" y="467880"/>
                  </a:lnTo>
                  <a:lnTo>
                    <a:pt x="4268152" y="467614"/>
                  </a:lnTo>
                  <a:lnTo>
                    <a:pt x="4273410" y="438658"/>
                  </a:lnTo>
                  <a:close/>
                </a:path>
                <a:path w="5031105" h="621664">
                  <a:moveTo>
                    <a:pt x="4281284" y="472313"/>
                  </a:moveTo>
                  <a:lnTo>
                    <a:pt x="4268711" y="470166"/>
                  </a:lnTo>
                  <a:lnTo>
                    <a:pt x="4266425" y="482600"/>
                  </a:lnTo>
                  <a:lnTo>
                    <a:pt x="4278998" y="484886"/>
                  </a:lnTo>
                  <a:lnTo>
                    <a:pt x="4281284" y="472313"/>
                  </a:lnTo>
                  <a:close/>
                </a:path>
                <a:path w="5031105" h="621664">
                  <a:moveTo>
                    <a:pt x="4306176" y="476885"/>
                  </a:moveTo>
                  <a:lnTo>
                    <a:pt x="4293730" y="474599"/>
                  </a:lnTo>
                  <a:lnTo>
                    <a:pt x="4291444" y="487172"/>
                  </a:lnTo>
                  <a:lnTo>
                    <a:pt x="4304017" y="489458"/>
                  </a:lnTo>
                  <a:lnTo>
                    <a:pt x="4306176" y="476885"/>
                  </a:lnTo>
                  <a:close/>
                </a:path>
                <a:path w="5031105" h="621664">
                  <a:moveTo>
                    <a:pt x="4331195" y="481457"/>
                  </a:moveTo>
                  <a:lnTo>
                    <a:pt x="4318749" y="479171"/>
                  </a:lnTo>
                  <a:lnTo>
                    <a:pt x="4316463" y="491744"/>
                  </a:lnTo>
                  <a:lnTo>
                    <a:pt x="4328909" y="493903"/>
                  </a:lnTo>
                  <a:lnTo>
                    <a:pt x="4331195" y="481457"/>
                  </a:lnTo>
                  <a:close/>
                </a:path>
                <a:path w="5031105" h="621664">
                  <a:moveTo>
                    <a:pt x="4356214" y="486041"/>
                  </a:moveTo>
                  <a:lnTo>
                    <a:pt x="4343768" y="483755"/>
                  </a:lnTo>
                  <a:lnTo>
                    <a:pt x="4341482" y="496189"/>
                  </a:lnTo>
                  <a:lnTo>
                    <a:pt x="4353928" y="498475"/>
                  </a:lnTo>
                  <a:lnTo>
                    <a:pt x="4356214" y="486041"/>
                  </a:lnTo>
                  <a:close/>
                </a:path>
                <a:path w="5031105" h="621664">
                  <a:moveTo>
                    <a:pt x="4381233" y="490601"/>
                  </a:moveTo>
                  <a:lnTo>
                    <a:pt x="4368660" y="488315"/>
                  </a:lnTo>
                  <a:lnTo>
                    <a:pt x="4366501" y="500761"/>
                  </a:lnTo>
                  <a:lnTo>
                    <a:pt x="4378947" y="503047"/>
                  </a:lnTo>
                  <a:lnTo>
                    <a:pt x="4381233" y="490601"/>
                  </a:lnTo>
                  <a:close/>
                </a:path>
                <a:path w="5031105" h="621664">
                  <a:moveTo>
                    <a:pt x="4406252" y="495046"/>
                  </a:moveTo>
                  <a:lnTo>
                    <a:pt x="4393679" y="492760"/>
                  </a:lnTo>
                  <a:lnTo>
                    <a:pt x="4391393" y="505333"/>
                  </a:lnTo>
                  <a:lnTo>
                    <a:pt x="4403966" y="507619"/>
                  </a:lnTo>
                  <a:lnTo>
                    <a:pt x="4406252" y="495046"/>
                  </a:lnTo>
                  <a:close/>
                </a:path>
                <a:path w="5031105" h="621664">
                  <a:moveTo>
                    <a:pt x="4431144" y="499618"/>
                  </a:moveTo>
                  <a:lnTo>
                    <a:pt x="4418698" y="497332"/>
                  </a:lnTo>
                  <a:lnTo>
                    <a:pt x="4416412" y="509905"/>
                  </a:lnTo>
                  <a:lnTo>
                    <a:pt x="4428858" y="512191"/>
                  </a:lnTo>
                  <a:lnTo>
                    <a:pt x="4431144" y="499618"/>
                  </a:lnTo>
                  <a:close/>
                </a:path>
                <a:path w="5031105" h="621664">
                  <a:moveTo>
                    <a:pt x="4456163" y="504190"/>
                  </a:moveTo>
                  <a:lnTo>
                    <a:pt x="4443717" y="501904"/>
                  </a:lnTo>
                  <a:lnTo>
                    <a:pt x="4441431" y="514350"/>
                  </a:lnTo>
                  <a:lnTo>
                    <a:pt x="4453877" y="516636"/>
                  </a:lnTo>
                  <a:lnTo>
                    <a:pt x="4456163" y="504190"/>
                  </a:lnTo>
                  <a:close/>
                </a:path>
                <a:path w="5031105" h="621664">
                  <a:moveTo>
                    <a:pt x="4481182" y="508762"/>
                  </a:moveTo>
                  <a:lnTo>
                    <a:pt x="4468736" y="506476"/>
                  </a:lnTo>
                  <a:lnTo>
                    <a:pt x="4466450" y="518922"/>
                  </a:lnTo>
                  <a:lnTo>
                    <a:pt x="4478896" y="521208"/>
                  </a:lnTo>
                  <a:lnTo>
                    <a:pt x="4481182" y="508762"/>
                  </a:lnTo>
                  <a:close/>
                </a:path>
                <a:path w="5031105" h="621664">
                  <a:moveTo>
                    <a:pt x="4506201" y="513207"/>
                  </a:moveTo>
                  <a:lnTo>
                    <a:pt x="4493628" y="511048"/>
                  </a:lnTo>
                  <a:lnTo>
                    <a:pt x="4491342" y="523494"/>
                  </a:lnTo>
                  <a:lnTo>
                    <a:pt x="4503915" y="525780"/>
                  </a:lnTo>
                  <a:lnTo>
                    <a:pt x="4506201" y="513207"/>
                  </a:lnTo>
                  <a:close/>
                </a:path>
                <a:path w="5031105" h="621664">
                  <a:moveTo>
                    <a:pt x="4531093" y="517779"/>
                  </a:moveTo>
                  <a:lnTo>
                    <a:pt x="4518647" y="515493"/>
                  </a:lnTo>
                  <a:lnTo>
                    <a:pt x="4516361" y="528066"/>
                  </a:lnTo>
                  <a:lnTo>
                    <a:pt x="4528934" y="530352"/>
                  </a:lnTo>
                  <a:lnTo>
                    <a:pt x="4531093" y="517779"/>
                  </a:lnTo>
                  <a:close/>
                </a:path>
                <a:path w="5031105" h="621664">
                  <a:moveTo>
                    <a:pt x="4556112" y="522351"/>
                  </a:moveTo>
                  <a:lnTo>
                    <a:pt x="4543666" y="520065"/>
                  </a:lnTo>
                  <a:lnTo>
                    <a:pt x="4541380" y="532638"/>
                  </a:lnTo>
                  <a:lnTo>
                    <a:pt x="4553826" y="534797"/>
                  </a:lnTo>
                  <a:lnTo>
                    <a:pt x="4556112" y="522351"/>
                  </a:lnTo>
                  <a:close/>
                </a:path>
                <a:path w="5031105" h="621664">
                  <a:moveTo>
                    <a:pt x="4581131" y="526923"/>
                  </a:moveTo>
                  <a:lnTo>
                    <a:pt x="4568685" y="524637"/>
                  </a:lnTo>
                  <a:lnTo>
                    <a:pt x="4566399" y="537083"/>
                  </a:lnTo>
                  <a:lnTo>
                    <a:pt x="4578845" y="539369"/>
                  </a:lnTo>
                  <a:lnTo>
                    <a:pt x="4581131" y="526923"/>
                  </a:lnTo>
                  <a:close/>
                </a:path>
                <a:path w="5031105" h="621664">
                  <a:moveTo>
                    <a:pt x="4606150" y="531495"/>
                  </a:moveTo>
                  <a:lnTo>
                    <a:pt x="4593577" y="529209"/>
                  </a:lnTo>
                  <a:lnTo>
                    <a:pt x="4591418" y="541655"/>
                  </a:lnTo>
                  <a:lnTo>
                    <a:pt x="4603864" y="543941"/>
                  </a:lnTo>
                  <a:lnTo>
                    <a:pt x="4606150" y="531495"/>
                  </a:lnTo>
                  <a:close/>
                </a:path>
                <a:path w="5031105" h="621664">
                  <a:moveTo>
                    <a:pt x="4631169" y="535940"/>
                  </a:moveTo>
                  <a:lnTo>
                    <a:pt x="4618596" y="533654"/>
                  </a:lnTo>
                  <a:lnTo>
                    <a:pt x="4616310" y="546227"/>
                  </a:lnTo>
                  <a:lnTo>
                    <a:pt x="4628883" y="548513"/>
                  </a:lnTo>
                  <a:lnTo>
                    <a:pt x="4631169" y="535940"/>
                  </a:lnTo>
                  <a:close/>
                </a:path>
                <a:path w="5031105" h="621664">
                  <a:moveTo>
                    <a:pt x="4656061" y="540512"/>
                  </a:moveTo>
                  <a:lnTo>
                    <a:pt x="4643615" y="538226"/>
                  </a:lnTo>
                  <a:lnTo>
                    <a:pt x="4641329" y="550799"/>
                  </a:lnTo>
                  <a:lnTo>
                    <a:pt x="4653775" y="553085"/>
                  </a:lnTo>
                  <a:lnTo>
                    <a:pt x="4656061" y="540512"/>
                  </a:lnTo>
                  <a:close/>
                </a:path>
                <a:path w="5031105" h="621664">
                  <a:moveTo>
                    <a:pt x="4681080" y="545084"/>
                  </a:moveTo>
                  <a:lnTo>
                    <a:pt x="4668634" y="542798"/>
                  </a:lnTo>
                  <a:lnTo>
                    <a:pt x="4666348" y="555244"/>
                  </a:lnTo>
                  <a:lnTo>
                    <a:pt x="4678794" y="557530"/>
                  </a:lnTo>
                  <a:lnTo>
                    <a:pt x="4681080" y="545084"/>
                  </a:lnTo>
                  <a:close/>
                </a:path>
                <a:path w="5031105" h="621664">
                  <a:moveTo>
                    <a:pt x="4706099" y="549656"/>
                  </a:moveTo>
                  <a:lnTo>
                    <a:pt x="4693526" y="547370"/>
                  </a:lnTo>
                  <a:lnTo>
                    <a:pt x="4691367" y="559816"/>
                  </a:lnTo>
                  <a:lnTo>
                    <a:pt x="4703813" y="562102"/>
                  </a:lnTo>
                  <a:lnTo>
                    <a:pt x="4706099" y="549656"/>
                  </a:lnTo>
                  <a:close/>
                </a:path>
                <a:path w="5031105" h="621664">
                  <a:moveTo>
                    <a:pt x="4731118" y="554101"/>
                  </a:moveTo>
                  <a:lnTo>
                    <a:pt x="4718545" y="551942"/>
                  </a:lnTo>
                  <a:lnTo>
                    <a:pt x="4716259" y="564388"/>
                  </a:lnTo>
                  <a:lnTo>
                    <a:pt x="4728832" y="566674"/>
                  </a:lnTo>
                  <a:lnTo>
                    <a:pt x="4731118" y="554101"/>
                  </a:lnTo>
                  <a:close/>
                </a:path>
                <a:path w="5031105" h="621664">
                  <a:moveTo>
                    <a:pt x="4756010" y="558673"/>
                  </a:moveTo>
                  <a:lnTo>
                    <a:pt x="4743564" y="556387"/>
                  </a:lnTo>
                  <a:lnTo>
                    <a:pt x="4741278" y="568960"/>
                  </a:lnTo>
                  <a:lnTo>
                    <a:pt x="4753851" y="571246"/>
                  </a:lnTo>
                  <a:lnTo>
                    <a:pt x="4756010" y="558673"/>
                  </a:lnTo>
                  <a:close/>
                </a:path>
                <a:path w="5031105" h="621664">
                  <a:moveTo>
                    <a:pt x="4781029" y="563245"/>
                  </a:moveTo>
                  <a:lnTo>
                    <a:pt x="4768583" y="560959"/>
                  </a:lnTo>
                  <a:lnTo>
                    <a:pt x="4766297" y="573532"/>
                  </a:lnTo>
                  <a:lnTo>
                    <a:pt x="4778743" y="575691"/>
                  </a:lnTo>
                  <a:lnTo>
                    <a:pt x="4781029" y="563245"/>
                  </a:lnTo>
                  <a:close/>
                </a:path>
                <a:path w="5031105" h="621664">
                  <a:moveTo>
                    <a:pt x="4806048" y="567817"/>
                  </a:moveTo>
                  <a:lnTo>
                    <a:pt x="4793602" y="565531"/>
                  </a:lnTo>
                  <a:lnTo>
                    <a:pt x="4791316" y="577977"/>
                  </a:lnTo>
                  <a:lnTo>
                    <a:pt x="4803762" y="580263"/>
                  </a:lnTo>
                  <a:lnTo>
                    <a:pt x="4806048" y="567817"/>
                  </a:lnTo>
                  <a:close/>
                </a:path>
                <a:path w="5031105" h="621664">
                  <a:moveTo>
                    <a:pt x="4831067" y="572389"/>
                  </a:moveTo>
                  <a:lnTo>
                    <a:pt x="4818494" y="570103"/>
                  </a:lnTo>
                  <a:lnTo>
                    <a:pt x="4816208" y="582549"/>
                  </a:lnTo>
                  <a:lnTo>
                    <a:pt x="4828781" y="584835"/>
                  </a:lnTo>
                  <a:lnTo>
                    <a:pt x="4831067" y="572389"/>
                  </a:lnTo>
                  <a:close/>
                </a:path>
                <a:path w="5031105" h="621664">
                  <a:moveTo>
                    <a:pt x="4856086" y="576834"/>
                  </a:moveTo>
                  <a:lnTo>
                    <a:pt x="4843513" y="574548"/>
                  </a:lnTo>
                  <a:lnTo>
                    <a:pt x="4841227" y="587121"/>
                  </a:lnTo>
                  <a:lnTo>
                    <a:pt x="4853800" y="589407"/>
                  </a:lnTo>
                  <a:lnTo>
                    <a:pt x="4856086" y="576834"/>
                  </a:lnTo>
                  <a:close/>
                </a:path>
                <a:path w="5031105" h="621664">
                  <a:moveTo>
                    <a:pt x="4880978" y="581406"/>
                  </a:moveTo>
                  <a:lnTo>
                    <a:pt x="4868532" y="579120"/>
                  </a:lnTo>
                  <a:lnTo>
                    <a:pt x="4866246" y="591693"/>
                  </a:lnTo>
                  <a:lnTo>
                    <a:pt x="4878692" y="593979"/>
                  </a:lnTo>
                  <a:lnTo>
                    <a:pt x="4880978" y="581406"/>
                  </a:lnTo>
                  <a:close/>
                </a:path>
                <a:path w="5031105" h="621664">
                  <a:moveTo>
                    <a:pt x="4905997" y="585978"/>
                  </a:moveTo>
                  <a:lnTo>
                    <a:pt x="4893551" y="583692"/>
                  </a:lnTo>
                  <a:lnTo>
                    <a:pt x="4891265" y="596138"/>
                  </a:lnTo>
                  <a:lnTo>
                    <a:pt x="4903711" y="598424"/>
                  </a:lnTo>
                  <a:lnTo>
                    <a:pt x="4905997" y="585978"/>
                  </a:lnTo>
                  <a:close/>
                </a:path>
                <a:path w="5031105" h="621664">
                  <a:moveTo>
                    <a:pt x="4931016" y="590550"/>
                  </a:moveTo>
                  <a:lnTo>
                    <a:pt x="4918443" y="588264"/>
                  </a:lnTo>
                  <a:lnTo>
                    <a:pt x="4916284" y="600710"/>
                  </a:lnTo>
                  <a:lnTo>
                    <a:pt x="4928730" y="602996"/>
                  </a:lnTo>
                  <a:lnTo>
                    <a:pt x="4931016" y="590550"/>
                  </a:lnTo>
                  <a:close/>
                </a:path>
                <a:path w="5031105" h="621664">
                  <a:moveTo>
                    <a:pt x="4956035" y="594995"/>
                  </a:moveTo>
                  <a:lnTo>
                    <a:pt x="4943462" y="592836"/>
                  </a:lnTo>
                  <a:lnTo>
                    <a:pt x="4941176" y="605282"/>
                  </a:lnTo>
                  <a:lnTo>
                    <a:pt x="4953749" y="607568"/>
                  </a:lnTo>
                  <a:lnTo>
                    <a:pt x="4956035" y="594995"/>
                  </a:lnTo>
                  <a:close/>
                </a:path>
                <a:path w="5031105" h="621664">
                  <a:moveTo>
                    <a:pt x="4980927" y="599567"/>
                  </a:moveTo>
                  <a:lnTo>
                    <a:pt x="4968481" y="597281"/>
                  </a:lnTo>
                  <a:lnTo>
                    <a:pt x="4966195" y="609854"/>
                  </a:lnTo>
                  <a:lnTo>
                    <a:pt x="4978768" y="612140"/>
                  </a:lnTo>
                  <a:lnTo>
                    <a:pt x="4980927" y="599567"/>
                  </a:lnTo>
                  <a:close/>
                </a:path>
                <a:path w="5031105" h="621664">
                  <a:moveTo>
                    <a:pt x="5005946" y="604139"/>
                  </a:moveTo>
                  <a:lnTo>
                    <a:pt x="4993500" y="601853"/>
                  </a:lnTo>
                  <a:lnTo>
                    <a:pt x="4991214" y="614426"/>
                  </a:lnTo>
                  <a:lnTo>
                    <a:pt x="5003660" y="616585"/>
                  </a:lnTo>
                  <a:lnTo>
                    <a:pt x="5005946" y="604139"/>
                  </a:lnTo>
                  <a:close/>
                </a:path>
                <a:path w="5031105" h="621664">
                  <a:moveTo>
                    <a:pt x="5030965" y="608711"/>
                  </a:moveTo>
                  <a:lnTo>
                    <a:pt x="5018519" y="606425"/>
                  </a:lnTo>
                  <a:lnTo>
                    <a:pt x="5016233" y="618871"/>
                  </a:lnTo>
                  <a:lnTo>
                    <a:pt x="5028679" y="621157"/>
                  </a:lnTo>
                  <a:lnTo>
                    <a:pt x="5030965" y="6087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2514600" y="6476999"/>
              <a:ext cx="1447800" cy="381000"/>
            </a:xfrm>
            <a:custGeom>
              <a:avLst/>
              <a:gdLst/>
              <a:ahLst/>
              <a:cxnLst/>
              <a:rect l="l" t="t" r="r" b="b"/>
              <a:pathLst>
                <a:path w="1447800" h="381000">
                  <a:moveTo>
                    <a:pt x="1447800" y="0"/>
                  </a:moveTo>
                  <a:lnTo>
                    <a:pt x="0" y="0"/>
                  </a:lnTo>
                  <a:lnTo>
                    <a:pt x="0" y="380999"/>
                  </a:lnTo>
                  <a:lnTo>
                    <a:pt x="1447800" y="380999"/>
                  </a:lnTo>
                  <a:lnTo>
                    <a:pt x="1447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2514600" y="6476999"/>
              <a:ext cx="1447800" cy="381000"/>
            </a:xfrm>
            <a:custGeom>
              <a:avLst/>
              <a:gdLst/>
              <a:ahLst/>
              <a:cxnLst/>
              <a:rect l="l" t="t" r="r" b="b"/>
              <a:pathLst>
                <a:path w="1447800" h="381000">
                  <a:moveTo>
                    <a:pt x="0" y="380999"/>
                  </a:moveTo>
                  <a:lnTo>
                    <a:pt x="1447800" y="380999"/>
                  </a:lnTo>
                  <a:lnTo>
                    <a:pt x="1447800" y="0"/>
                  </a:lnTo>
                  <a:lnTo>
                    <a:pt x="0" y="0"/>
                  </a:lnTo>
                  <a:lnTo>
                    <a:pt x="0" y="380999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879754" y="132080"/>
            <a:ext cx="11430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FF3399"/>
                </a:solidFill>
                <a:latin typeface="Arial MT"/>
                <a:cs typeface="Arial MT"/>
              </a:rPr>
              <a:t>Execution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908554" y="6512762"/>
            <a:ext cx="597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3399"/>
                </a:solidFill>
                <a:latin typeface="Arial MT"/>
                <a:cs typeface="Arial MT"/>
              </a:rPr>
              <a:t>Stack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2514600" y="6591300"/>
            <a:ext cx="381000" cy="76200"/>
          </a:xfrm>
          <a:custGeom>
            <a:avLst/>
            <a:gdLst/>
            <a:ahLst/>
            <a:cxnLst/>
            <a:rect l="l" t="t" r="r" b="b"/>
            <a:pathLst>
              <a:path w="381000" h="76200">
                <a:moveTo>
                  <a:pt x="304800" y="0"/>
                </a:moveTo>
                <a:lnTo>
                  <a:pt x="304800" y="76200"/>
                </a:lnTo>
                <a:lnTo>
                  <a:pt x="368300" y="44450"/>
                </a:lnTo>
                <a:lnTo>
                  <a:pt x="317500" y="44450"/>
                </a:lnTo>
                <a:lnTo>
                  <a:pt x="317500" y="31750"/>
                </a:lnTo>
                <a:lnTo>
                  <a:pt x="368300" y="31750"/>
                </a:lnTo>
                <a:lnTo>
                  <a:pt x="304800" y="0"/>
                </a:lnTo>
                <a:close/>
              </a:path>
              <a:path w="381000" h="76200">
                <a:moveTo>
                  <a:pt x="30480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304800" y="44450"/>
                </a:lnTo>
                <a:lnTo>
                  <a:pt x="304800" y="31750"/>
                </a:lnTo>
                <a:close/>
              </a:path>
              <a:path w="381000" h="76200">
                <a:moveTo>
                  <a:pt x="368300" y="31750"/>
                </a:moveTo>
                <a:lnTo>
                  <a:pt x="317500" y="31750"/>
                </a:lnTo>
                <a:lnTo>
                  <a:pt x="317500" y="44450"/>
                </a:lnTo>
                <a:lnTo>
                  <a:pt x="368300" y="44450"/>
                </a:lnTo>
                <a:lnTo>
                  <a:pt x="381000" y="38100"/>
                </a:lnTo>
                <a:lnTo>
                  <a:pt x="36830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547242"/>
            <a:ext cx="61226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Summary</a:t>
            </a:r>
            <a:r>
              <a:rPr b="0" spc="-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of</a:t>
            </a:r>
            <a:r>
              <a:rPr b="0" spc="-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space</a:t>
            </a:r>
            <a:r>
              <a:rPr b="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 MT"/>
                <a:cs typeface="Arial MT"/>
              </a:rPr>
              <a:t>complexity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24102"/>
            <a:ext cx="8065770" cy="427037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marR="545465" indent="-342900">
              <a:lnSpc>
                <a:spcPct val="80000"/>
              </a:lnSpc>
              <a:spcBef>
                <a:spcPts val="675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space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needed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program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depends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3399"/>
                </a:solidFill>
                <a:latin typeface="Arial MT"/>
                <a:cs typeface="Arial MT"/>
              </a:rPr>
              <a:t>several </a:t>
            </a:r>
            <a:r>
              <a:rPr sz="2400" spc="-10" dirty="0">
                <a:latin typeface="Arial MT"/>
                <a:cs typeface="Arial MT"/>
              </a:rPr>
              <a:t>factors.</a:t>
            </a:r>
            <a:endParaRPr sz="2400">
              <a:latin typeface="Arial MT"/>
              <a:cs typeface="Arial MT"/>
            </a:endParaRPr>
          </a:p>
          <a:p>
            <a:pPr marL="355600" marR="5080" indent="-342900">
              <a:lnSpc>
                <a:spcPct val="80000"/>
              </a:lnSpc>
              <a:spcBef>
                <a:spcPts val="580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We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cannot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make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accurate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analysis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space </a:t>
            </a:r>
            <a:r>
              <a:rPr sz="2400" dirty="0">
                <a:latin typeface="Arial MT"/>
                <a:cs typeface="Arial MT"/>
              </a:rPr>
              <a:t>requirements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program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unless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know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3399"/>
                </a:solidFill>
                <a:latin typeface="Arial MT"/>
                <a:cs typeface="Arial MT"/>
              </a:rPr>
              <a:t>computer </a:t>
            </a:r>
            <a:r>
              <a:rPr sz="2400" dirty="0">
                <a:solidFill>
                  <a:srgbClr val="FF3399"/>
                </a:solidFill>
                <a:latin typeface="Arial MT"/>
                <a:cs typeface="Arial MT"/>
              </a:rPr>
              <a:t>or</a:t>
            </a:r>
            <a:r>
              <a:rPr sz="2400" spc="-4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399"/>
                </a:solidFill>
                <a:latin typeface="Arial MT"/>
                <a:cs typeface="Arial MT"/>
              </a:rPr>
              <a:t>compile</a:t>
            </a:r>
            <a:r>
              <a:rPr sz="2400" spc="-3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will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used.</a:t>
            </a:r>
            <a:endParaRPr sz="2400">
              <a:latin typeface="Arial MT"/>
              <a:cs typeface="Arial MT"/>
            </a:endParaRPr>
          </a:p>
          <a:p>
            <a:pPr marL="355600" marR="464820" indent="-342900">
              <a:lnSpc>
                <a:spcPct val="8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i="1" dirty="0">
                <a:solidFill>
                  <a:srgbClr val="333399"/>
                </a:solidFill>
                <a:latin typeface="Arial"/>
                <a:cs typeface="Arial"/>
              </a:rPr>
              <a:t>However,</a:t>
            </a:r>
            <a:r>
              <a:rPr sz="2400" i="1" spc="-6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333399"/>
                </a:solidFill>
                <a:latin typeface="Arial"/>
                <a:cs typeface="Arial"/>
              </a:rPr>
              <a:t>we</a:t>
            </a:r>
            <a:r>
              <a:rPr sz="2400" i="1" spc="-7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333399"/>
                </a:solidFill>
                <a:latin typeface="Arial"/>
                <a:cs typeface="Arial"/>
              </a:rPr>
              <a:t>can</a:t>
            </a:r>
            <a:r>
              <a:rPr sz="2400" i="1" spc="-8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333399"/>
                </a:solidFill>
                <a:latin typeface="Arial"/>
                <a:cs typeface="Arial"/>
              </a:rPr>
              <a:t>determine</a:t>
            </a:r>
            <a:r>
              <a:rPr sz="2400" i="1" spc="-6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333399"/>
                </a:solidFill>
                <a:latin typeface="Arial"/>
                <a:cs typeface="Arial"/>
              </a:rPr>
              <a:t>the</a:t>
            </a:r>
            <a:r>
              <a:rPr sz="2400" i="1" spc="-8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333399"/>
                </a:solidFill>
                <a:latin typeface="Arial"/>
                <a:cs typeface="Arial"/>
              </a:rPr>
              <a:t>components</a:t>
            </a:r>
            <a:r>
              <a:rPr sz="2400" i="1" spc="-4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i="1" spc="-20" dirty="0">
                <a:solidFill>
                  <a:srgbClr val="333399"/>
                </a:solidFill>
                <a:latin typeface="Arial"/>
                <a:cs typeface="Arial"/>
              </a:rPr>
              <a:t>that </a:t>
            </a:r>
            <a:r>
              <a:rPr sz="2400" i="1" dirty="0">
                <a:solidFill>
                  <a:srgbClr val="333399"/>
                </a:solidFill>
                <a:latin typeface="Arial"/>
                <a:cs typeface="Arial"/>
              </a:rPr>
              <a:t>depend</a:t>
            </a:r>
            <a:r>
              <a:rPr sz="2400" i="1" spc="-4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333399"/>
                </a:solidFill>
                <a:latin typeface="Arial"/>
                <a:cs typeface="Arial"/>
              </a:rPr>
              <a:t>on</a:t>
            </a:r>
            <a:r>
              <a:rPr sz="2400" i="1" spc="-7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333399"/>
                </a:solidFill>
                <a:latin typeface="Arial"/>
                <a:cs typeface="Arial"/>
              </a:rPr>
              <a:t>the</a:t>
            </a:r>
            <a:r>
              <a:rPr sz="2400" i="1" spc="-7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333399"/>
                </a:solidFill>
                <a:latin typeface="Arial"/>
                <a:cs typeface="Arial"/>
              </a:rPr>
              <a:t>characteristics</a:t>
            </a:r>
            <a:r>
              <a:rPr sz="2400" i="1" spc="-5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333399"/>
                </a:solidFill>
                <a:latin typeface="Arial"/>
                <a:cs typeface="Arial"/>
              </a:rPr>
              <a:t>of</a:t>
            </a:r>
            <a:r>
              <a:rPr sz="2400" i="1" spc="-7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333399"/>
                </a:solidFill>
                <a:latin typeface="Arial"/>
                <a:cs typeface="Arial"/>
              </a:rPr>
              <a:t>the</a:t>
            </a:r>
            <a:r>
              <a:rPr sz="2400" i="1" spc="-10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3399"/>
                </a:solidFill>
                <a:latin typeface="Arial MT"/>
                <a:cs typeface="Arial MT"/>
              </a:rPr>
              <a:t>problem</a:t>
            </a:r>
            <a:r>
              <a:rPr sz="2400" spc="-5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3399"/>
                </a:solidFill>
                <a:latin typeface="Arial MT"/>
                <a:cs typeface="Arial MT"/>
              </a:rPr>
              <a:t>instance</a:t>
            </a:r>
            <a:endParaRPr sz="2400">
              <a:latin typeface="Arial MT"/>
              <a:cs typeface="Arial MT"/>
            </a:endParaRPr>
          </a:p>
          <a:p>
            <a:pPr marL="355600">
              <a:lnSpc>
                <a:spcPts val="1445"/>
              </a:lnSpc>
            </a:pPr>
            <a:r>
              <a:rPr sz="1800" b="1" dirty="0">
                <a:solidFill>
                  <a:srgbClr val="99CC00"/>
                </a:solidFill>
                <a:latin typeface="Arial"/>
                <a:cs typeface="Arial"/>
              </a:rPr>
              <a:t>(e.x.,</a:t>
            </a:r>
            <a:r>
              <a:rPr sz="1800" b="1" spc="-15" dirty="0">
                <a:solidFill>
                  <a:srgbClr val="99CC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99CC00"/>
                </a:solidFill>
                <a:latin typeface="Arial"/>
                <a:cs typeface="Arial"/>
              </a:rPr>
              <a:t>the</a:t>
            </a:r>
            <a:r>
              <a:rPr sz="1800" b="1" spc="-10" dirty="0">
                <a:solidFill>
                  <a:srgbClr val="99CC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99CC00"/>
                </a:solidFill>
                <a:latin typeface="Arial"/>
                <a:cs typeface="Arial"/>
              </a:rPr>
              <a:t>number</a:t>
            </a:r>
            <a:r>
              <a:rPr sz="1800" b="1" spc="-5" dirty="0">
                <a:solidFill>
                  <a:srgbClr val="99CC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99CC00"/>
                </a:solidFill>
                <a:latin typeface="Arial"/>
                <a:cs typeface="Arial"/>
              </a:rPr>
              <a:t>of</a:t>
            </a:r>
            <a:r>
              <a:rPr sz="1800" b="1" spc="-15" dirty="0">
                <a:solidFill>
                  <a:srgbClr val="99CC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99CC00"/>
                </a:solidFill>
                <a:latin typeface="Arial"/>
                <a:cs typeface="Arial"/>
              </a:rPr>
              <a:t>inputs</a:t>
            </a:r>
            <a:r>
              <a:rPr sz="1800" b="1" spc="-20" dirty="0">
                <a:solidFill>
                  <a:srgbClr val="99CC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99CC00"/>
                </a:solidFill>
                <a:latin typeface="Arial"/>
                <a:cs typeface="Arial"/>
              </a:rPr>
              <a:t>and</a:t>
            </a:r>
            <a:r>
              <a:rPr sz="1800" b="1" spc="-10" dirty="0">
                <a:solidFill>
                  <a:srgbClr val="99CC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99CC00"/>
                </a:solidFill>
                <a:latin typeface="Arial"/>
                <a:cs typeface="Arial"/>
              </a:rPr>
              <a:t>outputs</a:t>
            </a:r>
            <a:r>
              <a:rPr sz="1800" b="1" spc="-20" dirty="0">
                <a:solidFill>
                  <a:srgbClr val="99CC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99CC00"/>
                </a:solidFill>
                <a:latin typeface="Arial"/>
                <a:cs typeface="Arial"/>
              </a:rPr>
              <a:t>or</a:t>
            </a:r>
            <a:r>
              <a:rPr sz="1800" b="1" spc="-15" dirty="0">
                <a:solidFill>
                  <a:srgbClr val="99CC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99CC00"/>
                </a:solidFill>
                <a:latin typeface="Arial"/>
                <a:cs typeface="Arial"/>
              </a:rPr>
              <a:t>magnitude</a:t>
            </a:r>
            <a:r>
              <a:rPr sz="1800" b="1" spc="-20" dirty="0">
                <a:solidFill>
                  <a:srgbClr val="99CC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99CC00"/>
                </a:solidFill>
                <a:latin typeface="Arial"/>
                <a:cs typeface="Arial"/>
              </a:rPr>
              <a:t>of</a:t>
            </a:r>
            <a:r>
              <a:rPr sz="1800" b="1" spc="-5" dirty="0">
                <a:solidFill>
                  <a:srgbClr val="99CC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99CC00"/>
                </a:solidFill>
                <a:latin typeface="Arial"/>
                <a:cs typeface="Arial"/>
              </a:rPr>
              <a:t>the</a:t>
            </a:r>
            <a:r>
              <a:rPr sz="1800" b="1" spc="-15" dirty="0">
                <a:solidFill>
                  <a:srgbClr val="99CC0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99CC00"/>
                </a:solidFill>
                <a:latin typeface="Arial"/>
                <a:cs typeface="Arial"/>
              </a:rPr>
              <a:t>numbers</a:t>
            </a:r>
            <a:endParaRPr sz="1800">
              <a:latin typeface="Arial"/>
              <a:cs typeface="Arial"/>
            </a:endParaRPr>
          </a:p>
          <a:p>
            <a:pPr marL="355600">
              <a:lnSpc>
                <a:spcPts val="2585"/>
              </a:lnSpc>
            </a:pPr>
            <a:r>
              <a:rPr sz="1800" b="1" dirty="0">
                <a:solidFill>
                  <a:srgbClr val="99CC00"/>
                </a:solidFill>
                <a:latin typeface="Arial"/>
                <a:cs typeface="Arial"/>
              </a:rPr>
              <a:t>involved</a:t>
            </a:r>
            <a:r>
              <a:rPr sz="1800" b="1" spc="15" dirty="0">
                <a:solidFill>
                  <a:srgbClr val="99CC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99CC00"/>
                </a:solidFill>
                <a:latin typeface="Arial"/>
                <a:cs typeface="Arial"/>
              </a:rPr>
              <a:t>)</a:t>
            </a:r>
            <a:r>
              <a:rPr sz="1800" b="1" spc="120" dirty="0">
                <a:solidFill>
                  <a:srgbClr val="99CC00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333399"/>
                </a:solidFill>
                <a:latin typeface="Arial"/>
                <a:cs typeface="Arial"/>
              </a:rPr>
              <a:t>to</a:t>
            </a:r>
            <a:r>
              <a:rPr sz="2400" i="1" spc="-4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333399"/>
                </a:solidFill>
                <a:latin typeface="Arial"/>
                <a:cs typeface="Arial"/>
              </a:rPr>
              <a:t>be</a:t>
            </a:r>
            <a:r>
              <a:rPr sz="2400" i="1" spc="-3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333399"/>
                </a:solidFill>
                <a:latin typeface="Arial"/>
                <a:cs typeface="Arial"/>
              </a:rPr>
              <a:t>solved.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2400">
              <a:latin typeface="Arial"/>
              <a:cs typeface="Arial"/>
            </a:endParaRPr>
          </a:p>
          <a:p>
            <a:pPr marL="1205865" marR="175260" indent="-736600">
              <a:lnSpc>
                <a:spcPct val="80000"/>
              </a:lnSpc>
            </a:pPr>
            <a:r>
              <a:rPr sz="2000" spc="-10" dirty="0">
                <a:latin typeface="Arial MT"/>
                <a:cs typeface="Arial MT"/>
              </a:rPr>
              <a:t>Ex:-</a:t>
            </a:r>
            <a:r>
              <a:rPr sz="2000" dirty="0">
                <a:latin typeface="Arial MT"/>
                <a:cs typeface="Arial MT"/>
              </a:rPr>
              <a:t>1.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Space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requirements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 program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sorts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 elements</a:t>
            </a:r>
            <a:r>
              <a:rPr sz="2000" spc="-25" dirty="0">
                <a:latin typeface="Arial MT"/>
                <a:cs typeface="Arial MT"/>
              </a:rPr>
              <a:t> can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expressed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function</a:t>
            </a:r>
            <a:r>
              <a:rPr sz="2000" spc="-3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of</a:t>
            </a:r>
            <a:r>
              <a:rPr sz="2000" spc="-25" dirty="0">
                <a:solidFill>
                  <a:srgbClr val="FF3399"/>
                </a:solidFill>
                <a:latin typeface="Arial MT"/>
                <a:cs typeface="Arial MT"/>
              </a:rPr>
              <a:t> n.</a:t>
            </a:r>
            <a:endParaRPr sz="2000">
              <a:latin typeface="Arial MT"/>
              <a:cs typeface="Arial MT"/>
            </a:endParaRPr>
          </a:p>
          <a:p>
            <a:pPr marL="958850">
              <a:lnSpc>
                <a:spcPts val="2160"/>
              </a:lnSpc>
            </a:pPr>
            <a:r>
              <a:rPr sz="2000" dirty="0">
                <a:latin typeface="Arial MT"/>
                <a:cs typeface="Arial MT"/>
              </a:rPr>
              <a:t>2.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Space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requirements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program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adds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two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m×n</a:t>
            </a:r>
            <a:endParaRPr sz="2000">
              <a:latin typeface="Arial MT"/>
              <a:cs typeface="Arial MT"/>
            </a:endParaRPr>
          </a:p>
          <a:p>
            <a:pPr marL="1275715">
              <a:lnSpc>
                <a:spcPts val="2160"/>
              </a:lnSpc>
            </a:pPr>
            <a:r>
              <a:rPr sz="2000" dirty="0">
                <a:latin typeface="Arial MT"/>
                <a:cs typeface="Arial MT"/>
              </a:rPr>
              <a:t>matrices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expressed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function</a:t>
            </a:r>
            <a:r>
              <a:rPr sz="2000" spc="-4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of</a:t>
            </a:r>
            <a:r>
              <a:rPr sz="2000" spc="-1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m,</a:t>
            </a:r>
            <a:r>
              <a:rPr sz="2000" spc="-3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FF3399"/>
                </a:solidFill>
                <a:latin typeface="Arial MT"/>
                <a:cs typeface="Arial MT"/>
              </a:rPr>
              <a:t>n.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3444" y="987297"/>
            <a:ext cx="7397115" cy="4600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Contd..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ts val="2280"/>
              </a:lnSpc>
              <a:buChar char="–"/>
              <a:tabLst>
                <a:tab pos="299085" algn="l"/>
              </a:tabLst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size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instruction</a:t>
            </a:r>
            <a:r>
              <a:rPr sz="2000" spc="-6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space</a:t>
            </a:r>
            <a:r>
              <a:rPr sz="2000" spc="-4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independent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problem</a:t>
            </a:r>
            <a:endParaRPr sz="2000">
              <a:latin typeface="Arial MT"/>
              <a:cs typeface="Arial MT"/>
            </a:endParaRPr>
          </a:p>
          <a:p>
            <a:pPr marL="299085">
              <a:lnSpc>
                <a:spcPts val="2280"/>
              </a:lnSpc>
            </a:pPr>
            <a:r>
              <a:rPr sz="2000" dirty="0">
                <a:latin typeface="Arial MT"/>
                <a:cs typeface="Arial MT"/>
              </a:rPr>
              <a:t>instance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solved.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85"/>
              </a:spcBef>
            </a:pPr>
            <a:endParaRPr sz="2000">
              <a:latin typeface="Arial MT"/>
              <a:cs typeface="Arial MT"/>
            </a:endParaRPr>
          </a:p>
          <a:p>
            <a:pPr marL="295910" marR="250825" indent="-283845" algn="just">
              <a:lnSpc>
                <a:spcPts val="2160"/>
              </a:lnSpc>
              <a:buChar char="–"/>
              <a:tabLst>
                <a:tab pos="299085" algn="l"/>
              </a:tabLst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contribution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constants</a:t>
            </a:r>
            <a:r>
              <a:rPr sz="2000" spc="-7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and</a:t>
            </a:r>
            <a:r>
              <a:rPr sz="2000" spc="-3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simple</a:t>
            </a:r>
            <a:r>
              <a:rPr sz="2000" spc="-1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variables</a:t>
            </a:r>
            <a:r>
              <a:rPr sz="2000" spc="-3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the 	</a:t>
            </a:r>
            <a:r>
              <a:rPr sz="2000" dirty="0">
                <a:latin typeface="Arial MT"/>
                <a:cs typeface="Arial MT"/>
              </a:rPr>
              <a:t>data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space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also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independent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problem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instance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be 	</a:t>
            </a:r>
            <a:r>
              <a:rPr sz="2000" spc="-10" dirty="0">
                <a:latin typeface="Arial MT"/>
                <a:cs typeface="Arial MT"/>
              </a:rPr>
              <a:t>solved.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50"/>
              </a:spcBef>
              <a:buFont typeface="Arial MT"/>
              <a:buChar char="–"/>
            </a:pPr>
            <a:endParaRPr sz="2000">
              <a:latin typeface="Arial MT"/>
              <a:cs typeface="Arial MT"/>
            </a:endParaRPr>
          </a:p>
          <a:p>
            <a:pPr marL="295910" marR="238125" indent="-283845" algn="just">
              <a:lnSpc>
                <a:spcPts val="2160"/>
              </a:lnSpc>
              <a:buChar char="–"/>
              <a:tabLst>
                <a:tab pos="299085" algn="l"/>
              </a:tabLst>
            </a:pPr>
            <a:r>
              <a:rPr sz="2000" dirty="0">
                <a:latin typeface="Arial MT"/>
                <a:cs typeface="Arial MT"/>
              </a:rPr>
              <a:t>Most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0" dirty="0">
                <a:latin typeface="Arial MT"/>
                <a:cs typeface="Arial MT"/>
              </a:rPr>
              <a:t> 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dynamically</a:t>
            </a:r>
            <a:r>
              <a:rPr sz="2000" spc="-2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allocated</a:t>
            </a:r>
            <a:r>
              <a:rPr sz="2000" spc="-2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memory</a:t>
            </a:r>
            <a:r>
              <a:rPr sz="2000" dirty="0">
                <a:latin typeface="Arial MT"/>
                <a:cs typeface="Arial MT"/>
              </a:rPr>
              <a:t>(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ex.,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arrays,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class 	</a:t>
            </a:r>
            <a:r>
              <a:rPr sz="2000" dirty="0">
                <a:latin typeface="Arial MT"/>
                <a:cs typeface="Arial MT"/>
              </a:rPr>
              <a:t>instances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etc)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depends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problem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instance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solved.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75"/>
              </a:spcBef>
              <a:buFont typeface="Arial MT"/>
              <a:buChar char="–"/>
            </a:pPr>
            <a:endParaRPr sz="2000">
              <a:latin typeface="Arial MT"/>
              <a:cs typeface="Arial MT"/>
            </a:endParaRPr>
          </a:p>
          <a:p>
            <a:pPr marL="299085" indent="-286385">
              <a:lnSpc>
                <a:spcPts val="2280"/>
              </a:lnSpc>
              <a:buChar char="–"/>
              <a:tabLst>
                <a:tab pos="299085" algn="l"/>
              </a:tabLst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environmental</a:t>
            </a:r>
            <a:r>
              <a:rPr sz="2000" spc="-4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stack</a:t>
            </a:r>
            <a:r>
              <a:rPr sz="2000" spc="-4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space</a:t>
            </a:r>
            <a:r>
              <a:rPr sz="2000" spc="-3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generally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independent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the</a:t>
            </a:r>
            <a:endParaRPr sz="2000">
              <a:latin typeface="Arial MT"/>
              <a:cs typeface="Arial MT"/>
            </a:endParaRPr>
          </a:p>
          <a:p>
            <a:pPr marL="299085">
              <a:lnSpc>
                <a:spcPts val="2280"/>
              </a:lnSpc>
            </a:pPr>
            <a:r>
              <a:rPr sz="2000" dirty="0">
                <a:latin typeface="Arial MT"/>
                <a:cs typeface="Arial MT"/>
              </a:rPr>
              <a:t>problem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instance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unless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recursive</a:t>
            </a:r>
            <a:r>
              <a:rPr sz="2000" spc="-4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functions</a:t>
            </a:r>
            <a:r>
              <a:rPr sz="2000" spc="-4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use.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79385" y="242061"/>
            <a:ext cx="11722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0" spc="-10" dirty="0">
                <a:solidFill>
                  <a:srgbClr val="000000"/>
                </a:solidFill>
                <a:latin typeface="Arial MT"/>
                <a:cs typeface="Arial MT"/>
              </a:rPr>
              <a:t>Contd..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80644" y="638301"/>
            <a:ext cx="7672070" cy="5805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0020" marR="351790" indent="-83820">
              <a:lnSpc>
                <a:spcPct val="120000"/>
              </a:lnSpc>
              <a:spcBef>
                <a:spcPts val="100"/>
              </a:spcBef>
              <a:tabLst>
                <a:tab pos="2040889" algn="l"/>
              </a:tabLst>
            </a:pPr>
            <a:r>
              <a:rPr sz="2400" dirty="0">
                <a:latin typeface="Arial MT"/>
                <a:cs typeface="Arial MT"/>
              </a:rPr>
              <a:t>Therefore,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divide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total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space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needed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a </a:t>
            </a:r>
            <a:r>
              <a:rPr sz="2400" dirty="0">
                <a:latin typeface="Arial MT"/>
                <a:cs typeface="Arial MT"/>
              </a:rPr>
              <a:t>program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into</a:t>
            </a:r>
            <a:r>
              <a:rPr sz="2400" dirty="0">
                <a:latin typeface="Arial MT"/>
                <a:cs typeface="Arial MT"/>
              </a:rPr>
              <a:t>	two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parts:</a:t>
            </a:r>
            <a:endParaRPr sz="2400">
              <a:latin typeface="Arial MT"/>
              <a:cs typeface="Arial MT"/>
            </a:endParaRPr>
          </a:p>
          <a:p>
            <a:pPr marL="565785" indent="-337185">
              <a:lnSpc>
                <a:spcPct val="100000"/>
              </a:lnSpc>
              <a:spcBef>
                <a:spcPts val="735"/>
              </a:spcBef>
              <a:buSzPct val="114285"/>
              <a:buAutoNum type="romanLcParenR"/>
              <a:tabLst>
                <a:tab pos="565785" algn="l"/>
              </a:tabLst>
            </a:pPr>
            <a:r>
              <a:rPr sz="2800" dirty="0">
                <a:latin typeface="Arial MT"/>
                <a:cs typeface="Arial MT"/>
              </a:rPr>
              <a:t>Fixed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Space</a:t>
            </a:r>
            <a:r>
              <a:rPr sz="2800" spc="-1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Requirements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(</a:t>
            </a:r>
            <a:r>
              <a:rPr sz="2800" i="1" spc="-25" dirty="0">
                <a:latin typeface="Arial"/>
                <a:cs typeface="Arial"/>
              </a:rPr>
              <a:t>C</a:t>
            </a:r>
            <a:r>
              <a:rPr sz="2800" spc="-25" dirty="0">
                <a:latin typeface="Arial MT"/>
                <a:cs typeface="Arial MT"/>
              </a:rPr>
              <a:t>)</a:t>
            </a:r>
            <a:endParaRPr sz="2800">
              <a:latin typeface="Arial MT"/>
              <a:cs typeface="Arial MT"/>
            </a:endParaRPr>
          </a:p>
          <a:p>
            <a:pPr marL="533400">
              <a:lnSpc>
                <a:spcPct val="100000"/>
              </a:lnSpc>
              <a:spcBef>
                <a:spcPts val="1205"/>
              </a:spcBef>
            </a:pPr>
            <a:r>
              <a:rPr sz="2000" dirty="0">
                <a:solidFill>
                  <a:srgbClr val="CC3300"/>
                </a:solidFill>
                <a:latin typeface="Arial MT"/>
                <a:cs typeface="Arial MT"/>
              </a:rPr>
              <a:t>Independent</a:t>
            </a:r>
            <a:r>
              <a:rPr sz="2000" spc="-55" dirty="0">
                <a:solidFill>
                  <a:srgbClr val="CC33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CC3300"/>
                </a:solidFill>
                <a:latin typeface="Arial MT"/>
                <a:cs typeface="Arial MT"/>
              </a:rPr>
              <a:t>of</a:t>
            </a:r>
            <a:r>
              <a:rPr sz="2000" spc="-30" dirty="0">
                <a:solidFill>
                  <a:srgbClr val="CC33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CC3300"/>
                </a:solidFill>
                <a:latin typeface="Arial MT"/>
                <a:cs typeface="Arial MT"/>
              </a:rPr>
              <a:t>the</a:t>
            </a:r>
            <a:r>
              <a:rPr sz="2000" spc="-30" dirty="0">
                <a:solidFill>
                  <a:srgbClr val="CC33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CC3300"/>
                </a:solidFill>
                <a:latin typeface="Arial MT"/>
                <a:cs typeface="Arial MT"/>
              </a:rPr>
              <a:t>characteristics</a:t>
            </a:r>
            <a:r>
              <a:rPr sz="2000" spc="-55" dirty="0">
                <a:solidFill>
                  <a:srgbClr val="CC33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CC3300"/>
                </a:solidFill>
                <a:latin typeface="Arial MT"/>
                <a:cs typeface="Arial MT"/>
              </a:rPr>
              <a:t>of</a:t>
            </a:r>
            <a:r>
              <a:rPr sz="2000" spc="-30" dirty="0">
                <a:solidFill>
                  <a:srgbClr val="CC33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CC3300"/>
                </a:solidFill>
                <a:latin typeface="Arial MT"/>
                <a:cs typeface="Arial MT"/>
              </a:rPr>
              <a:t>the</a:t>
            </a:r>
            <a:r>
              <a:rPr sz="2000" spc="-30" dirty="0">
                <a:solidFill>
                  <a:srgbClr val="CC33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CC3300"/>
                </a:solidFill>
                <a:latin typeface="Arial MT"/>
                <a:cs typeface="Arial MT"/>
              </a:rPr>
              <a:t>problem</a:t>
            </a:r>
            <a:r>
              <a:rPr sz="2000" spc="-35" dirty="0">
                <a:solidFill>
                  <a:srgbClr val="CC33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CC3300"/>
                </a:solidFill>
                <a:latin typeface="Arial MT"/>
                <a:cs typeface="Arial MT"/>
              </a:rPr>
              <a:t>instance</a:t>
            </a:r>
            <a:r>
              <a:rPr sz="2000" spc="-35" dirty="0">
                <a:solidFill>
                  <a:srgbClr val="CC33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CC3300"/>
                </a:solidFill>
                <a:latin typeface="Arial MT"/>
                <a:cs typeface="Arial MT"/>
              </a:rPr>
              <a:t>(</a:t>
            </a:r>
            <a:r>
              <a:rPr sz="2000" spc="-25" dirty="0">
                <a:solidFill>
                  <a:srgbClr val="CC33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CC3300"/>
                </a:solidFill>
                <a:latin typeface="Arial MT"/>
                <a:cs typeface="Arial MT"/>
              </a:rPr>
              <a:t>I</a:t>
            </a:r>
            <a:r>
              <a:rPr sz="2000" spc="-20" dirty="0">
                <a:solidFill>
                  <a:srgbClr val="CC3300"/>
                </a:solidFill>
                <a:latin typeface="Arial MT"/>
                <a:cs typeface="Arial MT"/>
              </a:rPr>
              <a:t> </a:t>
            </a:r>
            <a:r>
              <a:rPr sz="2000" spc="-50" dirty="0">
                <a:solidFill>
                  <a:srgbClr val="CC3300"/>
                </a:solidFill>
                <a:latin typeface="Arial MT"/>
                <a:cs typeface="Arial MT"/>
              </a:rPr>
              <a:t>)</a:t>
            </a:r>
            <a:endParaRPr sz="2000">
              <a:latin typeface="Arial MT"/>
              <a:cs typeface="Arial MT"/>
            </a:endParaRPr>
          </a:p>
          <a:p>
            <a:pPr marL="989965" lvl="1" indent="-456565">
              <a:lnSpc>
                <a:spcPct val="100000"/>
              </a:lnSpc>
              <a:spcBef>
                <a:spcPts val="755"/>
              </a:spcBef>
              <a:buChar char="•"/>
              <a:tabLst>
                <a:tab pos="989965" algn="l"/>
              </a:tabLst>
            </a:pPr>
            <a:r>
              <a:rPr sz="2000" dirty="0">
                <a:latin typeface="Arial MT"/>
                <a:cs typeface="Arial MT"/>
              </a:rPr>
              <a:t>instruction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space</a:t>
            </a:r>
            <a:endParaRPr sz="2000">
              <a:latin typeface="Arial MT"/>
              <a:cs typeface="Arial MT"/>
            </a:endParaRPr>
          </a:p>
          <a:p>
            <a:pPr marL="989965" lvl="1" indent="-456565">
              <a:lnSpc>
                <a:spcPct val="100000"/>
              </a:lnSpc>
              <a:spcBef>
                <a:spcPts val="480"/>
              </a:spcBef>
              <a:buChar char="•"/>
              <a:tabLst>
                <a:tab pos="989965" algn="l"/>
              </a:tabLst>
            </a:pPr>
            <a:r>
              <a:rPr sz="2000" dirty="0">
                <a:latin typeface="Arial MT"/>
                <a:cs typeface="Arial MT"/>
              </a:rPr>
              <a:t>space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simple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variables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constants.</a:t>
            </a:r>
            <a:endParaRPr sz="2000">
              <a:latin typeface="Arial MT"/>
              <a:cs typeface="Arial MT"/>
            </a:endParaRPr>
          </a:p>
          <a:p>
            <a:pPr marL="550545" indent="-474345">
              <a:lnSpc>
                <a:spcPct val="100000"/>
              </a:lnSpc>
              <a:spcBef>
                <a:spcPts val="650"/>
              </a:spcBef>
              <a:buAutoNum type="romanLcParenR" startAt="2"/>
              <a:tabLst>
                <a:tab pos="550545" algn="l"/>
              </a:tabLst>
            </a:pPr>
            <a:r>
              <a:rPr sz="2800" dirty="0">
                <a:latin typeface="Arial MT"/>
                <a:cs typeface="Arial MT"/>
              </a:rPr>
              <a:t>Variable</a:t>
            </a:r>
            <a:r>
              <a:rPr sz="2800" spc="-1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Space</a:t>
            </a:r>
            <a:r>
              <a:rPr sz="2800" spc="-1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Requirements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(</a:t>
            </a:r>
            <a:r>
              <a:rPr sz="2800" i="1" spc="-10" dirty="0">
                <a:latin typeface="Arial"/>
                <a:cs typeface="Arial"/>
              </a:rPr>
              <a:t>S</a:t>
            </a:r>
            <a:r>
              <a:rPr sz="2775" i="1" spc="-15" baseline="-21021" dirty="0">
                <a:latin typeface="Arial"/>
                <a:cs typeface="Arial"/>
              </a:rPr>
              <a:t>P</a:t>
            </a:r>
            <a:r>
              <a:rPr sz="2800" i="1" spc="-10" dirty="0">
                <a:latin typeface="Arial"/>
                <a:cs typeface="Arial"/>
              </a:rPr>
              <a:t>(I)</a:t>
            </a:r>
            <a:r>
              <a:rPr sz="2800" spc="-10" dirty="0">
                <a:latin typeface="Arial MT"/>
                <a:cs typeface="Arial MT"/>
              </a:rPr>
              <a:t>)</a:t>
            </a:r>
            <a:endParaRPr sz="2800">
              <a:latin typeface="Arial MT"/>
              <a:cs typeface="Arial MT"/>
            </a:endParaRPr>
          </a:p>
          <a:p>
            <a:pPr marL="609600">
              <a:lnSpc>
                <a:spcPct val="100000"/>
              </a:lnSpc>
              <a:spcBef>
                <a:spcPts val="25"/>
              </a:spcBef>
            </a:pPr>
            <a:r>
              <a:rPr sz="2000" dirty="0">
                <a:solidFill>
                  <a:srgbClr val="CC3300"/>
                </a:solidFill>
                <a:latin typeface="Arial MT"/>
                <a:cs typeface="Arial MT"/>
              </a:rPr>
              <a:t>depend</a:t>
            </a:r>
            <a:r>
              <a:rPr sz="2000" spc="-35" dirty="0">
                <a:solidFill>
                  <a:srgbClr val="CC33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CC3300"/>
                </a:solidFill>
                <a:latin typeface="Arial MT"/>
                <a:cs typeface="Arial MT"/>
              </a:rPr>
              <a:t>on</a:t>
            </a:r>
            <a:r>
              <a:rPr sz="2000" spc="-25" dirty="0">
                <a:solidFill>
                  <a:srgbClr val="CC33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CC3300"/>
                </a:solidFill>
                <a:latin typeface="Arial MT"/>
                <a:cs typeface="Arial MT"/>
              </a:rPr>
              <a:t>the</a:t>
            </a:r>
            <a:r>
              <a:rPr sz="2000" spc="-30" dirty="0">
                <a:solidFill>
                  <a:srgbClr val="CC33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CC3300"/>
                </a:solidFill>
                <a:latin typeface="Arial MT"/>
                <a:cs typeface="Arial MT"/>
              </a:rPr>
              <a:t>characteristics</a:t>
            </a:r>
            <a:r>
              <a:rPr sz="2000" spc="-50" dirty="0">
                <a:solidFill>
                  <a:srgbClr val="CC33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CC3300"/>
                </a:solidFill>
                <a:latin typeface="Arial MT"/>
                <a:cs typeface="Arial MT"/>
              </a:rPr>
              <a:t>of</a:t>
            </a:r>
            <a:r>
              <a:rPr sz="2000" spc="-30" dirty="0">
                <a:solidFill>
                  <a:srgbClr val="CC33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CC3300"/>
                </a:solidFill>
                <a:latin typeface="Arial MT"/>
                <a:cs typeface="Arial MT"/>
              </a:rPr>
              <a:t>the</a:t>
            </a:r>
            <a:r>
              <a:rPr sz="2000" spc="-30" dirty="0">
                <a:solidFill>
                  <a:srgbClr val="CC33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CC3300"/>
                </a:solidFill>
                <a:latin typeface="Arial MT"/>
                <a:cs typeface="Arial MT"/>
              </a:rPr>
              <a:t>problem</a:t>
            </a:r>
            <a:r>
              <a:rPr sz="2000" spc="-30" dirty="0">
                <a:solidFill>
                  <a:srgbClr val="CC33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CC3300"/>
                </a:solidFill>
                <a:latin typeface="Arial MT"/>
                <a:cs typeface="Arial MT"/>
              </a:rPr>
              <a:t>instance</a:t>
            </a:r>
            <a:r>
              <a:rPr sz="2000" spc="-35" dirty="0">
                <a:solidFill>
                  <a:srgbClr val="CC33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CC3300"/>
                </a:solidFill>
                <a:latin typeface="Arial MT"/>
                <a:cs typeface="Arial MT"/>
              </a:rPr>
              <a:t>(</a:t>
            </a:r>
            <a:r>
              <a:rPr sz="2000" spc="-25" dirty="0">
                <a:solidFill>
                  <a:srgbClr val="CC33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CC3300"/>
                </a:solidFill>
                <a:latin typeface="Arial MT"/>
                <a:cs typeface="Arial MT"/>
              </a:rPr>
              <a:t>I</a:t>
            </a:r>
            <a:r>
              <a:rPr sz="2000" spc="-20" dirty="0">
                <a:solidFill>
                  <a:srgbClr val="CC3300"/>
                </a:solidFill>
                <a:latin typeface="Arial MT"/>
                <a:cs typeface="Arial MT"/>
              </a:rPr>
              <a:t> </a:t>
            </a:r>
            <a:r>
              <a:rPr sz="2000" spc="-50" dirty="0">
                <a:solidFill>
                  <a:srgbClr val="CC3300"/>
                </a:solidFill>
                <a:latin typeface="Arial MT"/>
                <a:cs typeface="Arial MT"/>
              </a:rPr>
              <a:t>)</a:t>
            </a:r>
            <a:endParaRPr sz="2000">
              <a:latin typeface="Arial MT"/>
              <a:cs typeface="Arial MT"/>
            </a:endParaRPr>
          </a:p>
          <a:p>
            <a:pPr marL="989965" lvl="1" indent="-456565">
              <a:lnSpc>
                <a:spcPct val="100000"/>
              </a:lnSpc>
              <a:spcBef>
                <a:spcPts val="480"/>
              </a:spcBef>
              <a:buChar char="•"/>
              <a:tabLst>
                <a:tab pos="989965" algn="l"/>
              </a:tabLst>
            </a:pPr>
            <a:r>
              <a:rPr sz="2000" dirty="0">
                <a:latin typeface="Arial MT"/>
                <a:cs typeface="Arial MT"/>
              </a:rPr>
              <a:t>Number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inputs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outputs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associated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0" dirty="0">
                <a:latin typeface="Arial MT"/>
                <a:cs typeface="Arial MT"/>
              </a:rPr>
              <a:t>I</a:t>
            </a:r>
            <a:endParaRPr sz="2000">
              <a:latin typeface="Arial MT"/>
              <a:cs typeface="Arial MT"/>
            </a:endParaRPr>
          </a:p>
          <a:p>
            <a:pPr marL="990600" marR="60960" lvl="1" indent="-457200">
              <a:lnSpc>
                <a:spcPct val="100000"/>
              </a:lnSpc>
              <a:spcBef>
                <a:spcPts val="480"/>
              </a:spcBef>
              <a:buChar char="•"/>
              <a:tabLst>
                <a:tab pos="990600" algn="l"/>
                <a:tab pos="3569335" algn="l"/>
              </a:tabLst>
            </a:pPr>
            <a:r>
              <a:rPr sz="2000" dirty="0">
                <a:latin typeface="Arial MT"/>
                <a:cs typeface="Arial MT"/>
              </a:rPr>
              <a:t>recursive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stack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space</a:t>
            </a:r>
            <a:r>
              <a:rPr sz="2000" dirty="0">
                <a:latin typeface="Arial MT"/>
                <a:cs typeface="Arial MT"/>
              </a:rPr>
              <a:t>	(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formal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parameters,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local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variables, </a:t>
            </a:r>
            <a:r>
              <a:rPr sz="2000" dirty="0">
                <a:latin typeface="Arial MT"/>
                <a:cs typeface="Arial MT"/>
              </a:rPr>
              <a:t>return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address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).</a:t>
            </a:r>
            <a:endParaRPr sz="2000">
              <a:latin typeface="Arial MT"/>
              <a:cs typeface="Arial MT"/>
            </a:endParaRPr>
          </a:p>
          <a:p>
            <a:pPr marL="609600" marR="55880" indent="-533400">
              <a:lnSpc>
                <a:spcPct val="100000"/>
              </a:lnSpc>
              <a:spcBef>
                <a:spcPts val="575"/>
              </a:spcBef>
              <a:tabLst>
                <a:tab pos="608965" algn="l"/>
                <a:tab pos="7404734" algn="l"/>
              </a:tabLst>
            </a:pPr>
            <a:r>
              <a:rPr sz="2400" spc="-50" dirty="0">
                <a:latin typeface="Arial MT"/>
                <a:cs typeface="Arial MT"/>
              </a:rPr>
              <a:t>–</a:t>
            </a:r>
            <a:r>
              <a:rPr sz="2400" dirty="0">
                <a:latin typeface="Arial MT"/>
                <a:cs typeface="Arial MT"/>
              </a:rPr>
              <a:t>	Therefore,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space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requirement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any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problem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0" dirty="0">
                <a:latin typeface="Arial MT"/>
                <a:cs typeface="Arial MT"/>
              </a:rPr>
              <a:t>P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written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as</a:t>
            </a:r>
            <a:endParaRPr sz="2400">
              <a:latin typeface="Arial MT"/>
              <a:cs typeface="Arial MT"/>
            </a:endParaRPr>
          </a:p>
          <a:p>
            <a:pPr marL="66421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solidFill>
                  <a:srgbClr val="FF3399"/>
                </a:solidFill>
                <a:latin typeface="Arial MT"/>
                <a:cs typeface="Arial MT"/>
              </a:rPr>
              <a:t>S(p)=</a:t>
            </a:r>
            <a:r>
              <a:rPr sz="2400" b="1" dirty="0">
                <a:solidFill>
                  <a:srgbClr val="FF3399"/>
                </a:solidFill>
                <a:latin typeface="Arial"/>
                <a:cs typeface="Arial"/>
              </a:rPr>
              <a:t>C</a:t>
            </a:r>
            <a:r>
              <a:rPr sz="2400" b="1" spc="-60" dirty="0">
                <a:solidFill>
                  <a:srgbClr val="FF3399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3399"/>
                </a:solidFill>
                <a:latin typeface="Arial"/>
                <a:cs typeface="Arial"/>
              </a:rPr>
              <a:t>+S</a:t>
            </a:r>
            <a:r>
              <a:rPr sz="2400" b="1" baseline="-20833" dirty="0">
                <a:solidFill>
                  <a:srgbClr val="FF3399"/>
                </a:solidFill>
                <a:latin typeface="Arial"/>
                <a:cs typeface="Arial"/>
              </a:rPr>
              <a:t>p</a:t>
            </a:r>
            <a:r>
              <a:rPr sz="2400" b="1" dirty="0">
                <a:solidFill>
                  <a:srgbClr val="FF3399"/>
                </a:solidFill>
                <a:latin typeface="Arial"/>
                <a:cs typeface="Arial"/>
              </a:rPr>
              <a:t>(</a:t>
            </a:r>
            <a:r>
              <a:rPr sz="2400" b="1" spc="-60" dirty="0">
                <a:solidFill>
                  <a:srgbClr val="FF339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3399"/>
                </a:solidFill>
                <a:latin typeface="Arial"/>
                <a:cs typeface="Arial"/>
              </a:rPr>
              <a:t>Instance</a:t>
            </a:r>
            <a:r>
              <a:rPr sz="1800" b="1" spc="-50" dirty="0">
                <a:solidFill>
                  <a:srgbClr val="FF339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3399"/>
                </a:solidFill>
                <a:latin typeface="Arial"/>
                <a:cs typeface="Arial"/>
              </a:rPr>
              <a:t>characteristics</a:t>
            </a:r>
            <a:r>
              <a:rPr sz="1800" b="1" spc="135" dirty="0">
                <a:solidFill>
                  <a:srgbClr val="FF3399"/>
                </a:solidFill>
                <a:latin typeface="Arial"/>
                <a:cs typeface="Arial"/>
              </a:rPr>
              <a:t> </a:t>
            </a:r>
            <a:r>
              <a:rPr sz="2400" b="1" spc="-50" dirty="0">
                <a:solidFill>
                  <a:srgbClr val="FF3399"/>
                </a:solidFill>
                <a:latin typeface="Arial"/>
                <a:cs typeface="Arial"/>
              </a:rPr>
              <a:t>)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0540" y="1517525"/>
            <a:ext cx="8106409" cy="3109595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380365" indent="-342265">
              <a:lnSpc>
                <a:spcPct val="100000"/>
              </a:lnSpc>
              <a:spcBef>
                <a:spcPts val="919"/>
              </a:spcBef>
              <a:buChar char="•"/>
              <a:tabLst>
                <a:tab pos="380365" algn="l"/>
              </a:tabLst>
            </a:pPr>
            <a:r>
              <a:rPr sz="3200" spc="-10" dirty="0">
                <a:solidFill>
                  <a:srgbClr val="FF3399"/>
                </a:solidFill>
                <a:latin typeface="Arial MT"/>
                <a:cs typeface="Arial MT"/>
              </a:rPr>
              <a:t>Note:</a:t>
            </a:r>
            <a:endParaRPr sz="3200">
              <a:latin typeface="Arial MT"/>
              <a:cs typeface="Arial MT"/>
            </a:endParaRPr>
          </a:p>
          <a:p>
            <a:pPr marL="779780" marR="30480" lvl="1" indent="-285115">
              <a:lnSpc>
                <a:spcPct val="100000"/>
              </a:lnSpc>
              <a:spcBef>
                <a:spcPts val="610"/>
              </a:spcBef>
              <a:buChar char="–"/>
              <a:tabLst>
                <a:tab pos="781685" algn="l"/>
              </a:tabLst>
            </a:pPr>
            <a:r>
              <a:rPr sz="2400" dirty="0">
                <a:latin typeface="Arial MT"/>
                <a:cs typeface="Arial MT"/>
              </a:rPr>
              <a:t>When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analyzing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space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complexity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algorithm, 	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concentrate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only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estimating</a:t>
            </a:r>
            <a:endParaRPr sz="2400">
              <a:latin typeface="Arial MT"/>
              <a:cs typeface="Arial MT"/>
            </a:endParaRPr>
          </a:p>
          <a:p>
            <a:pPr marL="833755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solidFill>
                  <a:srgbClr val="FF3399"/>
                </a:solidFill>
                <a:latin typeface="Arial MT"/>
                <a:cs typeface="Arial MT"/>
              </a:rPr>
              <a:t>S</a:t>
            </a:r>
            <a:r>
              <a:rPr sz="2400" baseline="-20833" dirty="0">
                <a:solidFill>
                  <a:srgbClr val="FF3399"/>
                </a:solidFill>
                <a:latin typeface="Arial MT"/>
                <a:cs typeface="Arial MT"/>
              </a:rPr>
              <a:t>p</a:t>
            </a:r>
            <a:r>
              <a:rPr sz="2400" spc="165" baseline="-20833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399"/>
                </a:solidFill>
                <a:latin typeface="Arial MT"/>
                <a:cs typeface="Arial MT"/>
              </a:rPr>
              <a:t>(Instance</a:t>
            </a:r>
            <a:r>
              <a:rPr sz="2400" spc="-10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399"/>
                </a:solidFill>
                <a:latin typeface="Arial MT"/>
                <a:cs typeface="Arial MT"/>
              </a:rPr>
              <a:t>characteristics</a:t>
            </a:r>
            <a:r>
              <a:rPr sz="2400" spc="-8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FF3399"/>
                </a:solidFill>
                <a:latin typeface="Arial MT"/>
                <a:cs typeface="Arial MT"/>
              </a:rPr>
              <a:t>).</a:t>
            </a:r>
            <a:endParaRPr sz="2400">
              <a:latin typeface="Arial MT"/>
              <a:cs typeface="Arial MT"/>
            </a:endParaRPr>
          </a:p>
          <a:p>
            <a:pPr marL="780415" lvl="1" indent="-285115">
              <a:lnSpc>
                <a:spcPct val="100000"/>
              </a:lnSpc>
              <a:spcBef>
                <a:spcPts val="575"/>
              </a:spcBef>
              <a:buChar char="–"/>
              <a:tabLst>
                <a:tab pos="780415" algn="l"/>
              </a:tabLst>
            </a:pPr>
            <a:r>
              <a:rPr sz="2400" dirty="0">
                <a:latin typeface="Arial MT"/>
                <a:cs typeface="Arial MT"/>
              </a:rPr>
              <a:t>We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concentrate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estimating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fixed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part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399"/>
                </a:solidFill>
                <a:latin typeface="Arial MT"/>
                <a:cs typeface="Arial MT"/>
              </a:rPr>
              <a:t>c</a:t>
            </a:r>
            <a:r>
              <a:rPr sz="2400" spc="-4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 marL="779780" marR="97155" lvl="1" indent="-285115">
              <a:lnSpc>
                <a:spcPct val="100000"/>
              </a:lnSpc>
              <a:spcBef>
                <a:spcPts val="580"/>
              </a:spcBef>
              <a:buChar char="–"/>
              <a:tabLst>
                <a:tab pos="781685" algn="l"/>
              </a:tabLst>
            </a:pPr>
            <a:r>
              <a:rPr sz="2400" dirty="0">
                <a:latin typeface="Arial MT"/>
                <a:cs typeface="Arial MT"/>
              </a:rPr>
              <a:t>We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need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identify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399"/>
                </a:solidFill>
                <a:latin typeface="Arial MT"/>
                <a:cs typeface="Arial MT"/>
              </a:rPr>
              <a:t>instance</a:t>
            </a:r>
            <a:r>
              <a:rPr sz="2400" spc="-5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399"/>
                </a:solidFill>
                <a:latin typeface="Arial MT"/>
                <a:cs typeface="Arial MT"/>
              </a:rPr>
              <a:t>characteristics</a:t>
            </a:r>
            <a:r>
              <a:rPr sz="2400" spc="-5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	</a:t>
            </a:r>
            <a:r>
              <a:rPr sz="2400" dirty="0">
                <a:latin typeface="Arial MT"/>
                <a:cs typeface="Arial MT"/>
              </a:rPr>
              <a:t>problem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measure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FF3399"/>
                </a:solidFill>
                <a:latin typeface="Arial MT"/>
                <a:cs typeface="Arial MT"/>
              </a:rPr>
              <a:t>S</a:t>
            </a:r>
            <a:r>
              <a:rPr sz="2400" spc="-37" baseline="-20833" dirty="0">
                <a:solidFill>
                  <a:srgbClr val="FF3399"/>
                </a:solidFill>
                <a:latin typeface="Arial MT"/>
                <a:cs typeface="Arial MT"/>
              </a:rPr>
              <a:t>p</a:t>
            </a:r>
            <a:endParaRPr sz="2400" baseline="-20833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spc="-10" dirty="0">
                <a:solidFill>
                  <a:srgbClr val="000000"/>
                </a:solidFill>
                <a:latin typeface="Arial MT"/>
                <a:cs typeface="Arial MT"/>
              </a:rPr>
              <a:t>Example1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7840" y="1537995"/>
            <a:ext cx="7967345" cy="392811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49225">
              <a:lnSpc>
                <a:spcPct val="100000"/>
              </a:lnSpc>
              <a:spcBef>
                <a:spcPts val="775"/>
              </a:spcBef>
            </a:pPr>
            <a:r>
              <a:rPr sz="2800" dirty="0">
                <a:latin typeface="Arial MT"/>
                <a:cs typeface="Arial MT"/>
              </a:rPr>
              <a:t>Algorithm</a:t>
            </a:r>
            <a:r>
              <a:rPr sz="2800" spc="-11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abc(a,b,c)</a:t>
            </a:r>
            <a:endParaRPr sz="2800">
              <a:latin typeface="Arial MT"/>
              <a:cs typeface="Arial MT"/>
            </a:endParaRPr>
          </a:p>
          <a:p>
            <a:pPr marL="50800">
              <a:lnSpc>
                <a:spcPct val="100000"/>
              </a:lnSpc>
              <a:spcBef>
                <a:spcPts val="675"/>
              </a:spcBef>
            </a:pPr>
            <a:r>
              <a:rPr sz="2800" spc="-50" dirty="0">
                <a:latin typeface="Arial MT"/>
                <a:cs typeface="Arial MT"/>
              </a:rPr>
              <a:t>{</a:t>
            </a:r>
            <a:endParaRPr sz="2800">
              <a:latin typeface="Arial MT"/>
              <a:cs typeface="Arial MT"/>
            </a:endParaRPr>
          </a:p>
          <a:p>
            <a:pPr marL="393700">
              <a:lnSpc>
                <a:spcPct val="100000"/>
              </a:lnSpc>
              <a:spcBef>
                <a:spcPts val="670"/>
              </a:spcBef>
            </a:pPr>
            <a:r>
              <a:rPr sz="2800" dirty="0">
                <a:latin typeface="Arial MT"/>
                <a:cs typeface="Arial MT"/>
              </a:rPr>
              <a:t>return</a:t>
            </a:r>
            <a:r>
              <a:rPr sz="2800" spc="2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a+b+b*c+(a+b-</a:t>
            </a:r>
            <a:r>
              <a:rPr sz="2800" spc="-10" dirty="0">
                <a:latin typeface="Arial MT"/>
                <a:cs typeface="Arial MT"/>
              </a:rPr>
              <a:t>c)/(a+b)+4.0;</a:t>
            </a:r>
            <a:endParaRPr sz="2800">
              <a:latin typeface="Arial MT"/>
              <a:cs typeface="Arial MT"/>
            </a:endParaRPr>
          </a:p>
          <a:p>
            <a:pPr marL="50800">
              <a:lnSpc>
                <a:spcPct val="100000"/>
              </a:lnSpc>
              <a:spcBef>
                <a:spcPts val="675"/>
              </a:spcBef>
            </a:pPr>
            <a:r>
              <a:rPr sz="2800" spc="-50" dirty="0">
                <a:latin typeface="Arial MT"/>
                <a:cs typeface="Arial MT"/>
              </a:rPr>
              <a:t>}</a:t>
            </a:r>
            <a:endParaRPr sz="2800">
              <a:latin typeface="Arial MT"/>
              <a:cs typeface="Arial MT"/>
            </a:endParaRPr>
          </a:p>
          <a:p>
            <a:pPr marL="390525" indent="-339725" algn="just">
              <a:lnSpc>
                <a:spcPct val="100000"/>
              </a:lnSpc>
              <a:spcBef>
                <a:spcPts val="500"/>
              </a:spcBef>
              <a:buChar char="•"/>
              <a:tabLst>
                <a:tab pos="390525" algn="l"/>
              </a:tabLst>
            </a:pPr>
            <a:r>
              <a:rPr sz="2000" dirty="0">
                <a:latin typeface="Arial MT"/>
                <a:cs typeface="Arial MT"/>
              </a:rPr>
              <a:t>Problem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instance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characterized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specific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values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a,b,and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c.</a:t>
            </a:r>
            <a:endParaRPr sz="2000">
              <a:latin typeface="Arial MT"/>
              <a:cs typeface="Arial MT"/>
            </a:endParaRPr>
          </a:p>
          <a:p>
            <a:pPr marL="390525" marR="73025" indent="-339725" algn="just">
              <a:lnSpc>
                <a:spcPct val="100000"/>
              </a:lnSpc>
              <a:spcBef>
                <a:spcPts val="480"/>
              </a:spcBef>
              <a:buChar char="•"/>
              <a:tabLst>
                <a:tab pos="393700" algn="l"/>
              </a:tabLst>
            </a:pPr>
            <a:r>
              <a:rPr sz="2000" dirty="0">
                <a:latin typeface="Arial MT"/>
                <a:cs typeface="Arial MT"/>
              </a:rPr>
              <a:t>If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we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assume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word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(4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bytes)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 adequate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store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values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of 	</a:t>
            </a:r>
            <a:r>
              <a:rPr sz="2000" dirty="0">
                <a:latin typeface="Arial MT"/>
                <a:cs typeface="Arial MT"/>
              </a:rPr>
              <a:t>each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a,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b,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,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space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needed</a:t>
            </a:r>
            <a:r>
              <a:rPr sz="2000" spc="-2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abc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independent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of 	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instance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characteristics.</a:t>
            </a:r>
            <a:endParaRPr sz="2000">
              <a:latin typeface="Arial MT"/>
              <a:cs typeface="Arial MT"/>
            </a:endParaRPr>
          </a:p>
          <a:p>
            <a:pPr marL="393700">
              <a:lnSpc>
                <a:spcPct val="100000"/>
              </a:lnSpc>
              <a:spcBef>
                <a:spcPts val="650"/>
              </a:spcBef>
            </a:pPr>
            <a:r>
              <a:rPr sz="2800" dirty="0">
                <a:latin typeface="Arial MT"/>
                <a:cs typeface="Arial MT"/>
              </a:rPr>
              <a:t>Therefore,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3399"/>
                </a:solidFill>
                <a:latin typeface="Arial MT"/>
                <a:cs typeface="Arial MT"/>
              </a:rPr>
              <a:t>S</a:t>
            </a:r>
            <a:r>
              <a:rPr sz="2775" baseline="-21021" dirty="0">
                <a:solidFill>
                  <a:srgbClr val="FF3399"/>
                </a:solidFill>
                <a:latin typeface="Arial MT"/>
                <a:cs typeface="Arial MT"/>
              </a:rPr>
              <a:t>abc</a:t>
            </a:r>
            <a:r>
              <a:rPr sz="2800" dirty="0">
                <a:solidFill>
                  <a:srgbClr val="FF3399"/>
                </a:solidFill>
                <a:latin typeface="Arial MT"/>
                <a:cs typeface="Arial MT"/>
              </a:rPr>
              <a:t>(</a:t>
            </a:r>
            <a:r>
              <a:rPr sz="2800" spc="-6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instance</a:t>
            </a:r>
            <a:r>
              <a:rPr sz="2000" spc="-8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FF3399"/>
                </a:solidFill>
                <a:latin typeface="Arial MT"/>
                <a:cs typeface="Arial MT"/>
              </a:rPr>
              <a:t>characteristics</a:t>
            </a:r>
            <a:r>
              <a:rPr sz="2800" spc="-10" dirty="0">
                <a:solidFill>
                  <a:srgbClr val="FF3399"/>
                </a:solidFill>
                <a:latin typeface="Arial MT"/>
                <a:cs typeface="Arial MT"/>
              </a:rPr>
              <a:t>)=0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26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spc="-10" dirty="0">
                <a:solidFill>
                  <a:srgbClr val="000000"/>
                </a:solidFill>
                <a:latin typeface="Arial MT"/>
                <a:cs typeface="Arial MT"/>
              </a:rPr>
              <a:t>Example2</a:t>
            </a:r>
            <a:endParaRPr sz="4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52391"/>
            <a:ext cx="2601595" cy="266065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dirty="0">
                <a:latin typeface="Arial MT"/>
                <a:cs typeface="Arial MT"/>
              </a:rPr>
              <a:t>Algorithm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sum(a,n)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sz="2000" spc="-50" dirty="0">
                <a:latin typeface="Arial MT"/>
                <a:cs typeface="Arial MT"/>
              </a:rPr>
              <a:t>{</a:t>
            </a:r>
            <a:endParaRPr sz="20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480"/>
              </a:spcBef>
            </a:pPr>
            <a:r>
              <a:rPr sz="2000" spc="-10" dirty="0">
                <a:latin typeface="Arial MT"/>
                <a:cs typeface="Arial MT"/>
              </a:rPr>
              <a:t>s:=0;</a:t>
            </a:r>
            <a:endParaRPr sz="2000">
              <a:latin typeface="Arial MT"/>
              <a:cs typeface="Arial MT"/>
            </a:endParaRPr>
          </a:p>
          <a:p>
            <a:pPr marL="291465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i:=1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 </a:t>
            </a:r>
            <a:r>
              <a:rPr sz="2000" spc="-35" dirty="0">
                <a:latin typeface="Arial MT"/>
                <a:cs typeface="Arial MT"/>
              </a:rPr>
              <a:t>do</a:t>
            </a:r>
            <a:endParaRPr sz="2000">
              <a:latin typeface="Arial MT"/>
              <a:cs typeface="Arial MT"/>
            </a:endParaRPr>
          </a:p>
          <a:p>
            <a:pPr marL="915035">
              <a:lnSpc>
                <a:spcPct val="100000"/>
              </a:lnSpc>
              <a:spcBef>
                <a:spcPts val="480"/>
              </a:spcBef>
            </a:pPr>
            <a:r>
              <a:rPr sz="2000" spc="-10" dirty="0">
                <a:latin typeface="Arial MT"/>
                <a:cs typeface="Arial MT"/>
              </a:rPr>
              <a:t>s:=s+a[i];</a:t>
            </a:r>
            <a:endParaRPr sz="2000">
              <a:latin typeface="Arial MT"/>
              <a:cs typeface="Arial MT"/>
            </a:endParaRPr>
          </a:p>
          <a:p>
            <a:pPr marL="495934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Arial MT"/>
                <a:cs typeface="Arial MT"/>
              </a:rPr>
              <a:t>return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s;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spc="-50" dirty="0">
                <a:latin typeface="Arial MT"/>
                <a:cs typeface="Arial MT"/>
              </a:rPr>
              <a:t>}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3240" y="4187418"/>
            <a:ext cx="7676515" cy="163258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67665" indent="-342265">
              <a:lnSpc>
                <a:spcPct val="100000"/>
              </a:lnSpc>
              <a:spcBef>
                <a:spcPts val="580"/>
              </a:spcBef>
              <a:buChar char="•"/>
              <a:tabLst>
                <a:tab pos="367665" algn="l"/>
              </a:tabLst>
            </a:pPr>
            <a:r>
              <a:rPr sz="2000" dirty="0">
                <a:latin typeface="Arial MT"/>
                <a:cs typeface="Arial MT"/>
              </a:rPr>
              <a:t>Problem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instance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characterized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25" dirty="0">
                <a:latin typeface="Arial MT"/>
                <a:cs typeface="Arial MT"/>
              </a:rPr>
              <a:t> n.</a:t>
            </a:r>
            <a:endParaRPr sz="2000">
              <a:latin typeface="Arial MT"/>
              <a:cs typeface="Arial MT"/>
            </a:endParaRPr>
          </a:p>
          <a:p>
            <a:pPr marL="367665" indent="-342265">
              <a:lnSpc>
                <a:spcPct val="100000"/>
              </a:lnSpc>
              <a:spcBef>
                <a:spcPts val="480"/>
              </a:spcBef>
              <a:buChar char="•"/>
              <a:tabLst>
                <a:tab pos="367665" algn="l"/>
              </a:tabLst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amount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space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needed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does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depend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value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n.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30"/>
              </a:spcBef>
            </a:pPr>
            <a:endParaRPr sz="2000">
              <a:latin typeface="Arial MT"/>
              <a:cs typeface="Arial MT"/>
            </a:endParaRPr>
          </a:p>
          <a:p>
            <a:pPr marL="368300">
              <a:lnSpc>
                <a:spcPct val="100000"/>
              </a:lnSpc>
              <a:tabLst>
                <a:tab pos="2209165" algn="l"/>
              </a:tabLst>
            </a:pPr>
            <a:r>
              <a:rPr sz="2800" spc="-10" dirty="0">
                <a:latin typeface="Arial MT"/>
                <a:cs typeface="Arial MT"/>
              </a:rPr>
              <a:t>Therefore,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solidFill>
                  <a:srgbClr val="FF3399"/>
                </a:solidFill>
                <a:latin typeface="Arial MT"/>
                <a:cs typeface="Arial MT"/>
              </a:rPr>
              <a:t>S</a:t>
            </a:r>
            <a:r>
              <a:rPr sz="2775" spc="-15" baseline="-21021" dirty="0">
                <a:solidFill>
                  <a:srgbClr val="FF3399"/>
                </a:solidFill>
                <a:latin typeface="Arial MT"/>
                <a:cs typeface="Arial MT"/>
              </a:rPr>
              <a:t>sum</a:t>
            </a:r>
            <a:r>
              <a:rPr sz="2800" spc="-10" dirty="0">
                <a:solidFill>
                  <a:srgbClr val="FF3399"/>
                </a:solidFill>
                <a:latin typeface="Arial MT"/>
                <a:cs typeface="Arial MT"/>
              </a:rPr>
              <a:t>(n)=0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03978" y="2613786"/>
            <a:ext cx="358267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3399"/>
                </a:solidFill>
                <a:latin typeface="Times New Roman"/>
                <a:cs typeface="Times New Roman"/>
              </a:rPr>
              <a:t>Recall</a:t>
            </a:r>
            <a:r>
              <a:rPr sz="2400" dirty="0">
                <a:solidFill>
                  <a:srgbClr val="808080"/>
                </a:solidFill>
                <a:latin typeface="Times New Roman"/>
                <a:cs typeface="Times New Roman"/>
              </a:rPr>
              <a:t>:</a:t>
            </a:r>
            <a:r>
              <a:rPr sz="2400" spc="-165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808080"/>
                </a:solidFill>
                <a:latin typeface="Times New Roman"/>
                <a:cs typeface="Times New Roman"/>
              </a:rPr>
              <a:t>Address</a:t>
            </a:r>
            <a:r>
              <a:rPr sz="2400" spc="-60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808080"/>
                </a:solidFill>
                <a:latin typeface="Times New Roman"/>
                <a:cs typeface="Times New Roman"/>
              </a:rPr>
              <a:t>of</a:t>
            </a:r>
            <a:r>
              <a:rPr sz="2400" spc="-35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808080"/>
                </a:solidFill>
                <a:latin typeface="Times New Roman"/>
                <a:cs typeface="Times New Roman"/>
              </a:rPr>
              <a:t>the</a:t>
            </a:r>
            <a:endParaRPr sz="24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2400" dirty="0">
                <a:solidFill>
                  <a:srgbClr val="808080"/>
                </a:solidFill>
                <a:latin typeface="Times New Roman"/>
                <a:cs typeface="Times New Roman"/>
              </a:rPr>
              <a:t>first</a:t>
            </a:r>
            <a:r>
              <a:rPr sz="2400" spc="-15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808080"/>
                </a:solidFill>
                <a:latin typeface="Times New Roman"/>
                <a:cs typeface="Times New Roman"/>
              </a:rPr>
              <a:t>element</a:t>
            </a:r>
            <a:r>
              <a:rPr sz="2400" spc="-20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808080"/>
                </a:solidFill>
                <a:latin typeface="Times New Roman"/>
                <a:cs typeface="Times New Roman"/>
              </a:rPr>
              <a:t>of</a:t>
            </a:r>
            <a:r>
              <a:rPr sz="2400" spc="-10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808080"/>
                </a:solidFill>
                <a:latin typeface="Times New Roman"/>
                <a:cs typeface="Times New Roman"/>
              </a:rPr>
              <a:t>the</a:t>
            </a:r>
            <a:r>
              <a:rPr sz="2400" spc="-15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808080"/>
                </a:solidFill>
                <a:latin typeface="Times New Roman"/>
                <a:cs typeface="Times New Roman"/>
              </a:rPr>
              <a:t>array</a:t>
            </a:r>
            <a:r>
              <a:rPr sz="2400" spc="-25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808080"/>
                </a:solidFill>
                <a:latin typeface="Times New Roman"/>
                <a:cs typeface="Times New Roman"/>
              </a:rPr>
              <a:t>will </a:t>
            </a:r>
            <a:r>
              <a:rPr sz="2400" dirty="0">
                <a:solidFill>
                  <a:srgbClr val="808080"/>
                </a:solidFill>
                <a:latin typeface="Times New Roman"/>
                <a:cs typeface="Times New Roman"/>
              </a:rPr>
              <a:t>be passed</a:t>
            </a:r>
            <a:r>
              <a:rPr sz="2400" spc="-10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2400" spc="-50" dirty="0">
                <a:solidFill>
                  <a:srgbClr val="808080"/>
                </a:solidFill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83234"/>
            <a:ext cx="251396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spc="-10" dirty="0">
                <a:solidFill>
                  <a:srgbClr val="000000"/>
                </a:solidFill>
                <a:latin typeface="Arial MT"/>
                <a:cs typeface="Arial MT"/>
              </a:rPr>
              <a:t>Example3</a:t>
            </a:r>
            <a:endParaRPr sz="4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169669"/>
            <a:ext cx="3396615" cy="1784985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400" dirty="0">
                <a:latin typeface="Arial MT"/>
                <a:cs typeface="Arial MT"/>
              </a:rPr>
              <a:t>Algorithm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RSum(a,n)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800" spc="-50" dirty="0">
                <a:latin typeface="Arial MT"/>
                <a:cs typeface="Arial MT"/>
              </a:rPr>
              <a:t>{</a:t>
            </a:r>
            <a:endParaRPr sz="18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430"/>
              </a:spcBef>
            </a:pPr>
            <a:r>
              <a:rPr sz="1800" dirty="0">
                <a:latin typeface="Arial MT"/>
                <a:cs typeface="Arial MT"/>
              </a:rPr>
              <a:t>if(n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≤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0)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return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0;</a:t>
            </a:r>
            <a:endParaRPr sz="18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434"/>
              </a:spcBef>
            </a:pPr>
            <a:r>
              <a:rPr sz="1800" dirty="0">
                <a:latin typeface="Arial MT"/>
                <a:cs typeface="Arial MT"/>
              </a:rPr>
              <a:t>else return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RSum(a,n-1)+a[n];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800" spc="-50" dirty="0">
                <a:latin typeface="Arial MT"/>
                <a:cs typeface="Arial MT"/>
              </a:rPr>
              <a:t>}</a:t>
            </a:r>
            <a:endParaRPr sz="180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23912" y="3109912"/>
          <a:ext cx="6400800" cy="27203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20" dirty="0">
                          <a:latin typeface="Arial MT"/>
                          <a:cs typeface="Arial MT"/>
                        </a:rPr>
                        <a:t>Type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20" dirty="0">
                          <a:latin typeface="Arial MT"/>
                          <a:cs typeface="Arial MT"/>
                        </a:rPr>
                        <a:t>Name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Number</a:t>
                      </a:r>
                      <a:r>
                        <a:rPr sz="20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20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10" dirty="0">
                          <a:latin typeface="Arial MT"/>
                          <a:cs typeface="Arial MT"/>
                        </a:rPr>
                        <a:t>bytes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formal</a:t>
                      </a:r>
                      <a:r>
                        <a:rPr sz="20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parameter:</a:t>
                      </a:r>
                      <a:r>
                        <a:rPr sz="20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25" dirty="0">
                          <a:latin typeface="Arial MT"/>
                          <a:cs typeface="Arial MT"/>
                        </a:rPr>
                        <a:t>int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a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2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formal</a:t>
                      </a:r>
                      <a:r>
                        <a:rPr sz="20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parameter:</a:t>
                      </a:r>
                      <a:r>
                        <a:rPr sz="20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25" dirty="0">
                          <a:latin typeface="Arial MT"/>
                          <a:cs typeface="Arial MT"/>
                        </a:rPr>
                        <a:t>int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936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n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2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91440" marR="1022350">
                        <a:lnSpc>
                          <a:spcPts val="2880"/>
                        </a:lnSpc>
                        <a:spcBef>
                          <a:spcPts val="5"/>
                        </a:spcBef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return</a:t>
                      </a:r>
                      <a:r>
                        <a:rPr sz="20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10" dirty="0">
                          <a:latin typeface="Arial MT"/>
                          <a:cs typeface="Arial MT"/>
                        </a:rPr>
                        <a:t>address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(</a:t>
                      </a:r>
                      <a:r>
                        <a:rPr sz="20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used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internally)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6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2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91440" marR="14732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spc="-35" dirty="0">
                          <a:latin typeface="Arial MT"/>
                          <a:cs typeface="Arial MT"/>
                        </a:rPr>
                        <a:t>Total</a:t>
                      </a:r>
                      <a:r>
                        <a:rPr sz="20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per</a:t>
                      </a:r>
                      <a:r>
                        <a:rPr sz="20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one</a:t>
                      </a:r>
                      <a:r>
                        <a:rPr sz="20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10" dirty="0">
                          <a:latin typeface="Arial MT"/>
                          <a:cs typeface="Arial MT"/>
                        </a:rPr>
                        <a:t>recursive </a:t>
                      </a:r>
                      <a:r>
                        <a:rPr sz="2000" spc="-20" dirty="0">
                          <a:latin typeface="Arial MT"/>
                          <a:cs typeface="Arial MT"/>
                        </a:rPr>
                        <a:t>call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6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916939" y="6070803"/>
            <a:ext cx="4149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Total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no.of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recursive calls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n,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therefore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33365" y="6070803"/>
            <a:ext cx="1838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3399"/>
                </a:solidFill>
                <a:latin typeface="Arial"/>
                <a:cs typeface="Arial"/>
              </a:rPr>
              <a:t>S</a:t>
            </a:r>
            <a:r>
              <a:rPr sz="1800" b="1" baseline="-20833" dirty="0">
                <a:solidFill>
                  <a:srgbClr val="FF3399"/>
                </a:solidFill>
                <a:latin typeface="Arial"/>
                <a:cs typeface="Arial"/>
              </a:rPr>
              <a:t>RSum</a:t>
            </a:r>
            <a:r>
              <a:rPr sz="1800" b="1" spc="209" baseline="-20833" dirty="0">
                <a:solidFill>
                  <a:srgbClr val="FF3399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3399"/>
                </a:solidFill>
                <a:latin typeface="Arial"/>
                <a:cs typeface="Arial"/>
              </a:rPr>
              <a:t>(n)=6(n+1)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spc="-10" dirty="0">
                <a:solidFill>
                  <a:srgbClr val="000000"/>
                </a:solidFill>
                <a:latin typeface="Arial MT"/>
                <a:cs typeface="Arial MT"/>
              </a:rPr>
              <a:t>Example4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0540" y="1555932"/>
            <a:ext cx="8057515" cy="3608070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0"/>
              </a:spcBef>
            </a:pPr>
            <a:r>
              <a:rPr sz="2400" dirty="0">
                <a:latin typeface="Arial MT"/>
                <a:cs typeface="Arial MT"/>
              </a:rPr>
              <a:t>Calculate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space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complexity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399"/>
                </a:solidFill>
                <a:latin typeface="Arial MT"/>
                <a:cs typeface="Arial MT"/>
              </a:rPr>
              <a:t>s</a:t>
            </a:r>
            <a:r>
              <a:rPr sz="2400" baseline="-20833" dirty="0">
                <a:solidFill>
                  <a:srgbClr val="FF3399"/>
                </a:solidFill>
                <a:latin typeface="Arial MT"/>
                <a:cs typeface="Arial MT"/>
              </a:rPr>
              <a:t>p</a:t>
            </a:r>
            <a:r>
              <a:rPr sz="2400" dirty="0">
                <a:solidFill>
                  <a:srgbClr val="FF3399"/>
                </a:solidFill>
                <a:latin typeface="Arial MT"/>
                <a:cs typeface="Arial MT"/>
              </a:rPr>
              <a:t>(n)</a:t>
            </a:r>
            <a:r>
              <a:rPr sz="2400" spc="-7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following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algorithm</a:t>
            </a:r>
            <a:endParaRPr sz="24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740"/>
              </a:spcBef>
            </a:pPr>
            <a:r>
              <a:rPr sz="3200" dirty="0">
                <a:latin typeface="Arial MT"/>
                <a:cs typeface="Arial MT"/>
              </a:rPr>
              <a:t>Algorithm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rfactorial(n)</a:t>
            </a:r>
            <a:endParaRPr sz="32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515"/>
              </a:spcBef>
            </a:pPr>
            <a:r>
              <a:rPr sz="2000" spc="-50" dirty="0">
                <a:latin typeface="Arial MT"/>
                <a:cs typeface="Arial MT"/>
              </a:rPr>
              <a:t>{</a:t>
            </a:r>
            <a:endParaRPr sz="2000">
              <a:latin typeface="Arial MT"/>
              <a:cs typeface="Arial MT"/>
            </a:endParaRPr>
          </a:p>
          <a:p>
            <a:pPr marL="381000">
              <a:lnSpc>
                <a:spcPct val="100000"/>
              </a:lnSpc>
              <a:spcBef>
                <a:spcPts val="480"/>
              </a:spcBef>
            </a:pPr>
            <a:r>
              <a:rPr sz="2000" spc="-10" dirty="0">
                <a:latin typeface="Arial MT"/>
                <a:cs typeface="Arial MT"/>
              </a:rPr>
              <a:t>fact=1;</a:t>
            </a:r>
            <a:endParaRPr sz="2000">
              <a:latin typeface="Arial MT"/>
              <a:cs typeface="Arial MT"/>
            </a:endParaRPr>
          </a:p>
          <a:p>
            <a:pPr marL="381000" marR="4864100">
              <a:lnSpc>
                <a:spcPts val="2880"/>
              </a:lnSpc>
              <a:spcBef>
                <a:spcPts val="175"/>
              </a:spcBef>
            </a:pPr>
            <a:r>
              <a:rPr sz="2000" dirty="0">
                <a:latin typeface="Arial MT"/>
                <a:cs typeface="Arial MT"/>
              </a:rPr>
              <a:t>if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(n=0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n=1)return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fact; </a:t>
            </a:r>
            <a:r>
              <a:rPr sz="2000" spc="-20" dirty="0">
                <a:latin typeface="Arial MT"/>
                <a:cs typeface="Arial MT"/>
              </a:rPr>
              <a:t>else</a:t>
            </a:r>
            <a:endParaRPr sz="2000">
              <a:latin typeface="Arial MT"/>
              <a:cs typeface="Arial MT"/>
            </a:endParaRPr>
          </a:p>
          <a:p>
            <a:pPr marL="381000" marR="5290820">
              <a:lnSpc>
                <a:spcPts val="2880"/>
              </a:lnSpc>
            </a:pPr>
            <a:r>
              <a:rPr sz="2000" spc="-10" dirty="0">
                <a:latin typeface="Arial MT"/>
                <a:cs typeface="Arial MT"/>
              </a:rPr>
              <a:t>fact=n*rfactorial(n-</a:t>
            </a:r>
            <a:r>
              <a:rPr sz="2000" spc="-25" dirty="0">
                <a:latin typeface="Arial MT"/>
                <a:cs typeface="Arial MT"/>
              </a:rPr>
              <a:t>1); </a:t>
            </a:r>
            <a:r>
              <a:rPr sz="2000" dirty="0">
                <a:latin typeface="Arial MT"/>
                <a:cs typeface="Arial MT"/>
              </a:rPr>
              <a:t>return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fact;</a:t>
            </a:r>
            <a:endParaRPr sz="20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305"/>
              </a:spcBef>
            </a:pPr>
            <a:r>
              <a:rPr sz="2000" spc="-50" dirty="0">
                <a:latin typeface="Arial MT"/>
                <a:cs typeface="Arial MT"/>
              </a:rPr>
              <a:t>}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78777" y="472820"/>
            <a:ext cx="133604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spc="-10" dirty="0">
                <a:solidFill>
                  <a:srgbClr val="000000"/>
                </a:solidFill>
                <a:latin typeface="Arial MT"/>
                <a:cs typeface="Arial MT"/>
              </a:rPr>
              <a:t>Contd..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3140" y="1120749"/>
            <a:ext cx="7830184" cy="3615054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80365" indent="-342265">
              <a:lnSpc>
                <a:spcPct val="100000"/>
              </a:lnSpc>
              <a:spcBef>
                <a:spcPts val="869"/>
              </a:spcBef>
              <a:buChar char="•"/>
              <a:tabLst>
                <a:tab pos="380365" algn="l"/>
              </a:tabLst>
            </a:pPr>
            <a:r>
              <a:rPr sz="3200" dirty="0">
                <a:latin typeface="Arial MT"/>
                <a:cs typeface="Arial MT"/>
              </a:rPr>
              <a:t>Time</a:t>
            </a:r>
            <a:r>
              <a:rPr sz="3200" spc="-10" dirty="0">
                <a:latin typeface="Arial MT"/>
                <a:cs typeface="Arial MT"/>
              </a:rPr>
              <a:t> Complexity:</a:t>
            </a:r>
            <a:endParaRPr sz="3200">
              <a:latin typeface="Arial MT"/>
              <a:cs typeface="Arial MT"/>
            </a:endParaRPr>
          </a:p>
          <a:p>
            <a:pPr marL="83820" algn="ctr">
              <a:lnSpc>
                <a:spcPct val="100000"/>
              </a:lnSpc>
              <a:spcBef>
                <a:spcPts val="770"/>
              </a:spcBef>
            </a:pPr>
            <a:r>
              <a:rPr sz="3200" i="1" spc="-10" dirty="0">
                <a:solidFill>
                  <a:srgbClr val="FF3399"/>
                </a:solidFill>
                <a:latin typeface="Arial"/>
                <a:cs typeface="Arial"/>
              </a:rPr>
              <a:t>T(P)=C+T</a:t>
            </a:r>
            <a:r>
              <a:rPr sz="3150" i="1" spc="-15" baseline="-21164" dirty="0">
                <a:solidFill>
                  <a:srgbClr val="FF3399"/>
                </a:solidFill>
                <a:latin typeface="Arial"/>
                <a:cs typeface="Arial"/>
              </a:rPr>
              <a:t>P</a:t>
            </a:r>
            <a:r>
              <a:rPr sz="3200" i="1" spc="-10" dirty="0">
                <a:solidFill>
                  <a:srgbClr val="FF3399"/>
                </a:solidFill>
                <a:latin typeface="Arial"/>
                <a:cs typeface="Arial"/>
              </a:rPr>
              <a:t>(I)</a:t>
            </a:r>
            <a:endParaRPr sz="3200">
              <a:latin typeface="Arial"/>
              <a:cs typeface="Arial"/>
            </a:endParaRPr>
          </a:p>
          <a:p>
            <a:pPr marL="780415" marR="30480" lvl="1" indent="-285750">
              <a:lnSpc>
                <a:spcPct val="100000"/>
              </a:lnSpc>
              <a:spcBef>
                <a:spcPts val="610"/>
              </a:spcBef>
              <a:buChar char="–"/>
              <a:tabLst>
                <a:tab pos="781685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time,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T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i="1" dirty="0">
                <a:latin typeface="Arial"/>
                <a:cs typeface="Arial"/>
              </a:rPr>
              <a:t>P</a:t>
            </a:r>
            <a:r>
              <a:rPr sz="2400" dirty="0">
                <a:latin typeface="Arial MT"/>
                <a:cs typeface="Arial MT"/>
              </a:rPr>
              <a:t>),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taken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program,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P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sum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of 	</a:t>
            </a:r>
            <a:r>
              <a:rPr sz="2400" dirty="0">
                <a:latin typeface="Arial MT"/>
                <a:cs typeface="Arial MT"/>
              </a:rPr>
              <a:t>its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compile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time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C</a:t>
            </a:r>
            <a:r>
              <a:rPr sz="2400" i="1" spc="-5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run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(or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execution)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time, 	</a:t>
            </a:r>
            <a:r>
              <a:rPr sz="2400" i="1" spc="-10" dirty="0">
                <a:latin typeface="Arial"/>
                <a:cs typeface="Arial"/>
              </a:rPr>
              <a:t>T</a:t>
            </a:r>
            <a:r>
              <a:rPr sz="2400" i="1" spc="-15" baseline="-20833" dirty="0">
                <a:latin typeface="Arial"/>
                <a:cs typeface="Arial"/>
              </a:rPr>
              <a:t>P</a:t>
            </a:r>
            <a:r>
              <a:rPr sz="2400" i="1" spc="-10" dirty="0">
                <a:latin typeface="Arial"/>
                <a:cs typeface="Arial"/>
              </a:rPr>
              <a:t>(I).</a:t>
            </a:r>
            <a:endParaRPr sz="2400">
              <a:latin typeface="Arial"/>
              <a:cs typeface="Arial"/>
            </a:endParaRPr>
          </a:p>
          <a:p>
            <a:pPr marL="780415" marR="210185" lvl="1" indent="-285750">
              <a:lnSpc>
                <a:spcPct val="100000"/>
              </a:lnSpc>
              <a:spcBef>
                <a:spcPts val="575"/>
              </a:spcBef>
              <a:buChar char="–"/>
              <a:tabLst>
                <a:tab pos="781685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compile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time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does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depend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instance 	characteristics.</a:t>
            </a:r>
            <a:endParaRPr sz="2400">
              <a:latin typeface="Arial MT"/>
              <a:cs typeface="Arial MT"/>
            </a:endParaRPr>
          </a:p>
          <a:p>
            <a:pPr marL="780415" lvl="1" indent="-285750">
              <a:lnSpc>
                <a:spcPct val="100000"/>
              </a:lnSpc>
              <a:spcBef>
                <a:spcPts val="575"/>
              </a:spcBef>
              <a:buChar char="–"/>
              <a:tabLst>
                <a:tab pos="780415" algn="l"/>
              </a:tabLst>
            </a:pPr>
            <a:r>
              <a:rPr sz="2400" dirty="0">
                <a:latin typeface="Arial MT"/>
                <a:cs typeface="Arial MT"/>
              </a:rPr>
              <a:t>We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will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concentrate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estimating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run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time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3399"/>
                </a:solidFill>
                <a:latin typeface="Arial MT"/>
                <a:cs typeface="Arial MT"/>
              </a:rPr>
              <a:t>T</a:t>
            </a:r>
            <a:r>
              <a:rPr sz="2400" spc="-15" baseline="-20833" dirty="0">
                <a:solidFill>
                  <a:srgbClr val="FF3399"/>
                </a:solidFill>
                <a:latin typeface="Arial MT"/>
                <a:cs typeface="Arial MT"/>
              </a:rPr>
              <a:t>p</a:t>
            </a:r>
            <a:r>
              <a:rPr sz="2400" spc="-10" dirty="0">
                <a:solidFill>
                  <a:srgbClr val="FF3399"/>
                </a:solidFill>
                <a:latin typeface="Arial MT"/>
                <a:cs typeface="Arial MT"/>
              </a:rPr>
              <a:t>(I).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7840" y="1625853"/>
            <a:ext cx="8122920" cy="4881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marR="57785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93700" algn="l"/>
                <a:tab pos="1530985" algn="l"/>
              </a:tabLst>
            </a:pPr>
            <a:r>
              <a:rPr sz="2400" dirty="0">
                <a:latin typeface="Arial MT"/>
                <a:cs typeface="Arial MT"/>
              </a:rPr>
              <a:t>If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know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characteristics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compiler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used,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can</a:t>
            </a:r>
            <a:r>
              <a:rPr sz="2400" dirty="0">
                <a:latin typeface="Arial MT"/>
                <a:cs typeface="Arial MT"/>
              </a:rPr>
              <a:t>	determine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</a:t>
            </a:r>
            <a:endParaRPr sz="2400">
              <a:latin typeface="Arial MT"/>
              <a:cs typeface="Arial MT"/>
            </a:endParaRPr>
          </a:p>
          <a:p>
            <a:pPr marL="794385" marR="1055370" lvl="1" indent="-287020">
              <a:lnSpc>
                <a:spcPct val="100000"/>
              </a:lnSpc>
              <a:spcBef>
                <a:spcPts val="484"/>
              </a:spcBef>
              <a:buChar char="–"/>
              <a:tabLst>
                <a:tab pos="794385" algn="l"/>
              </a:tabLst>
            </a:pPr>
            <a:r>
              <a:rPr sz="2000" dirty="0">
                <a:latin typeface="Arial MT"/>
                <a:cs typeface="Arial MT"/>
              </a:rPr>
              <a:t>No.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additions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,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subtractions,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multiplications,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divisions, </a:t>
            </a:r>
            <a:r>
              <a:rPr sz="2000" dirty="0">
                <a:latin typeface="Arial MT"/>
                <a:cs typeface="Arial MT"/>
              </a:rPr>
              <a:t>compares,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so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on.</a:t>
            </a:r>
            <a:endParaRPr sz="2000">
              <a:latin typeface="Arial MT"/>
              <a:cs typeface="Arial MT"/>
            </a:endParaRPr>
          </a:p>
          <a:p>
            <a:pPr marL="393065" indent="-342265">
              <a:lnSpc>
                <a:spcPct val="100000"/>
              </a:lnSpc>
              <a:spcBef>
                <a:spcPts val="655"/>
              </a:spcBef>
              <a:buChar char="•"/>
              <a:tabLst>
                <a:tab pos="393065" algn="l"/>
                <a:tab pos="1258570" algn="l"/>
              </a:tabLst>
            </a:pPr>
            <a:r>
              <a:rPr sz="2400" spc="-20" dirty="0">
                <a:latin typeface="Arial MT"/>
                <a:cs typeface="Arial MT"/>
              </a:rPr>
              <a:t>Then</a:t>
            </a:r>
            <a:r>
              <a:rPr sz="2400" dirty="0">
                <a:latin typeface="Arial MT"/>
                <a:cs typeface="Arial MT"/>
              </a:rPr>
              <a:t>	we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obtain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expression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3399"/>
                </a:solidFill>
                <a:latin typeface="Arial MT"/>
                <a:cs typeface="Arial MT"/>
              </a:rPr>
              <a:t>T</a:t>
            </a:r>
            <a:r>
              <a:rPr sz="2775" baseline="-21021" dirty="0">
                <a:solidFill>
                  <a:srgbClr val="FF3399"/>
                </a:solidFill>
                <a:latin typeface="Arial MT"/>
                <a:cs typeface="Arial MT"/>
              </a:rPr>
              <a:t>p</a:t>
            </a:r>
            <a:r>
              <a:rPr sz="2800" dirty="0">
                <a:solidFill>
                  <a:srgbClr val="FF3399"/>
                </a:solidFill>
                <a:latin typeface="Arial MT"/>
                <a:cs typeface="Arial MT"/>
              </a:rPr>
              <a:t>(n)</a:t>
            </a:r>
            <a:r>
              <a:rPr sz="2800" spc="-5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form</a:t>
            </a:r>
            <a:endParaRPr sz="2000">
              <a:latin typeface="Arial MT"/>
              <a:cs typeface="Arial MT"/>
            </a:endParaRPr>
          </a:p>
          <a:p>
            <a:pPr marL="794385" marR="224790" indent="-287020">
              <a:lnSpc>
                <a:spcPct val="120000"/>
              </a:lnSpc>
              <a:spcBef>
                <a:spcPts val="15"/>
              </a:spcBef>
            </a:pPr>
            <a:r>
              <a:rPr sz="2400" i="1" spc="-10" dirty="0">
                <a:solidFill>
                  <a:srgbClr val="FF3399"/>
                </a:solidFill>
                <a:latin typeface="Arial"/>
                <a:cs typeface="Arial"/>
              </a:rPr>
              <a:t>T</a:t>
            </a:r>
            <a:r>
              <a:rPr sz="2400" i="1" spc="-15" baseline="-20833" dirty="0">
                <a:solidFill>
                  <a:srgbClr val="FF3399"/>
                </a:solidFill>
                <a:latin typeface="Arial"/>
                <a:cs typeface="Arial"/>
              </a:rPr>
              <a:t>P</a:t>
            </a:r>
            <a:r>
              <a:rPr sz="2400" spc="-10" dirty="0">
                <a:solidFill>
                  <a:srgbClr val="FF3399"/>
                </a:solidFill>
                <a:latin typeface="Arial MT"/>
                <a:cs typeface="Arial MT"/>
              </a:rPr>
              <a:t>(</a:t>
            </a:r>
            <a:r>
              <a:rPr sz="2400" i="1" spc="-10" dirty="0">
                <a:solidFill>
                  <a:srgbClr val="FF3399"/>
                </a:solidFill>
                <a:latin typeface="Arial"/>
                <a:cs typeface="Arial"/>
              </a:rPr>
              <a:t>n</a:t>
            </a:r>
            <a:r>
              <a:rPr sz="2400" spc="-10" dirty="0">
                <a:solidFill>
                  <a:srgbClr val="FF3399"/>
                </a:solidFill>
                <a:latin typeface="Arial MT"/>
                <a:cs typeface="Arial MT"/>
              </a:rPr>
              <a:t>)=</a:t>
            </a:r>
            <a:r>
              <a:rPr sz="2400" i="1" spc="-10" dirty="0">
                <a:solidFill>
                  <a:srgbClr val="FF3399"/>
                </a:solidFill>
                <a:latin typeface="Arial"/>
                <a:cs typeface="Arial"/>
              </a:rPr>
              <a:t>c</a:t>
            </a:r>
            <a:r>
              <a:rPr sz="2400" i="1" spc="-15" baseline="-20833" dirty="0">
                <a:solidFill>
                  <a:srgbClr val="FF3399"/>
                </a:solidFill>
                <a:latin typeface="Arial"/>
                <a:cs typeface="Arial"/>
              </a:rPr>
              <a:t>a</a:t>
            </a:r>
            <a:r>
              <a:rPr sz="2400" i="1" spc="-10" dirty="0">
                <a:solidFill>
                  <a:srgbClr val="FF3399"/>
                </a:solidFill>
                <a:latin typeface="Arial"/>
                <a:cs typeface="Arial"/>
              </a:rPr>
              <a:t>ADD</a:t>
            </a:r>
            <a:r>
              <a:rPr sz="2400" spc="-10" dirty="0">
                <a:solidFill>
                  <a:srgbClr val="FF3399"/>
                </a:solidFill>
                <a:latin typeface="Arial MT"/>
                <a:cs typeface="Arial MT"/>
              </a:rPr>
              <a:t>(</a:t>
            </a:r>
            <a:r>
              <a:rPr sz="2400" i="1" spc="-10" dirty="0">
                <a:solidFill>
                  <a:srgbClr val="FF3399"/>
                </a:solidFill>
                <a:latin typeface="Arial"/>
                <a:cs typeface="Arial"/>
              </a:rPr>
              <a:t>n</a:t>
            </a:r>
            <a:r>
              <a:rPr sz="2400" spc="-10" dirty="0">
                <a:solidFill>
                  <a:srgbClr val="FF3399"/>
                </a:solidFill>
                <a:latin typeface="Arial MT"/>
                <a:cs typeface="Arial MT"/>
              </a:rPr>
              <a:t>)+</a:t>
            </a:r>
            <a:r>
              <a:rPr sz="2400" i="1" spc="-10" dirty="0">
                <a:solidFill>
                  <a:srgbClr val="FF3399"/>
                </a:solidFill>
                <a:latin typeface="Arial"/>
                <a:cs typeface="Arial"/>
              </a:rPr>
              <a:t>c</a:t>
            </a:r>
            <a:r>
              <a:rPr sz="2400" i="1" spc="-15" baseline="-20833" dirty="0">
                <a:solidFill>
                  <a:srgbClr val="FF3399"/>
                </a:solidFill>
                <a:latin typeface="Arial"/>
                <a:cs typeface="Arial"/>
              </a:rPr>
              <a:t>s</a:t>
            </a:r>
            <a:r>
              <a:rPr sz="2400" i="1" spc="-10" dirty="0">
                <a:solidFill>
                  <a:srgbClr val="FF3399"/>
                </a:solidFill>
                <a:latin typeface="Arial"/>
                <a:cs typeface="Arial"/>
              </a:rPr>
              <a:t>SUB</a:t>
            </a:r>
            <a:r>
              <a:rPr sz="2400" spc="-10" dirty="0">
                <a:solidFill>
                  <a:srgbClr val="FF3399"/>
                </a:solidFill>
                <a:latin typeface="Arial MT"/>
                <a:cs typeface="Arial MT"/>
              </a:rPr>
              <a:t>(</a:t>
            </a:r>
            <a:r>
              <a:rPr sz="2400" i="1" spc="-10" dirty="0">
                <a:solidFill>
                  <a:srgbClr val="FF3399"/>
                </a:solidFill>
                <a:latin typeface="Arial"/>
                <a:cs typeface="Arial"/>
              </a:rPr>
              <a:t>n</a:t>
            </a:r>
            <a:r>
              <a:rPr sz="2400" spc="-10" dirty="0">
                <a:solidFill>
                  <a:srgbClr val="FF3399"/>
                </a:solidFill>
                <a:latin typeface="Arial MT"/>
                <a:cs typeface="Arial MT"/>
              </a:rPr>
              <a:t>)+</a:t>
            </a:r>
            <a:r>
              <a:rPr sz="2400" i="1" spc="-10" dirty="0">
                <a:solidFill>
                  <a:srgbClr val="FF3399"/>
                </a:solidFill>
                <a:latin typeface="Arial"/>
                <a:cs typeface="Arial"/>
              </a:rPr>
              <a:t>c</a:t>
            </a:r>
            <a:r>
              <a:rPr sz="2400" i="1" spc="-15" baseline="-20833" dirty="0">
                <a:solidFill>
                  <a:srgbClr val="FF3399"/>
                </a:solidFill>
                <a:latin typeface="Arial"/>
                <a:cs typeface="Arial"/>
              </a:rPr>
              <a:t>m</a:t>
            </a:r>
            <a:r>
              <a:rPr sz="2400" i="1" spc="-10" dirty="0">
                <a:solidFill>
                  <a:srgbClr val="FF3399"/>
                </a:solidFill>
                <a:latin typeface="Arial"/>
                <a:cs typeface="Arial"/>
              </a:rPr>
              <a:t>MUL</a:t>
            </a:r>
            <a:r>
              <a:rPr sz="2400" spc="-10" dirty="0">
                <a:solidFill>
                  <a:srgbClr val="FF3399"/>
                </a:solidFill>
                <a:latin typeface="Arial MT"/>
                <a:cs typeface="Arial MT"/>
              </a:rPr>
              <a:t>(</a:t>
            </a:r>
            <a:r>
              <a:rPr sz="2400" i="1" spc="-10" dirty="0">
                <a:solidFill>
                  <a:srgbClr val="FF3399"/>
                </a:solidFill>
                <a:latin typeface="Arial"/>
                <a:cs typeface="Arial"/>
              </a:rPr>
              <a:t>n</a:t>
            </a:r>
            <a:r>
              <a:rPr sz="2400" spc="-10" dirty="0">
                <a:solidFill>
                  <a:srgbClr val="FF3399"/>
                </a:solidFill>
                <a:latin typeface="Arial MT"/>
                <a:cs typeface="Arial MT"/>
              </a:rPr>
              <a:t>)+</a:t>
            </a:r>
            <a:r>
              <a:rPr sz="2400" i="1" spc="-10" dirty="0">
                <a:solidFill>
                  <a:srgbClr val="FF3399"/>
                </a:solidFill>
                <a:latin typeface="Arial"/>
                <a:cs typeface="Arial"/>
              </a:rPr>
              <a:t>c</a:t>
            </a:r>
            <a:r>
              <a:rPr sz="2400" i="1" spc="-15" baseline="-20833" dirty="0">
                <a:solidFill>
                  <a:srgbClr val="FF3399"/>
                </a:solidFill>
                <a:latin typeface="Arial"/>
                <a:cs typeface="Arial"/>
              </a:rPr>
              <a:t>d</a:t>
            </a:r>
            <a:r>
              <a:rPr sz="2400" i="1" spc="-10" dirty="0">
                <a:solidFill>
                  <a:srgbClr val="FF3399"/>
                </a:solidFill>
                <a:latin typeface="Arial"/>
                <a:cs typeface="Arial"/>
              </a:rPr>
              <a:t>DIV</a:t>
            </a:r>
            <a:r>
              <a:rPr sz="2400" spc="-10" dirty="0">
                <a:solidFill>
                  <a:srgbClr val="FF3399"/>
                </a:solidFill>
                <a:latin typeface="Arial MT"/>
                <a:cs typeface="Arial MT"/>
              </a:rPr>
              <a:t>(</a:t>
            </a:r>
            <a:r>
              <a:rPr sz="2400" i="1" spc="-10" dirty="0">
                <a:solidFill>
                  <a:srgbClr val="FF3399"/>
                </a:solidFill>
                <a:latin typeface="Arial"/>
                <a:cs typeface="Arial"/>
              </a:rPr>
              <a:t>n</a:t>
            </a:r>
            <a:r>
              <a:rPr sz="2400" spc="-10" dirty="0">
                <a:solidFill>
                  <a:srgbClr val="FF3399"/>
                </a:solidFill>
                <a:latin typeface="Arial MT"/>
                <a:cs typeface="Arial MT"/>
              </a:rPr>
              <a:t>)+…….. </a:t>
            </a:r>
            <a:r>
              <a:rPr sz="2400" spc="-10" dirty="0">
                <a:latin typeface="Arial MT"/>
                <a:cs typeface="Arial MT"/>
              </a:rPr>
              <a:t>where,</a:t>
            </a:r>
            <a:endParaRPr sz="2400">
              <a:latin typeface="Arial MT"/>
              <a:cs typeface="Arial MT"/>
            </a:endParaRPr>
          </a:p>
          <a:p>
            <a:pPr marL="794385" lvl="1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794385" algn="l"/>
              </a:tabLst>
            </a:pPr>
            <a:r>
              <a:rPr sz="2000" dirty="0">
                <a:latin typeface="Arial MT"/>
                <a:cs typeface="Arial MT"/>
              </a:rPr>
              <a:t>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denotes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instance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characteristics.</a:t>
            </a:r>
            <a:endParaRPr sz="2000">
              <a:latin typeface="Arial MT"/>
              <a:cs typeface="Arial MT"/>
            </a:endParaRPr>
          </a:p>
          <a:p>
            <a:pPr marL="7943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94385" algn="l"/>
                <a:tab pos="3505835" algn="l"/>
                <a:tab pos="7028815" algn="l"/>
              </a:tabLst>
            </a:pPr>
            <a:r>
              <a:rPr sz="2000" dirty="0">
                <a:latin typeface="Arial MT"/>
                <a:cs typeface="Arial MT"/>
              </a:rPr>
              <a:t>c</a:t>
            </a:r>
            <a:r>
              <a:rPr sz="1950" baseline="-21367" dirty="0">
                <a:latin typeface="Arial MT"/>
                <a:cs typeface="Arial MT"/>
              </a:rPr>
              <a:t>a</a:t>
            </a:r>
            <a:r>
              <a:rPr sz="2000" dirty="0">
                <a:latin typeface="Arial MT"/>
                <a:cs typeface="Arial MT"/>
              </a:rPr>
              <a:t>,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</a:t>
            </a:r>
            <a:r>
              <a:rPr sz="1950" baseline="-21367" dirty="0">
                <a:latin typeface="Arial MT"/>
                <a:cs typeface="Arial MT"/>
              </a:rPr>
              <a:t>s</a:t>
            </a:r>
            <a:r>
              <a:rPr sz="2000" dirty="0">
                <a:latin typeface="Arial MT"/>
                <a:cs typeface="Arial MT"/>
              </a:rPr>
              <a:t>,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</a:t>
            </a:r>
            <a:r>
              <a:rPr sz="1950" baseline="-21367" dirty="0">
                <a:latin typeface="Arial MT"/>
                <a:cs typeface="Arial MT"/>
              </a:rPr>
              <a:t>m</a:t>
            </a:r>
            <a:r>
              <a:rPr sz="2000" dirty="0">
                <a:latin typeface="Arial MT"/>
                <a:cs typeface="Arial MT"/>
              </a:rPr>
              <a:t>,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</a:t>
            </a:r>
            <a:r>
              <a:rPr sz="1950" baseline="-21367" dirty="0">
                <a:latin typeface="Arial MT"/>
                <a:cs typeface="Arial MT"/>
              </a:rPr>
              <a:t>d</a:t>
            </a:r>
            <a:r>
              <a:rPr sz="1950" spc="157" baseline="-21367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and so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on</a:t>
            </a:r>
            <a:r>
              <a:rPr sz="2000" dirty="0">
                <a:latin typeface="Arial MT"/>
                <a:cs typeface="Arial MT"/>
              </a:rPr>
              <a:t>	denote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time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needed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25" dirty="0">
                <a:latin typeface="Arial MT"/>
                <a:cs typeface="Arial MT"/>
              </a:rPr>
              <a:t> an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addition</a:t>
            </a:r>
            <a:r>
              <a:rPr sz="2000" spc="-140" dirty="0">
                <a:latin typeface="Arial MT"/>
                <a:cs typeface="Arial MT"/>
              </a:rPr>
              <a:t> </a:t>
            </a:r>
            <a:r>
              <a:rPr sz="1950" spc="-75" baseline="-21367" dirty="0">
                <a:latin typeface="Arial MT"/>
                <a:cs typeface="Arial MT"/>
              </a:rPr>
              <a:t>,</a:t>
            </a:r>
            <a:endParaRPr sz="1950" baseline="-21367">
              <a:latin typeface="Arial MT"/>
              <a:cs typeface="Arial MT"/>
            </a:endParaRPr>
          </a:p>
          <a:p>
            <a:pPr marL="794385">
              <a:lnSpc>
                <a:spcPct val="100000"/>
              </a:lnSpc>
              <a:spcBef>
                <a:spcPts val="5"/>
              </a:spcBef>
              <a:tabLst>
                <a:tab pos="6026785" algn="l"/>
              </a:tabLst>
            </a:pPr>
            <a:r>
              <a:rPr sz="2000" dirty="0">
                <a:latin typeface="Arial MT"/>
                <a:cs typeface="Arial MT"/>
              </a:rPr>
              <a:t>subtraction,</a:t>
            </a:r>
            <a:r>
              <a:rPr sz="2000" spc="-1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multiplication,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division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so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on.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And</a:t>
            </a:r>
            <a:endParaRPr sz="2000">
              <a:latin typeface="Arial MT"/>
              <a:cs typeface="Arial MT"/>
            </a:endParaRPr>
          </a:p>
          <a:p>
            <a:pPr marL="794385" marR="55880" lvl="1" indent="-287020">
              <a:lnSpc>
                <a:spcPct val="108200"/>
              </a:lnSpc>
              <a:spcBef>
                <a:spcPts val="280"/>
              </a:spcBef>
              <a:buChar char="–"/>
              <a:tabLst>
                <a:tab pos="794385" algn="l"/>
              </a:tabLst>
            </a:pPr>
            <a:r>
              <a:rPr sz="2000" dirty="0">
                <a:latin typeface="Arial MT"/>
                <a:cs typeface="Arial MT"/>
              </a:rPr>
              <a:t>ADD,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SUB,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MUL,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DIV,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so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functions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whose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values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are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no.of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additions,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subtractions,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multiplications,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divisions,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and</a:t>
            </a:r>
            <a:r>
              <a:rPr sz="2000" spc="50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so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on.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625853"/>
            <a:ext cx="7875905" cy="4269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94615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Obtaining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such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exact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formula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impossible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task, </a:t>
            </a:r>
            <a:r>
              <a:rPr sz="2400" dirty="0">
                <a:latin typeface="Arial MT"/>
                <a:cs typeface="Arial MT"/>
              </a:rPr>
              <a:t>since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time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needed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addition,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subtraction,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so </a:t>
            </a:r>
            <a:r>
              <a:rPr sz="2400" dirty="0">
                <a:latin typeface="Arial MT"/>
                <a:cs typeface="Arial MT"/>
              </a:rPr>
              <a:t>on,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depends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numbers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being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added,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subtracted,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and </a:t>
            </a:r>
            <a:r>
              <a:rPr sz="2400" dirty="0">
                <a:latin typeface="Arial MT"/>
                <a:cs typeface="Arial MT"/>
              </a:rPr>
              <a:t>so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on.</a:t>
            </a:r>
            <a:endParaRPr sz="2400">
              <a:latin typeface="Arial MT"/>
              <a:cs typeface="Arial MT"/>
            </a:endParaRPr>
          </a:p>
          <a:p>
            <a:pPr marL="355600" marR="39370" indent="-342900">
              <a:lnSpc>
                <a:spcPct val="100000"/>
              </a:lnSpc>
              <a:spcBef>
                <a:spcPts val="580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value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399"/>
                </a:solidFill>
                <a:latin typeface="Arial MT"/>
                <a:cs typeface="Arial MT"/>
              </a:rPr>
              <a:t>Tp(n)</a:t>
            </a:r>
            <a:r>
              <a:rPr sz="2400" spc="-4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any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given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obtained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only </a:t>
            </a:r>
            <a:r>
              <a:rPr sz="2400" spc="-10" dirty="0">
                <a:latin typeface="Arial MT"/>
                <a:cs typeface="Arial MT"/>
              </a:rPr>
              <a:t>experimentally.</a:t>
            </a:r>
            <a:endParaRPr sz="2400">
              <a:latin typeface="Arial MT"/>
              <a:cs typeface="Arial MT"/>
            </a:endParaRPr>
          </a:p>
          <a:p>
            <a:pPr marL="355600" marR="333375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Even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experimental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approach,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could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face </a:t>
            </a:r>
            <a:r>
              <a:rPr sz="2400" spc="-10" dirty="0">
                <a:latin typeface="Arial MT"/>
                <a:cs typeface="Arial MT"/>
              </a:rPr>
              <a:t>difficulties.</a:t>
            </a:r>
            <a:endParaRPr sz="24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In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multiuser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system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execution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time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program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FF3399"/>
                </a:solidFill>
                <a:latin typeface="Arial MT"/>
                <a:cs typeface="Arial MT"/>
              </a:rPr>
              <a:t>p </a:t>
            </a:r>
            <a:r>
              <a:rPr sz="2400" dirty="0">
                <a:latin typeface="Arial MT"/>
                <a:cs typeface="Arial MT"/>
              </a:rPr>
              <a:t>depends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number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other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programs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running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on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computer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time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program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399"/>
                </a:solidFill>
                <a:latin typeface="Arial MT"/>
                <a:cs typeface="Arial MT"/>
              </a:rPr>
              <a:t>p</a:t>
            </a:r>
            <a:r>
              <a:rPr sz="2400" spc="-5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running.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40677" y="150113"/>
            <a:ext cx="16617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spc="-10" dirty="0">
                <a:solidFill>
                  <a:srgbClr val="000000"/>
                </a:solidFill>
                <a:latin typeface="Arial MT"/>
                <a:cs typeface="Arial MT"/>
              </a:rPr>
              <a:t>Contd..</a:t>
            </a:r>
            <a:endParaRPr sz="40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4644" y="935227"/>
            <a:ext cx="7335520" cy="4304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2425" marR="356870" indent="-339725" algn="just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</a:tabLst>
            </a:pPr>
            <a:r>
              <a:rPr sz="2000" dirty="0">
                <a:latin typeface="Arial MT"/>
                <a:cs typeface="Arial MT"/>
              </a:rPr>
              <a:t>As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there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were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some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problems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determining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execution 	</a:t>
            </a:r>
            <a:r>
              <a:rPr sz="2000" dirty="0">
                <a:latin typeface="Arial MT"/>
                <a:cs typeface="Arial MT"/>
              </a:rPr>
              <a:t>time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using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earlier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methods,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will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go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step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further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and 	</a:t>
            </a:r>
            <a:r>
              <a:rPr sz="2000" dirty="0">
                <a:latin typeface="Arial MT"/>
                <a:cs typeface="Arial MT"/>
              </a:rPr>
              <a:t>count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only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number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i="1" dirty="0">
                <a:solidFill>
                  <a:srgbClr val="FF3399"/>
                </a:solidFill>
                <a:latin typeface="Arial"/>
                <a:cs typeface="Arial"/>
              </a:rPr>
              <a:t>program</a:t>
            </a:r>
            <a:r>
              <a:rPr sz="2000" i="1" spc="-45" dirty="0">
                <a:solidFill>
                  <a:srgbClr val="FF3399"/>
                </a:solidFill>
                <a:latin typeface="Arial"/>
                <a:cs typeface="Arial"/>
              </a:rPr>
              <a:t> </a:t>
            </a:r>
            <a:r>
              <a:rPr sz="2000" i="1" spc="-10" dirty="0">
                <a:solidFill>
                  <a:srgbClr val="FF3399"/>
                </a:solidFill>
                <a:latin typeface="Arial"/>
                <a:cs typeface="Arial"/>
              </a:rPr>
              <a:t>steps.</a:t>
            </a:r>
            <a:endParaRPr sz="2000">
              <a:latin typeface="Arial"/>
              <a:cs typeface="Arial"/>
            </a:endParaRPr>
          </a:p>
          <a:p>
            <a:pPr marL="265430">
              <a:lnSpc>
                <a:spcPct val="100000"/>
              </a:lnSpc>
              <a:spcBef>
                <a:spcPts val="570"/>
              </a:spcBef>
            </a:pPr>
            <a:r>
              <a:rPr sz="2400" i="1" dirty="0">
                <a:solidFill>
                  <a:srgbClr val="FF3399"/>
                </a:solidFill>
                <a:latin typeface="Arial"/>
                <a:cs typeface="Arial"/>
              </a:rPr>
              <a:t>program</a:t>
            </a:r>
            <a:r>
              <a:rPr sz="2400" i="1" spc="-85" dirty="0">
                <a:solidFill>
                  <a:srgbClr val="FF3399"/>
                </a:solidFill>
                <a:latin typeface="Arial"/>
                <a:cs typeface="Arial"/>
              </a:rPr>
              <a:t> </a:t>
            </a:r>
            <a:r>
              <a:rPr sz="2400" i="1" spc="-20" dirty="0">
                <a:solidFill>
                  <a:srgbClr val="FF3399"/>
                </a:solidFill>
                <a:latin typeface="Arial"/>
                <a:cs typeface="Arial"/>
              </a:rPr>
              <a:t>step</a:t>
            </a:r>
            <a:endParaRPr sz="2400">
              <a:latin typeface="Arial"/>
              <a:cs typeface="Arial"/>
            </a:endParaRPr>
          </a:p>
          <a:p>
            <a:pPr marL="355600" marR="5080">
              <a:lnSpc>
                <a:spcPct val="100000"/>
              </a:lnSpc>
              <a:spcBef>
                <a:spcPts val="580"/>
              </a:spcBef>
            </a:pPr>
            <a:r>
              <a:rPr sz="2400" dirty="0">
                <a:latin typeface="Arial MT"/>
                <a:cs typeface="Arial MT"/>
              </a:rPr>
              <a:t>program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step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i="1" dirty="0">
                <a:solidFill>
                  <a:srgbClr val="FF3399"/>
                </a:solidFill>
                <a:latin typeface="Arial"/>
                <a:cs typeface="Arial"/>
              </a:rPr>
              <a:t>loosely</a:t>
            </a:r>
            <a:r>
              <a:rPr sz="2400" i="1" spc="-30" dirty="0">
                <a:solidFill>
                  <a:srgbClr val="FF3399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defined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syntactically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or </a:t>
            </a:r>
            <a:r>
              <a:rPr sz="2400" spc="-10" dirty="0">
                <a:latin typeface="Arial MT"/>
                <a:cs typeface="Arial MT"/>
              </a:rPr>
              <a:t>semantically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meaningful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program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i="1" dirty="0">
                <a:solidFill>
                  <a:srgbClr val="FF3399"/>
                </a:solidFill>
                <a:latin typeface="Arial"/>
                <a:cs typeface="Arial"/>
              </a:rPr>
              <a:t>segment</a:t>
            </a:r>
            <a:r>
              <a:rPr sz="2400" i="1" spc="-80" dirty="0">
                <a:solidFill>
                  <a:srgbClr val="FF3399"/>
                </a:solidFill>
                <a:latin typeface="Arial"/>
                <a:cs typeface="Arial"/>
              </a:rPr>
              <a:t> </a:t>
            </a:r>
            <a:r>
              <a:rPr sz="2400" spc="-20" dirty="0">
                <a:latin typeface="Arial MT"/>
                <a:cs typeface="Arial MT"/>
              </a:rPr>
              <a:t>whose </a:t>
            </a:r>
            <a:r>
              <a:rPr sz="2400" dirty="0">
                <a:latin typeface="Arial MT"/>
                <a:cs typeface="Arial MT"/>
              </a:rPr>
              <a:t>execution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time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independent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i="1" spc="-10" dirty="0">
                <a:solidFill>
                  <a:srgbClr val="FF3399"/>
                </a:solidFill>
                <a:latin typeface="Arial"/>
                <a:cs typeface="Arial"/>
              </a:rPr>
              <a:t>instance characteristics.</a:t>
            </a:r>
            <a:endParaRPr sz="24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655"/>
              </a:spcBef>
            </a:pPr>
            <a:r>
              <a:rPr sz="2800" dirty="0">
                <a:latin typeface="Arial MT"/>
                <a:cs typeface="Arial MT"/>
              </a:rPr>
              <a:t>–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Example</a:t>
            </a:r>
            <a:endParaRPr sz="2800">
              <a:latin typeface="Arial MT"/>
              <a:cs typeface="Arial MT"/>
            </a:endParaRPr>
          </a:p>
          <a:p>
            <a:pPr marL="756285">
              <a:lnSpc>
                <a:spcPct val="100000"/>
              </a:lnSpc>
              <a:spcBef>
                <a:spcPts val="20"/>
              </a:spcBef>
            </a:pPr>
            <a:r>
              <a:rPr sz="2400" dirty="0">
                <a:latin typeface="Arial MT"/>
                <a:cs typeface="Arial MT"/>
              </a:rPr>
              <a:t>result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+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+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*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+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(a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+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-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c)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/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(a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+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b)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+</a:t>
            </a:r>
            <a:r>
              <a:rPr sz="2400" spc="-20" dirty="0">
                <a:latin typeface="Arial MT"/>
                <a:cs typeface="Arial MT"/>
              </a:rPr>
              <a:t> 4.0;</a:t>
            </a:r>
            <a:endParaRPr sz="2400">
              <a:latin typeface="Arial MT"/>
              <a:cs typeface="Arial MT"/>
            </a:endParaRPr>
          </a:p>
          <a:p>
            <a:pPr marL="765175">
              <a:lnSpc>
                <a:spcPct val="100000"/>
              </a:lnSpc>
              <a:spcBef>
                <a:spcPts val="655"/>
              </a:spcBef>
            </a:pPr>
            <a:r>
              <a:rPr sz="2800" dirty="0">
                <a:latin typeface="Arial MT"/>
                <a:cs typeface="Arial MT"/>
              </a:rPr>
              <a:t>sum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=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+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+</a:t>
            </a:r>
            <a:r>
              <a:rPr sz="2800" spc="-25" dirty="0">
                <a:latin typeface="Arial MT"/>
                <a:cs typeface="Arial MT"/>
              </a:rPr>
              <a:t> c;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589278"/>
            <a:ext cx="8027670" cy="4452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ts val="2735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number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steps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assigned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any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i="1" dirty="0">
                <a:solidFill>
                  <a:srgbClr val="FF3399"/>
                </a:solidFill>
                <a:latin typeface="Arial"/>
                <a:cs typeface="Arial"/>
              </a:rPr>
              <a:t>program</a:t>
            </a:r>
            <a:r>
              <a:rPr sz="2400" i="1" spc="-50" dirty="0">
                <a:solidFill>
                  <a:srgbClr val="FF3399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FF3399"/>
                </a:solidFill>
                <a:latin typeface="Arial"/>
                <a:cs typeface="Arial"/>
              </a:rPr>
              <a:t>statement</a:t>
            </a:r>
            <a:endParaRPr sz="2400">
              <a:latin typeface="Arial"/>
              <a:cs typeface="Arial"/>
            </a:endParaRPr>
          </a:p>
          <a:p>
            <a:pPr marL="355600">
              <a:lnSpc>
                <a:spcPts val="2735"/>
              </a:lnSpc>
            </a:pPr>
            <a:r>
              <a:rPr sz="2400" dirty="0">
                <a:latin typeface="Arial MT"/>
                <a:cs typeface="Arial MT"/>
              </a:rPr>
              <a:t>depends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kind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statement.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290"/>
              </a:spcBef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FF3399"/>
                </a:solidFill>
                <a:latin typeface="Arial MT"/>
                <a:cs typeface="Arial MT"/>
              </a:rPr>
              <a:t>Comments</a:t>
            </a:r>
            <a:r>
              <a:rPr sz="2400" spc="-7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counted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399"/>
                </a:solidFill>
                <a:latin typeface="Arial MT"/>
                <a:cs typeface="Arial MT"/>
              </a:rPr>
              <a:t>zero</a:t>
            </a:r>
            <a:r>
              <a:rPr sz="2400" spc="-5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number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steps.</a:t>
            </a:r>
            <a:endParaRPr sz="2400">
              <a:latin typeface="Arial MT"/>
              <a:cs typeface="Arial MT"/>
            </a:endParaRPr>
          </a:p>
          <a:p>
            <a:pPr marL="355600" marR="488315" indent="-342900">
              <a:lnSpc>
                <a:spcPts val="2590"/>
              </a:lnSpc>
              <a:spcBef>
                <a:spcPts val="615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An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399"/>
                </a:solidFill>
                <a:latin typeface="Arial MT"/>
                <a:cs typeface="Arial MT"/>
              </a:rPr>
              <a:t>assignment</a:t>
            </a:r>
            <a:r>
              <a:rPr sz="2400" spc="-6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statement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which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does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not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involve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any </a:t>
            </a:r>
            <a:r>
              <a:rPr sz="2400" dirty="0">
                <a:latin typeface="Arial MT"/>
                <a:cs typeface="Arial MT"/>
              </a:rPr>
              <a:t>calls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other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functions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counted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399"/>
                </a:solidFill>
                <a:latin typeface="Arial MT"/>
                <a:cs typeface="Arial MT"/>
              </a:rPr>
              <a:t>one</a:t>
            </a:r>
            <a:r>
              <a:rPr sz="2400" spc="-5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step.</a:t>
            </a:r>
            <a:endParaRPr sz="2400">
              <a:latin typeface="Arial MT"/>
              <a:cs typeface="Arial MT"/>
            </a:endParaRPr>
          </a:p>
          <a:p>
            <a:pPr marL="355600" marR="308610" indent="-342900">
              <a:lnSpc>
                <a:spcPct val="90000"/>
              </a:lnSpc>
              <a:spcBef>
                <a:spcPts val="540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loops,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such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399"/>
                </a:solidFill>
                <a:latin typeface="Arial MT"/>
                <a:cs typeface="Arial MT"/>
              </a:rPr>
              <a:t>for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399"/>
                </a:solidFill>
                <a:latin typeface="Arial MT"/>
                <a:cs typeface="Arial MT"/>
              </a:rPr>
              <a:t>while,</a:t>
            </a:r>
            <a:r>
              <a:rPr sz="2400" spc="-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FF3399"/>
                </a:solidFill>
                <a:latin typeface="Arial MT"/>
                <a:cs typeface="Arial MT"/>
              </a:rPr>
              <a:t>repeat-</a:t>
            </a:r>
            <a:r>
              <a:rPr sz="2400" dirty="0">
                <a:solidFill>
                  <a:srgbClr val="FF3399"/>
                </a:solidFill>
                <a:latin typeface="Arial MT"/>
                <a:cs typeface="Arial MT"/>
              </a:rPr>
              <a:t>until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we </a:t>
            </a:r>
            <a:r>
              <a:rPr sz="2400" dirty="0">
                <a:latin typeface="Arial MT"/>
                <a:cs typeface="Arial MT"/>
              </a:rPr>
              <a:t>consider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step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counts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only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399"/>
                </a:solidFill>
                <a:latin typeface="Arial MT"/>
                <a:cs typeface="Arial MT"/>
              </a:rPr>
              <a:t>control</a:t>
            </a:r>
            <a:r>
              <a:rPr sz="2400" spc="-5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399"/>
                </a:solidFill>
                <a:latin typeface="Arial MT"/>
                <a:cs typeface="Arial MT"/>
              </a:rPr>
              <a:t>part</a:t>
            </a:r>
            <a:r>
              <a:rPr sz="2400" spc="-4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</a:t>
            </a:r>
            <a:r>
              <a:rPr sz="2400" spc="-10" dirty="0">
                <a:latin typeface="Arial MT"/>
                <a:cs typeface="Arial MT"/>
              </a:rPr>
              <a:t>statement.</a:t>
            </a:r>
            <a:endParaRPr sz="2400">
              <a:latin typeface="Arial MT"/>
              <a:cs typeface="Arial MT"/>
            </a:endParaRPr>
          </a:p>
          <a:p>
            <a:pPr marL="355600" marR="207645" indent="-342900">
              <a:lnSpc>
                <a:spcPts val="2590"/>
              </a:lnSpc>
              <a:spcBef>
                <a:spcPts val="615"/>
              </a:spcBef>
              <a:buChar char="•"/>
              <a:tabLst>
                <a:tab pos="355600" algn="l"/>
                <a:tab pos="3253104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control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parts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for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dirty="0">
                <a:solidFill>
                  <a:srgbClr val="FF3399"/>
                </a:solidFill>
                <a:latin typeface="Arial MT"/>
                <a:cs typeface="Arial MT"/>
              </a:rPr>
              <a:t>for</a:t>
            </a:r>
            <a:r>
              <a:rPr sz="2400" spc="-7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399"/>
                </a:solidFill>
                <a:latin typeface="Arial MT"/>
                <a:cs typeface="Arial MT"/>
              </a:rPr>
              <a:t>while</a:t>
            </a:r>
            <a:r>
              <a:rPr sz="2400" spc="-2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statements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have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</a:t>
            </a:r>
            <a:r>
              <a:rPr sz="2400" dirty="0">
                <a:latin typeface="Arial MT"/>
                <a:cs typeface="Arial MT"/>
              </a:rPr>
              <a:t>following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forms:</a:t>
            </a:r>
            <a:endParaRPr sz="2400">
              <a:latin typeface="Arial MT"/>
              <a:cs typeface="Arial MT"/>
            </a:endParaRPr>
          </a:p>
          <a:p>
            <a:pPr marL="756285" marR="3326765">
              <a:lnSpc>
                <a:spcPts val="3170"/>
              </a:lnSpc>
              <a:spcBef>
                <a:spcPts val="65"/>
              </a:spcBef>
            </a:pP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i:=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&lt;expr1&gt;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&lt;expr2&gt;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do </a:t>
            </a:r>
            <a:r>
              <a:rPr sz="2400" dirty="0">
                <a:latin typeface="Arial MT"/>
                <a:cs typeface="Arial MT"/>
              </a:rPr>
              <a:t>while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&lt;expr&gt;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)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do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625854"/>
            <a:ext cx="8005445" cy="4294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Char char="•"/>
              <a:tabLst>
                <a:tab pos="354965" algn="l"/>
              </a:tabLst>
            </a:pPr>
            <a:r>
              <a:rPr sz="2000" dirty="0">
                <a:latin typeface="Arial MT"/>
                <a:cs typeface="Arial MT"/>
              </a:rPr>
              <a:t>Each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execution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control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part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while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statement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one,</a:t>
            </a:r>
            <a:endParaRPr sz="20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tabLst>
                <a:tab pos="1229995" algn="l"/>
              </a:tabLst>
            </a:pPr>
            <a:r>
              <a:rPr sz="2000" spc="-10" dirty="0">
                <a:latin typeface="Arial MT"/>
                <a:cs typeface="Arial MT"/>
              </a:rPr>
              <a:t>unless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&lt;expr&gt;</a:t>
            </a:r>
            <a:r>
              <a:rPr sz="2000" spc="-5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function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instance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characteristics.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60"/>
              </a:spcBef>
            </a:pPr>
            <a:endParaRPr sz="2000">
              <a:latin typeface="Arial MT"/>
              <a:cs typeface="Arial MT"/>
            </a:endParaRPr>
          </a:p>
          <a:p>
            <a:pPr marL="355600" marR="186055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step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count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each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execution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control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part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FF3399"/>
                </a:solidFill>
                <a:latin typeface="Arial MT"/>
                <a:cs typeface="Arial MT"/>
              </a:rPr>
              <a:t>for </a:t>
            </a:r>
            <a:r>
              <a:rPr sz="2000" dirty="0">
                <a:latin typeface="Arial MT"/>
                <a:cs typeface="Arial MT"/>
              </a:rPr>
              <a:t>statement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one,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unless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&lt;expr1&gt;</a:t>
            </a:r>
            <a:r>
              <a:rPr sz="2000" spc="-5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&lt;expr2&gt;</a:t>
            </a:r>
            <a:r>
              <a:rPr sz="2000" spc="-5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functions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the </a:t>
            </a:r>
            <a:r>
              <a:rPr sz="2000" dirty="0">
                <a:latin typeface="Arial MT"/>
                <a:cs typeface="Arial MT"/>
              </a:rPr>
              <a:t>instance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characteristics.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60"/>
              </a:spcBef>
              <a:buFont typeface="Arial MT"/>
              <a:buChar char="•"/>
            </a:pPr>
            <a:endParaRPr sz="2000">
              <a:latin typeface="Arial MT"/>
              <a:cs typeface="Arial MT"/>
            </a:endParaRPr>
          </a:p>
          <a:p>
            <a:pPr marL="355600" marR="249554" indent="-342900">
              <a:lnSpc>
                <a:spcPct val="100000"/>
              </a:lnSpc>
              <a:spcBef>
                <a:spcPts val="5"/>
              </a:spcBef>
              <a:buChar char="•"/>
              <a:tabLst>
                <a:tab pos="355600" algn="l"/>
              </a:tabLst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step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count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each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execution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condition</a:t>
            </a:r>
            <a:r>
              <a:rPr sz="2000" spc="-4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conditional </a:t>
            </a:r>
            <a:r>
              <a:rPr sz="2000" dirty="0">
                <a:latin typeface="Arial MT"/>
                <a:cs typeface="Arial MT"/>
              </a:rPr>
              <a:t>statements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one,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unless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condition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function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instance characteristics.</a:t>
            </a:r>
            <a:endParaRPr sz="2000">
              <a:latin typeface="Arial MT"/>
              <a:cs typeface="Arial MT"/>
            </a:endParaRPr>
          </a:p>
          <a:p>
            <a:pPr marL="351790" marR="5080" indent="-339090" algn="just">
              <a:lnSpc>
                <a:spcPct val="100000"/>
              </a:lnSpc>
              <a:spcBef>
                <a:spcPts val="480"/>
              </a:spcBef>
              <a:buChar char="•"/>
              <a:tabLst>
                <a:tab pos="355600" algn="l"/>
              </a:tabLst>
            </a:pPr>
            <a:r>
              <a:rPr sz="2000" dirty="0">
                <a:latin typeface="Arial MT"/>
                <a:cs typeface="Arial MT"/>
              </a:rPr>
              <a:t>If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any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statement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assignment</a:t>
            </a:r>
            <a:r>
              <a:rPr sz="2000" spc="-6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statement,</a:t>
            </a:r>
            <a:r>
              <a:rPr sz="2000" spc="-7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control</a:t>
            </a:r>
            <a:r>
              <a:rPr sz="2000" spc="-3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part,</a:t>
            </a:r>
            <a:r>
              <a:rPr sz="2000" spc="-4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condition</a:t>
            </a:r>
            <a:r>
              <a:rPr sz="2000" spc="-3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FF3399"/>
                </a:solidFill>
                <a:latin typeface="Arial MT"/>
                <a:cs typeface="Arial MT"/>
              </a:rPr>
              <a:t>etc.) 	</a:t>
            </a:r>
            <a:r>
              <a:rPr sz="2000" dirty="0">
                <a:latin typeface="Arial MT"/>
                <a:cs typeface="Arial MT"/>
              </a:rPr>
              <a:t>involves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function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calls,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step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count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equal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number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of 	</a:t>
            </a:r>
            <a:r>
              <a:rPr sz="2000" dirty="0">
                <a:latin typeface="Arial MT"/>
                <a:cs typeface="Arial MT"/>
              </a:rPr>
              <a:t>steps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assignable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function</a:t>
            </a:r>
            <a:r>
              <a:rPr sz="2000" spc="-4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plus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one.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517525"/>
            <a:ext cx="7934325" cy="424434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19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Arial MT"/>
                <a:cs typeface="Arial MT"/>
              </a:rPr>
              <a:t>Methods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to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compute</a:t>
            </a:r>
            <a:r>
              <a:rPr sz="3200" spc="-6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step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count</a:t>
            </a:r>
            <a:endParaRPr sz="3200">
              <a:latin typeface="Arial MT"/>
              <a:cs typeface="Arial MT"/>
            </a:endParaRPr>
          </a:p>
          <a:p>
            <a:pPr marL="756285" marR="369570" lvl="1" indent="-287020">
              <a:lnSpc>
                <a:spcPct val="100000"/>
              </a:lnSpc>
              <a:spcBef>
                <a:spcPts val="610"/>
              </a:spcBef>
              <a:buAutoNum type="arabicParenR"/>
              <a:tabLst>
                <a:tab pos="756285" algn="l"/>
                <a:tab pos="824230" algn="l"/>
              </a:tabLst>
            </a:pPr>
            <a:r>
              <a:rPr sz="2400" dirty="0">
                <a:latin typeface="Arial MT"/>
                <a:cs typeface="Arial MT"/>
              </a:rPr>
              <a:t>	Introduce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global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variable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399"/>
                </a:solidFill>
                <a:latin typeface="Arial MT"/>
                <a:cs typeface="Arial MT"/>
              </a:rPr>
              <a:t>count</a:t>
            </a:r>
            <a:r>
              <a:rPr sz="2400" spc="-8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into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programs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with </a:t>
            </a:r>
            <a:r>
              <a:rPr sz="2400" dirty="0">
                <a:latin typeface="Arial MT"/>
                <a:cs typeface="Arial MT"/>
              </a:rPr>
              <a:t>initial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value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zero.</a:t>
            </a:r>
            <a:endParaRPr sz="2400">
              <a:latin typeface="Arial MT"/>
              <a:cs typeface="Arial MT"/>
            </a:endParaRPr>
          </a:p>
          <a:p>
            <a:pPr marL="1155700" marR="297180" lvl="2" indent="-228600">
              <a:lnSpc>
                <a:spcPct val="100000"/>
              </a:lnSpc>
              <a:spcBef>
                <a:spcPts val="484"/>
              </a:spcBef>
              <a:buChar char="•"/>
              <a:tabLst>
                <a:tab pos="1155700" algn="l"/>
              </a:tabLst>
            </a:pPr>
            <a:r>
              <a:rPr sz="2000" dirty="0">
                <a:latin typeface="Arial MT"/>
                <a:cs typeface="Arial MT"/>
              </a:rPr>
              <a:t>Statements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increment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count</a:t>
            </a:r>
            <a:r>
              <a:rPr sz="2000" spc="-3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appropriate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amount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introduced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into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program.</a:t>
            </a:r>
            <a:endParaRPr sz="2000">
              <a:latin typeface="Arial MT"/>
              <a:cs typeface="Arial MT"/>
            </a:endParaRPr>
          </a:p>
          <a:p>
            <a:pPr marL="1155700" marR="5080" lvl="2" indent="-228600">
              <a:lnSpc>
                <a:spcPct val="100000"/>
              </a:lnSpc>
              <a:spcBef>
                <a:spcPts val="480"/>
              </a:spcBef>
              <a:buChar char="•"/>
              <a:tabLst>
                <a:tab pos="1155700" algn="l"/>
              </a:tabLst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value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count</a:t>
            </a:r>
            <a:r>
              <a:rPr sz="2000" spc="-3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time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program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terminates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the </a:t>
            </a:r>
            <a:r>
              <a:rPr sz="2000" dirty="0">
                <a:latin typeface="Arial MT"/>
                <a:cs typeface="Arial MT"/>
              </a:rPr>
              <a:t>number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steps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taken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program.</a:t>
            </a:r>
            <a:endParaRPr sz="2000">
              <a:latin typeface="Arial MT"/>
              <a:cs typeface="Arial MT"/>
            </a:endParaRPr>
          </a:p>
          <a:p>
            <a:pPr marL="824865" lvl="1" indent="-354965">
              <a:lnSpc>
                <a:spcPct val="100000"/>
              </a:lnSpc>
              <a:spcBef>
                <a:spcPts val="575"/>
              </a:spcBef>
              <a:buAutoNum type="arabicParenR"/>
              <a:tabLst>
                <a:tab pos="824865" algn="l"/>
              </a:tabLst>
            </a:pPr>
            <a:r>
              <a:rPr sz="2400" dirty="0">
                <a:latin typeface="Arial MT"/>
                <a:cs typeface="Arial MT"/>
              </a:rPr>
              <a:t>Tabular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method</a:t>
            </a:r>
            <a:endParaRPr sz="2400">
              <a:latin typeface="Arial MT"/>
              <a:cs typeface="Arial MT"/>
            </a:endParaRPr>
          </a:p>
          <a:p>
            <a:pPr marL="1155700" lvl="2" indent="-228600">
              <a:lnSpc>
                <a:spcPct val="100000"/>
              </a:lnSpc>
              <a:spcBef>
                <a:spcPts val="480"/>
              </a:spcBef>
              <a:buChar char="•"/>
              <a:tabLst>
                <a:tab pos="1155700" algn="l"/>
              </a:tabLst>
            </a:pPr>
            <a:r>
              <a:rPr sz="2000" dirty="0">
                <a:latin typeface="Arial MT"/>
                <a:cs typeface="Arial MT"/>
              </a:rPr>
              <a:t>Determine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total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number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steps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contributed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each</a:t>
            </a:r>
            <a:endParaRPr sz="2000">
              <a:latin typeface="Arial MT"/>
              <a:cs typeface="Arial MT"/>
            </a:endParaRPr>
          </a:p>
          <a:p>
            <a:pPr marL="1155700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statement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per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CC3300"/>
                </a:solidFill>
                <a:latin typeface="Arial MT"/>
                <a:cs typeface="Arial MT"/>
              </a:rPr>
              <a:t>execution</a:t>
            </a:r>
            <a:r>
              <a:rPr sz="2000" spc="-45" dirty="0">
                <a:solidFill>
                  <a:srgbClr val="CC33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CC3300"/>
                </a:solidFill>
                <a:latin typeface="Symbol"/>
                <a:cs typeface="Symbol"/>
              </a:rPr>
              <a:t></a:t>
            </a:r>
            <a:r>
              <a:rPr sz="2000" spc="30" dirty="0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CC3300"/>
                </a:solidFill>
                <a:latin typeface="Arial MT"/>
                <a:cs typeface="Arial MT"/>
              </a:rPr>
              <a:t>frequency</a:t>
            </a:r>
            <a:endParaRPr sz="2000">
              <a:latin typeface="Arial MT"/>
              <a:cs typeface="Arial MT"/>
            </a:endParaRPr>
          </a:p>
          <a:p>
            <a:pPr marL="1155700" lvl="2" indent="-228600">
              <a:lnSpc>
                <a:spcPct val="100000"/>
              </a:lnSpc>
              <a:spcBef>
                <a:spcPts val="484"/>
              </a:spcBef>
              <a:buChar char="•"/>
              <a:tabLst>
                <a:tab pos="1155700" algn="l"/>
              </a:tabLst>
            </a:pPr>
            <a:r>
              <a:rPr sz="2000" dirty="0">
                <a:latin typeface="Arial MT"/>
                <a:cs typeface="Arial MT"/>
              </a:rPr>
              <a:t>Add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up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contribution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all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statements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11250"/>
            <a:ext cx="59626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0" spc="-20" dirty="0">
                <a:solidFill>
                  <a:srgbClr val="000000"/>
                </a:solidFill>
                <a:latin typeface="Arial MT"/>
                <a:cs typeface="Arial MT"/>
              </a:rPr>
              <a:t>Method-</a:t>
            </a:r>
            <a:r>
              <a:rPr sz="2800" b="0" dirty="0">
                <a:solidFill>
                  <a:srgbClr val="000000"/>
                </a:solidFill>
                <a:latin typeface="Arial MT"/>
                <a:cs typeface="Arial MT"/>
              </a:rPr>
              <a:t>I:</a:t>
            </a:r>
            <a:r>
              <a:rPr sz="2800" b="0" spc="-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000" b="0" dirty="0">
                <a:solidFill>
                  <a:srgbClr val="000000"/>
                </a:solidFill>
                <a:latin typeface="Arial MT"/>
                <a:cs typeface="Arial MT"/>
              </a:rPr>
              <a:t>Introduce</a:t>
            </a:r>
            <a:r>
              <a:rPr sz="2000" b="0" spc="-4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000" b="0" dirty="0">
                <a:solidFill>
                  <a:srgbClr val="000000"/>
                </a:solidFill>
                <a:latin typeface="Arial MT"/>
                <a:cs typeface="Arial MT"/>
              </a:rPr>
              <a:t>variable</a:t>
            </a:r>
            <a:r>
              <a:rPr sz="2000" b="0" spc="-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000" b="0" dirty="0">
                <a:solidFill>
                  <a:srgbClr val="FF3399"/>
                </a:solidFill>
                <a:latin typeface="Arial MT"/>
                <a:cs typeface="Arial MT"/>
              </a:rPr>
              <a:t>count</a:t>
            </a:r>
            <a:r>
              <a:rPr sz="2000" b="0" spc="-3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b="0" dirty="0">
                <a:solidFill>
                  <a:srgbClr val="000000"/>
                </a:solidFill>
                <a:latin typeface="Arial MT"/>
                <a:cs typeface="Arial MT"/>
              </a:rPr>
              <a:t>into</a:t>
            </a:r>
            <a:r>
              <a:rPr sz="2000" b="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000" b="0" spc="-10" dirty="0">
                <a:solidFill>
                  <a:srgbClr val="000000"/>
                </a:solidFill>
                <a:latin typeface="Arial MT"/>
                <a:cs typeface="Arial MT"/>
              </a:rPr>
              <a:t>programs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324774"/>
            <a:ext cx="5124450" cy="3366135"/>
          </a:xfrm>
          <a:prstGeom prst="rect">
            <a:avLst/>
          </a:prstGeom>
        </p:spPr>
        <p:txBody>
          <a:bodyPr vert="horz" wrap="square" lIns="0" tIns="1593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5"/>
              </a:spcBef>
              <a:tabLst>
                <a:tab pos="3034665" algn="l"/>
              </a:tabLst>
            </a:pPr>
            <a:r>
              <a:rPr sz="2800" dirty="0">
                <a:latin typeface="Arial MT"/>
                <a:cs typeface="Arial MT"/>
              </a:rPr>
              <a:t>EX:-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Iterative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sum</a:t>
            </a:r>
            <a:r>
              <a:rPr sz="2800" dirty="0">
                <a:latin typeface="Arial MT"/>
                <a:cs typeface="Arial MT"/>
              </a:rPr>
              <a:t>	of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n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numbers</a:t>
            </a:r>
            <a:endParaRPr sz="2800">
              <a:latin typeface="Arial MT"/>
              <a:cs typeface="Arial MT"/>
            </a:endParaRPr>
          </a:p>
          <a:p>
            <a:pPr marL="329565">
              <a:lnSpc>
                <a:spcPct val="100000"/>
              </a:lnSpc>
              <a:spcBef>
                <a:spcPts val="660"/>
              </a:spcBef>
            </a:pPr>
            <a:r>
              <a:rPr sz="1600" dirty="0">
                <a:latin typeface="Arial MT"/>
                <a:cs typeface="Arial MT"/>
              </a:rPr>
              <a:t>Algorithm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sum(a,</a:t>
            </a:r>
            <a:r>
              <a:rPr sz="1600" spc="40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n)</a:t>
            </a:r>
            <a:endParaRPr sz="16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45"/>
              </a:spcBef>
            </a:pPr>
            <a:r>
              <a:rPr sz="1400" spc="-50" dirty="0">
                <a:latin typeface="Arial MT"/>
                <a:cs typeface="Arial MT"/>
              </a:rPr>
              <a:t>{</a:t>
            </a:r>
            <a:endParaRPr sz="1400">
              <a:latin typeface="Arial MT"/>
              <a:cs typeface="Arial MT"/>
            </a:endParaRPr>
          </a:p>
          <a:p>
            <a:pPr marL="869315">
              <a:lnSpc>
                <a:spcPct val="100000"/>
              </a:lnSpc>
              <a:spcBef>
                <a:spcPts val="405"/>
              </a:spcBef>
            </a:pPr>
            <a:r>
              <a:rPr sz="1200" spc="-10" dirty="0">
                <a:latin typeface="Arial MT"/>
                <a:cs typeface="Arial MT"/>
              </a:rPr>
              <a:t>s:=0;</a:t>
            </a:r>
            <a:endParaRPr sz="1200">
              <a:latin typeface="Arial MT"/>
              <a:cs typeface="Arial MT"/>
            </a:endParaRPr>
          </a:p>
          <a:p>
            <a:pPr marL="969644" marR="1068705" indent="-43180">
              <a:lnSpc>
                <a:spcPct val="120000"/>
              </a:lnSpc>
              <a:spcBef>
                <a:spcPts val="85"/>
              </a:spcBef>
            </a:pPr>
            <a:r>
              <a:rPr sz="1200" b="1" dirty="0">
                <a:solidFill>
                  <a:srgbClr val="FF3399"/>
                </a:solidFill>
                <a:latin typeface="Arial"/>
                <a:cs typeface="Arial"/>
              </a:rPr>
              <a:t>count:=count+1;</a:t>
            </a:r>
            <a:r>
              <a:rPr sz="1200" b="1" spc="305" dirty="0">
                <a:solidFill>
                  <a:srgbClr val="FF3399"/>
                </a:solidFill>
                <a:latin typeface="Arial"/>
                <a:cs typeface="Arial"/>
              </a:rPr>
              <a:t> </a:t>
            </a:r>
            <a:r>
              <a:rPr sz="1200" dirty="0">
                <a:latin typeface="Arial MT"/>
                <a:cs typeface="Arial MT"/>
              </a:rPr>
              <a:t>//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for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assignment</a:t>
            </a:r>
            <a:r>
              <a:rPr sz="1200" spc="-6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statement </a:t>
            </a:r>
            <a:r>
              <a:rPr sz="1200" dirty="0">
                <a:latin typeface="Arial MT"/>
                <a:cs typeface="Arial MT"/>
              </a:rPr>
              <a:t>for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i:=1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to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n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do</a:t>
            </a:r>
            <a:endParaRPr sz="1200">
              <a:latin typeface="Arial MT"/>
              <a:cs typeface="Arial MT"/>
            </a:endParaRPr>
          </a:p>
          <a:p>
            <a:pPr marL="969644">
              <a:lnSpc>
                <a:spcPct val="100000"/>
              </a:lnSpc>
              <a:spcBef>
                <a:spcPts val="285"/>
              </a:spcBef>
              <a:tabLst>
                <a:tab pos="1277620" algn="l"/>
              </a:tabLst>
            </a:pPr>
            <a:r>
              <a:rPr sz="1200" spc="-50" dirty="0">
                <a:latin typeface="Arial MT"/>
                <a:cs typeface="Arial MT"/>
              </a:rPr>
              <a:t>{</a:t>
            </a:r>
            <a:r>
              <a:rPr sz="1200" dirty="0">
                <a:latin typeface="Arial MT"/>
                <a:cs typeface="Arial MT"/>
              </a:rPr>
              <a:t>	</a:t>
            </a:r>
            <a:r>
              <a:rPr sz="1200" b="1" dirty="0">
                <a:solidFill>
                  <a:srgbClr val="FF3399"/>
                </a:solidFill>
                <a:latin typeface="Arial"/>
                <a:cs typeface="Arial"/>
              </a:rPr>
              <a:t>count:=count+1;</a:t>
            </a:r>
            <a:r>
              <a:rPr sz="1200" b="1" spc="-10" dirty="0">
                <a:solidFill>
                  <a:srgbClr val="FF3399"/>
                </a:solidFill>
                <a:latin typeface="Arial"/>
                <a:cs typeface="Arial"/>
              </a:rPr>
              <a:t> </a:t>
            </a:r>
            <a:r>
              <a:rPr sz="1200" dirty="0">
                <a:latin typeface="Arial MT"/>
                <a:cs typeface="Arial MT"/>
              </a:rPr>
              <a:t>//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For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b="1" spc="-25" dirty="0">
                <a:latin typeface="Arial"/>
                <a:cs typeface="Arial"/>
              </a:rPr>
              <a:t>for</a:t>
            </a:r>
            <a:endParaRPr sz="1200">
              <a:latin typeface="Arial"/>
              <a:cs typeface="Arial"/>
            </a:endParaRPr>
          </a:p>
          <a:p>
            <a:pPr marL="1270000">
              <a:lnSpc>
                <a:spcPct val="100000"/>
              </a:lnSpc>
              <a:spcBef>
                <a:spcPts val="290"/>
              </a:spcBef>
            </a:pPr>
            <a:r>
              <a:rPr sz="1200" spc="-10" dirty="0">
                <a:latin typeface="Arial MT"/>
                <a:cs typeface="Arial MT"/>
              </a:rPr>
              <a:t>s:=s+a[i];</a:t>
            </a:r>
            <a:endParaRPr sz="1200">
              <a:latin typeface="Arial MT"/>
              <a:cs typeface="Arial MT"/>
            </a:endParaRPr>
          </a:p>
          <a:p>
            <a:pPr marL="1270000">
              <a:lnSpc>
                <a:spcPct val="100000"/>
              </a:lnSpc>
              <a:spcBef>
                <a:spcPts val="285"/>
              </a:spcBef>
            </a:pPr>
            <a:r>
              <a:rPr sz="1200" b="1" dirty="0">
                <a:solidFill>
                  <a:srgbClr val="FF3399"/>
                </a:solidFill>
                <a:latin typeface="Arial"/>
                <a:cs typeface="Arial"/>
              </a:rPr>
              <a:t>count:=count+1;</a:t>
            </a:r>
            <a:r>
              <a:rPr sz="1200" b="1" spc="-5" dirty="0">
                <a:solidFill>
                  <a:srgbClr val="FF3399"/>
                </a:solidFill>
                <a:latin typeface="Arial"/>
                <a:cs typeface="Arial"/>
              </a:rPr>
              <a:t> </a:t>
            </a:r>
            <a:r>
              <a:rPr sz="1200" dirty="0">
                <a:latin typeface="Arial MT"/>
                <a:cs typeface="Arial MT"/>
              </a:rPr>
              <a:t>//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for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b="1" dirty="0">
                <a:latin typeface="Arial"/>
                <a:cs typeface="Arial"/>
              </a:rPr>
              <a:t>assignment</a:t>
            </a:r>
            <a:r>
              <a:rPr sz="1200" b="1" spc="-55" dirty="0">
                <a:latin typeface="Arial"/>
                <a:cs typeface="Arial"/>
              </a:rPr>
              <a:t> </a:t>
            </a:r>
            <a:r>
              <a:rPr sz="1200" spc="-10" dirty="0">
                <a:latin typeface="Arial MT"/>
                <a:cs typeface="Arial MT"/>
              </a:rPr>
              <a:t>statement</a:t>
            </a:r>
            <a:endParaRPr sz="1200">
              <a:latin typeface="Arial MT"/>
              <a:cs typeface="Arial MT"/>
            </a:endParaRPr>
          </a:p>
          <a:p>
            <a:pPr marL="969644">
              <a:lnSpc>
                <a:spcPct val="100000"/>
              </a:lnSpc>
              <a:spcBef>
                <a:spcPts val="290"/>
              </a:spcBef>
            </a:pPr>
            <a:r>
              <a:rPr sz="1200" spc="-50" dirty="0">
                <a:latin typeface="Arial MT"/>
                <a:cs typeface="Arial MT"/>
              </a:rPr>
              <a:t>}</a:t>
            </a:r>
            <a:endParaRPr sz="1200">
              <a:latin typeface="Arial MT"/>
              <a:cs typeface="Arial MT"/>
            </a:endParaRPr>
          </a:p>
          <a:p>
            <a:pPr marR="184785" algn="ctr">
              <a:lnSpc>
                <a:spcPct val="100000"/>
              </a:lnSpc>
              <a:spcBef>
                <a:spcPts val="290"/>
              </a:spcBef>
            </a:pPr>
            <a:r>
              <a:rPr sz="1200" b="1" dirty="0">
                <a:solidFill>
                  <a:srgbClr val="FF3399"/>
                </a:solidFill>
                <a:latin typeface="Arial"/>
                <a:cs typeface="Arial"/>
              </a:rPr>
              <a:t>count:=count+1</a:t>
            </a:r>
            <a:r>
              <a:rPr sz="1200" dirty="0">
                <a:solidFill>
                  <a:srgbClr val="FF3399"/>
                </a:solidFill>
                <a:latin typeface="Arial MT"/>
                <a:cs typeface="Arial MT"/>
              </a:rPr>
              <a:t>;</a:t>
            </a:r>
            <a:r>
              <a:rPr sz="1200" spc="-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//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for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last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time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of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b="1" spc="-25" dirty="0">
                <a:latin typeface="Arial"/>
                <a:cs typeface="Arial"/>
              </a:rPr>
              <a:t>for</a:t>
            </a:r>
            <a:endParaRPr sz="1200">
              <a:latin typeface="Arial"/>
              <a:cs typeface="Arial"/>
            </a:endParaRPr>
          </a:p>
          <a:p>
            <a:pPr marL="1012190">
              <a:lnSpc>
                <a:spcPct val="100000"/>
              </a:lnSpc>
              <a:spcBef>
                <a:spcPts val="290"/>
              </a:spcBef>
            </a:pPr>
            <a:r>
              <a:rPr sz="1200" dirty="0">
                <a:latin typeface="Arial MT"/>
                <a:cs typeface="Arial MT"/>
              </a:rPr>
              <a:t>return</a:t>
            </a:r>
            <a:r>
              <a:rPr sz="1200" spc="-25" dirty="0">
                <a:latin typeface="Arial MT"/>
                <a:cs typeface="Arial MT"/>
              </a:rPr>
              <a:t> s;</a:t>
            </a:r>
            <a:endParaRPr sz="1200">
              <a:latin typeface="Arial MT"/>
              <a:cs typeface="Arial MT"/>
            </a:endParaRPr>
          </a:p>
          <a:p>
            <a:pPr marL="613410">
              <a:lnSpc>
                <a:spcPct val="100000"/>
              </a:lnSpc>
              <a:spcBef>
                <a:spcPts val="285"/>
              </a:spcBef>
            </a:pPr>
            <a:r>
              <a:rPr sz="1200" b="1" dirty="0">
                <a:solidFill>
                  <a:srgbClr val="FF3399"/>
                </a:solidFill>
                <a:latin typeface="Arial"/>
                <a:cs typeface="Arial"/>
              </a:rPr>
              <a:t>count:=count+1</a:t>
            </a:r>
            <a:r>
              <a:rPr sz="1200" dirty="0">
                <a:solidFill>
                  <a:srgbClr val="FF3399"/>
                </a:solidFill>
                <a:latin typeface="Arial MT"/>
                <a:cs typeface="Arial MT"/>
              </a:rPr>
              <a:t>;</a:t>
            </a:r>
            <a:r>
              <a:rPr sz="1200" spc="-2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//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for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b="1" spc="-10" dirty="0">
                <a:latin typeface="Arial"/>
                <a:cs typeface="Arial"/>
              </a:rPr>
              <a:t>return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839" y="4701920"/>
            <a:ext cx="768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Arial MT"/>
                <a:cs typeface="Arial MT"/>
              </a:rPr>
              <a:t>}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10478" y="4822012"/>
            <a:ext cx="17373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CC3300"/>
                </a:solidFill>
                <a:latin typeface="Times New Roman"/>
                <a:cs typeface="Times New Roman"/>
              </a:rPr>
              <a:t>2n</a:t>
            </a:r>
            <a:r>
              <a:rPr sz="2800" spc="-5" dirty="0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C3300"/>
                </a:solidFill>
                <a:latin typeface="Times New Roman"/>
                <a:cs typeface="Times New Roman"/>
              </a:rPr>
              <a:t>+</a:t>
            </a:r>
            <a:r>
              <a:rPr sz="2800" spc="-30" dirty="0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C3300"/>
                </a:solidFill>
                <a:latin typeface="Times New Roman"/>
                <a:cs typeface="Times New Roman"/>
              </a:rPr>
              <a:t>3</a:t>
            </a:r>
            <a:r>
              <a:rPr sz="2800" spc="-20" dirty="0">
                <a:solidFill>
                  <a:srgbClr val="CC3300"/>
                </a:solidFill>
                <a:latin typeface="Times New Roman"/>
                <a:cs typeface="Times New Roman"/>
              </a:rPr>
              <a:t> steps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5482539"/>
            <a:ext cx="7216775" cy="606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48335" marR="5080" indent="-63627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Note</a:t>
            </a:r>
            <a:r>
              <a:rPr sz="2000" spc="-4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:</a:t>
            </a:r>
            <a:r>
              <a:rPr sz="2000" spc="-8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1800" i="1" dirty="0">
                <a:latin typeface="Arial"/>
                <a:cs typeface="Arial"/>
              </a:rPr>
              <a:t>Step</a:t>
            </a:r>
            <a:r>
              <a:rPr sz="1800" i="1" spc="-2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count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tells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us</a:t>
            </a:r>
            <a:r>
              <a:rPr sz="1800" i="1" spc="-2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how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the</a:t>
            </a:r>
            <a:r>
              <a:rPr sz="1800" i="1" spc="-3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run</a:t>
            </a:r>
            <a:r>
              <a:rPr sz="1800" i="1" spc="-2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time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for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a</a:t>
            </a:r>
            <a:r>
              <a:rPr sz="1800" i="1" spc="-2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program</a:t>
            </a:r>
            <a:r>
              <a:rPr sz="1800" i="1" spc="-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changes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spc="-20" dirty="0">
                <a:latin typeface="Arial"/>
                <a:cs typeface="Arial"/>
              </a:rPr>
              <a:t>with </a:t>
            </a:r>
            <a:r>
              <a:rPr sz="1800" i="1" dirty="0">
                <a:latin typeface="Arial"/>
                <a:cs typeface="Arial"/>
              </a:rPr>
              <a:t>changes</a:t>
            </a:r>
            <a:r>
              <a:rPr sz="1800" i="1" spc="-2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in</a:t>
            </a:r>
            <a:r>
              <a:rPr sz="1800" i="1" spc="-2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the</a:t>
            </a:r>
            <a:r>
              <a:rPr sz="1800" i="1" spc="459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instance</a:t>
            </a:r>
            <a:r>
              <a:rPr sz="1800" i="1" spc="-10" dirty="0">
                <a:latin typeface="Arial"/>
                <a:cs typeface="Arial"/>
              </a:rPr>
              <a:t> characteristics.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846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5"/>
              </a:spcBef>
            </a:pPr>
            <a:r>
              <a:rPr sz="3200" b="0" dirty="0">
                <a:solidFill>
                  <a:srgbClr val="000000"/>
                </a:solidFill>
                <a:latin typeface="Arial MT"/>
                <a:cs typeface="Arial MT"/>
              </a:rPr>
              <a:t>Ex:-</a:t>
            </a:r>
            <a:r>
              <a:rPr sz="3200" b="0" spc="-6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 MT"/>
                <a:cs typeface="Arial MT"/>
              </a:rPr>
              <a:t>Addition</a:t>
            </a:r>
            <a:r>
              <a:rPr sz="2800" b="0" spc="-5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 MT"/>
                <a:cs typeface="Arial MT"/>
              </a:rPr>
              <a:t>of</a:t>
            </a:r>
            <a:r>
              <a:rPr sz="2800" b="0" spc="-4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 MT"/>
                <a:cs typeface="Arial MT"/>
              </a:rPr>
              <a:t>two</a:t>
            </a:r>
            <a:r>
              <a:rPr sz="2800" b="0" spc="-4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 MT"/>
                <a:cs typeface="Arial MT"/>
              </a:rPr>
              <a:t>m×n</a:t>
            </a:r>
            <a:r>
              <a:rPr sz="2800" b="0" spc="-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800" b="0" spc="-10" dirty="0">
                <a:solidFill>
                  <a:srgbClr val="000000"/>
                </a:solidFill>
                <a:latin typeface="Arial MT"/>
                <a:cs typeface="Arial MT"/>
              </a:rPr>
              <a:t>matrices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8839" y="1514987"/>
            <a:ext cx="3534410" cy="300101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800" dirty="0">
                <a:latin typeface="Arial MT"/>
                <a:cs typeface="Arial MT"/>
              </a:rPr>
              <a:t>Algorithm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Add(a,b,c,,m,n)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800" spc="-50" dirty="0">
                <a:latin typeface="Arial MT"/>
                <a:cs typeface="Arial MT"/>
              </a:rPr>
              <a:t>{</a:t>
            </a:r>
            <a:endParaRPr sz="1800">
              <a:latin typeface="Arial MT"/>
              <a:cs typeface="Arial MT"/>
            </a:endParaRPr>
          </a:p>
          <a:p>
            <a:pPr marL="317500">
              <a:lnSpc>
                <a:spcPct val="100000"/>
              </a:lnSpc>
              <a:spcBef>
                <a:spcPts val="434"/>
              </a:spcBef>
            </a:pP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i:=1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do</a:t>
            </a:r>
            <a:endParaRPr sz="1800">
              <a:latin typeface="Arial MT"/>
              <a:cs typeface="Arial MT"/>
            </a:endParaRPr>
          </a:p>
          <a:p>
            <a:pPr marL="317500">
              <a:lnSpc>
                <a:spcPct val="100000"/>
              </a:lnSpc>
              <a:spcBef>
                <a:spcPts val="430"/>
              </a:spcBef>
            </a:pPr>
            <a:r>
              <a:rPr sz="1800" spc="-50" dirty="0">
                <a:latin typeface="Arial MT"/>
                <a:cs typeface="Arial MT"/>
              </a:rPr>
              <a:t>{</a:t>
            </a:r>
            <a:endParaRPr sz="1800">
              <a:latin typeface="Arial MT"/>
              <a:cs typeface="Arial MT"/>
            </a:endParaRPr>
          </a:p>
          <a:p>
            <a:pPr marL="1498600">
              <a:lnSpc>
                <a:spcPct val="100000"/>
              </a:lnSpc>
              <a:spcBef>
                <a:spcPts val="434"/>
              </a:spcBef>
            </a:pPr>
            <a:r>
              <a:rPr sz="1800" dirty="0">
                <a:latin typeface="Arial MT"/>
                <a:cs typeface="Arial MT"/>
              </a:rPr>
              <a:t>for j:=1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 n </a:t>
            </a:r>
            <a:r>
              <a:rPr sz="1800" spc="-25" dirty="0">
                <a:latin typeface="Arial MT"/>
                <a:cs typeface="Arial MT"/>
              </a:rPr>
              <a:t>do</a:t>
            </a:r>
            <a:endParaRPr sz="1800">
              <a:latin typeface="Arial MT"/>
              <a:cs typeface="Arial MT"/>
            </a:endParaRPr>
          </a:p>
          <a:p>
            <a:pPr marL="1498600">
              <a:lnSpc>
                <a:spcPct val="100000"/>
              </a:lnSpc>
              <a:spcBef>
                <a:spcPts val="430"/>
              </a:spcBef>
            </a:pPr>
            <a:r>
              <a:rPr sz="1800" spc="-50" dirty="0">
                <a:latin typeface="Arial MT"/>
                <a:cs typeface="Arial MT"/>
              </a:rPr>
              <a:t>{</a:t>
            </a:r>
            <a:endParaRPr sz="1800">
              <a:latin typeface="Arial MT"/>
              <a:cs typeface="Arial MT"/>
            </a:endParaRPr>
          </a:p>
          <a:p>
            <a:pPr marL="1879600">
              <a:lnSpc>
                <a:spcPct val="100000"/>
              </a:lnSpc>
              <a:spcBef>
                <a:spcPts val="434"/>
              </a:spcBef>
            </a:pPr>
            <a:r>
              <a:rPr sz="1800" spc="-10" dirty="0">
                <a:latin typeface="Arial MT"/>
                <a:cs typeface="Arial MT"/>
              </a:rPr>
              <a:t>c[i,j]:=a[i,j]+b[i,j];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5"/>
              </a:spcBef>
            </a:pPr>
            <a:endParaRPr sz="1800">
              <a:latin typeface="Arial MT"/>
              <a:cs typeface="Arial MT"/>
            </a:endParaRPr>
          </a:p>
          <a:p>
            <a:pPr marL="1498600">
              <a:lnSpc>
                <a:spcPct val="100000"/>
              </a:lnSpc>
            </a:pPr>
            <a:r>
              <a:rPr sz="1800" spc="-50" dirty="0">
                <a:latin typeface="Arial MT"/>
                <a:cs typeface="Arial MT"/>
              </a:rPr>
              <a:t>}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83944" y="4544948"/>
            <a:ext cx="102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}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3444" y="5203697"/>
            <a:ext cx="102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}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66028" y="4593716"/>
            <a:ext cx="26657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CC3300"/>
                </a:solidFill>
                <a:latin typeface="Times New Roman"/>
                <a:cs typeface="Times New Roman"/>
              </a:rPr>
              <a:t>2mn</a:t>
            </a:r>
            <a:r>
              <a:rPr sz="2800" spc="-40" dirty="0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C3300"/>
                </a:solidFill>
                <a:latin typeface="Times New Roman"/>
                <a:cs typeface="Times New Roman"/>
              </a:rPr>
              <a:t>+</a:t>
            </a:r>
            <a:r>
              <a:rPr sz="2800" spc="-50" dirty="0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C3300"/>
                </a:solidFill>
                <a:latin typeface="Times New Roman"/>
                <a:cs typeface="Times New Roman"/>
              </a:rPr>
              <a:t>2m+1</a:t>
            </a:r>
            <a:r>
              <a:rPr sz="2800" spc="-45" dirty="0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CC3300"/>
                </a:solidFill>
                <a:latin typeface="Times New Roman"/>
                <a:cs typeface="Times New Roman"/>
              </a:rPr>
              <a:t>steps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066545"/>
            <a:ext cx="620903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825875" algn="l"/>
              </a:tabLst>
            </a:pPr>
            <a:r>
              <a:rPr sz="3200" b="0" dirty="0">
                <a:solidFill>
                  <a:srgbClr val="000000"/>
                </a:solidFill>
                <a:latin typeface="Arial MT"/>
                <a:cs typeface="Arial MT"/>
              </a:rPr>
              <a:t>EX:-</a:t>
            </a:r>
            <a:r>
              <a:rPr sz="3200" b="0" spc="-3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200" b="0" dirty="0">
                <a:solidFill>
                  <a:srgbClr val="000000"/>
                </a:solidFill>
                <a:latin typeface="Arial MT"/>
                <a:cs typeface="Arial MT"/>
              </a:rPr>
              <a:t>Recursive</a:t>
            </a:r>
            <a:r>
              <a:rPr sz="3200" b="0" spc="-6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200" b="0" spc="-25" dirty="0">
                <a:solidFill>
                  <a:srgbClr val="000000"/>
                </a:solidFill>
                <a:latin typeface="Arial MT"/>
                <a:cs typeface="Arial MT"/>
              </a:rPr>
              <a:t>sum</a:t>
            </a:r>
            <a:r>
              <a:rPr sz="3200" b="0" dirty="0">
                <a:solidFill>
                  <a:srgbClr val="000000"/>
                </a:solidFill>
                <a:latin typeface="Arial MT"/>
                <a:cs typeface="Arial MT"/>
              </a:rPr>
              <a:t>	of</a:t>
            </a:r>
            <a:r>
              <a:rPr sz="3200" b="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200" b="0" dirty="0">
                <a:solidFill>
                  <a:srgbClr val="000000"/>
                </a:solidFill>
                <a:latin typeface="Arial MT"/>
                <a:cs typeface="Arial MT"/>
              </a:rPr>
              <a:t>n</a:t>
            </a:r>
            <a:r>
              <a:rPr sz="3200" b="0" spc="-10" dirty="0">
                <a:solidFill>
                  <a:srgbClr val="000000"/>
                </a:solidFill>
                <a:latin typeface="Arial MT"/>
                <a:cs typeface="Arial MT"/>
              </a:rPr>
              <a:t> numbers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494979"/>
            <a:ext cx="4213860" cy="317119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2000" dirty="0">
                <a:latin typeface="Arial MT"/>
                <a:cs typeface="Arial MT"/>
              </a:rPr>
              <a:t>Algorithm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RSum(a,n)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600" spc="-50" dirty="0">
                <a:latin typeface="Arial MT"/>
                <a:cs typeface="Arial MT"/>
              </a:rPr>
              <a:t>{</a:t>
            </a:r>
            <a:endParaRPr sz="1600">
              <a:latin typeface="Arial MT"/>
              <a:cs typeface="Arial MT"/>
            </a:endParaRPr>
          </a:p>
          <a:p>
            <a:pPr marL="355600" marR="26670">
              <a:lnSpc>
                <a:spcPts val="2400"/>
              </a:lnSpc>
              <a:spcBef>
                <a:spcPts val="165"/>
              </a:spcBef>
            </a:pP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count:=count+1;</a:t>
            </a:r>
            <a:r>
              <a:rPr sz="2000" spc="-8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//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for the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if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conditional </a:t>
            </a:r>
            <a:r>
              <a:rPr sz="1600" dirty="0">
                <a:latin typeface="Arial MT"/>
                <a:cs typeface="Arial MT"/>
              </a:rPr>
              <a:t>if(n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≤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0)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then</a:t>
            </a:r>
            <a:endParaRPr sz="1600">
              <a:latin typeface="Arial MT"/>
              <a:cs typeface="Arial MT"/>
            </a:endParaRPr>
          </a:p>
          <a:p>
            <a:pPr marL="355600">
              <a:lnSpc>
                <a:spcPts val="1855"/>
              </a:lnSpc>
            </a:pPr>
            <a:r>
              <a:rPr sz="1600" spc="-50" dirty="0">
                <a:latin typeface="Arial MT"/>
                <a:cs typeface="Arial MT"/>
              </a:rPr>
              <a:t>{</a:t>
            </a:r>
            <a:endParaRPr sz="1600">
              <a:latin typeface="Arial MT"/>
              <a:cs typeface="Arial MT"/>
            </a:endParaRPr>
          </a:p>
          <a:p>
            <a:pPr marL="991235">
              <a:lnSpc>
                <a:spcPct val="100000"/>
              </a:lnSpc>
              <a:spcBef>
                <a:spcPts val="380"/>
              </a:spcBef>
            </a:pPr>
            <a:r>
              <a:rPr sz="1600" dirty="0">
                <a:latin typeface="Arial MT"/>
                <a:cs typeface="Arial MT"/>
              </a:rPr>
              <a:t>return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0;</a:t>
            </a:r>
            <a:endParaRPr sz="160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  <a:spcBef>
                <a:spcPts val="80"/>
              </a:spcBef>
            </a:pPr>
            <a:r>
              <a:rPr sz="2000" spc="-10" dirty="0">
                <a:solidFill>
                  <a:srgbClr val="FF3399"/>
                </a:solidFill>
                <a:latin typeface="Arial MT"/>
                <a:cs typeface="Arial MT"/>
              </a:rPr>
              <a:t>count:=count+1;</a:t>
            </a:r>
            <a:r>
              <a:rPr sz="2000" spc="-9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//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for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47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return</a:t>
            </a:r>
            <a:endParaRPr sz="16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20"/>
              </a:spcBef>
            </a:pPr>
            <a:r>
              <a:rPr sz="1600" spc="-50" dirty="0">
                <a:latin typeface="Arial MT"/>
                <a:cs typeface="Arial MT"/>
              </a:rPr>
              <a:t>}</a:t>
            </a:r>
            <a:endParaRPr sz="16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190"/>
              </a:spcBef>
            </a:pPr>
            <a:r>
              <a:rPr sz="1600" spc="-20" dirty="0">
                <a:latin typeface="Arial MT"/>
                <a:cs typeface="Arial MT"/>
              </a:rPr>
              <a:t>else</a:t>
            </a:r>
            <a:endParaRPr sz="1600">
              <a:latin typeface="Arial MT"/>
              <a:cs typeface="Arial MT"/>
            </a:endParaRPr>
          </a:p>
          <a:p>
            <a:pPr marL="297180">
              <a:lnSpc>
                <a:spcPct val="100000"/>
              </a:lnSpc>
              <a:spcBef>
                <a:spcPts val="50"/>
              </a:spcBef>
            </a:pPr>
            <a:r>
              <a:rPr sz="1600" spc="-50" dirty="0">
                <a:latin typeface="Arial MT"/>
                <a:cs typeface="Arial MT"/>
              </a:rPr>
              <a:t>{</a:t>
            </a:r>
            <a:endParaRPr sz="160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</a:pPr>
            <a:r>
              <a:rPr sz="1600" dirty="0">
                <a:latin typeface="Arial MT"/>
                <a:cs typeface="Arial MT"/>
              </a:rPr>
              <a:t>return</a:t>
            </a:r>
            <a:r>
              <a:rPr sz="1600" spc="50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RSum(a,n-</a:t>
            </a:r>
            <a:r>
              <a:rPr sz="1600" spc="-10" dirty="0">
                <a:latin typeface="Arial MT"/>
                <a:cs typeface="Arial MT"/>
              </a:rPr>
              <a:t>1)+a[n];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50594" y="4637913"/>
            <a:ext cx="18484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FF3399"/>
                </a:solidFill>
                <a:latin typeface="Arial MT"/>
                <a:cs typeface="Arial MT"/>
              </a:rPr>
              <a:t>count:=count+1;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39795" y="4689728"/>
            <a:ext cx="43840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Arial MT"/>
                <a:cs typeface="Arial MT"/>
              </a:rPr>
              <a:t>//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For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addition,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function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invocation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return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4945760"/>
            <a:ext cx="43624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Arial MT"/>
                <a:cs typeface="Arial MT"/>
              </a:rPr>
              <a:t>}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spc="-50" dirty="0">
                <a:latin typeface="Arial MT"/>
                <a:cs typeface="Arial MT"/>
              </a:rPr>
              <a:t>}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625854"/>
            <a:ext cx="7535545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Char char="•"/>
              <a:tabLst>
                <a:tab pos="354965" algn="l"/>
              </a:tabLst>
            </a:pPr>
            <a:r>
              <a:rPr sz="2000" dirty="0">
                <a:latin typeface="Arial MT"/>
                <a:cs typeface="Arial MT"/>
              </a:rPr>
              <a:t>When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analyzing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recursive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program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step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count,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often</a:t>
            </a:r>
            <a:endParaRPr sz="20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obtain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recursive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formula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step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count.</a:t>
            </a: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Char char="•"/>
              <a:tabLst>
                <a:tab pos="354965" algn="l"/>
              </a:tabLst>
            </a:pPr>
            <a:r>
              <a:rPr sz="2000" dirty="0">
                <a:latin typeface="Arial MT"/>
                <a:cs typeface="Arial MT"/>
              </a:rPr>
              <a:t>We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obtain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following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recursive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formula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above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(RSum)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1539" y="2638403"/>
            <a:ext cx="1119505" cy="284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15"/>
              </a:lnSpc>
            </a:pPr>
            <a:r>
              <a:rPr sz="2000" spc="-10" dirty="0">
                <a:latin typeface="Arial MT"/>
                <a:cs typeface="Arial MT"/>
              </a:rPr>
              <a:t>algorithm.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14400" y="2667000"/>
            <a:ext cx="6705600" cy="3048000"/>
          </a:xfrm>
          <a:custGeom>
            <a:avLst/>
            <a:gdLst/>
            <a:ahLst/>
            <a:cxnLst/>
            <a:rect l="l" t="t" r="r" b="b"/>
            <a:pathLst>
              <a:path w="6705600" h="3048000">
                <a:moveTo>
                  <a:pt x="6705600" y="0"/>
                </a:moveTo>
                <a:lnTo>
                  <a:pt x="0" y="0"/>
                </a:lnTo>
                <a:lnTo>
                  <a:pt x="0" y="3048000"/>
                </a:lnTo>
                <a:lnTo>
                  <a:pt x="6705600" y="3048000"/>
                </a:lnTo>
                <a:lnTo>
                  <a:pt x="6705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68044" y="4035932"/>
            <a:ext cx="10382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t</a:t>
            </a:r>
            <a:r>
              <a:rPr sz="1800" baseline="-20833" dirty="0">
                <a:latin typeface="Arial MT"/>
                <a:cs typeface="Arial MT"/>
              </a:rPr>
              <a:t>RSum</a:t>
            </a:r>
            <a:r>
              <a:rPr sz="1800" spc="179" baseline="-20833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(n)=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052637" y="3500437"/>
            <a:ext cx="1000125" cy="1381125"/>
            <a:chOff x="2052637" y="3500437"/>
            <a:chExt cx="1000125" cy="1381125"/>
          </a:xfrm>
        </p:grpSpPr>
        <p:sp>
          <p:nvSpPr>
            <p:cNvPr id="7" name="object 7"/>
            <p:cNvSpPr/>
            <p:nvPr/>
          </p:nvSpPr>
          <p:spPr>
            <a:xfrm>
              <a:off x="2057400" y="3505200"/>
              <a:ext cx="228600" cy="1371600"/>
            </a:xfrm>
            <a:custGeom>
              <a:avLst/>
              <a:gdLst/>
              <a:ahLst/>
              <a:cxnLst/>
              <a:rect l="l" t="t" r="r" b="b"/>
              <a:pathLst>
                <a:path w="228600" h="1371600">
                  <a:moveTo>
                    <a:pt x="228600" y="1371600"/>
                  </a:moveTo>
                  <a:lnTo>
                    <a:pt x="184112" y="1362616"/>
                  </a:lnTo>
                  <a:lnTo>
                    <a:pt x="147780" y="1338119"/>
                  </a:lnTo>
                  <a:lnTo>
                    <a:pt x="123283" y="1301787"/>
                  </a:lnTo>
                  <a:lnTo>
                    <a:pt x="114300" y="1257300"/>
                  </a:lnTo>
                  <a:lnTo>
                    <a:pt x="114300" y="800100"/>
                  </a:lnTo>
                  <a:lnTo>
                    <a:pt x="105316" y="755612"/>
                  </a:lnTo>
                  <a:lnTo>
                    <a:pt x="80819" y="719280"/>
                  </a:lnTo>
                  <a:lnTo>
                    <a:pt x="44487" y="694783"/>
                  </a:lnTo>
                  <a:lnTo>
                    <a:pt x="0" y="685800"/>
                  </a:lnTo>
                  <a:lnTo>
                    <a:pt x="44487" y="676816"/>
                  </a:lnTo>
                  <a:lnTo>
                    <a:pt x="80819" y="652319"/>
                  </a:lnTo>
                  <a:lnTo>
                    <a:pt x="105316" y="615987"/>
                  </a:lnTo>
                  <a:lnTo>
                    <a:pt x="114300" y="571500"/>
                  </a:lnTo>
                  <a:lnTo>
                    <a:pt x="114300" y="114300"/>
                  </a:lnTo>
                  <a:lnTo>
                    <a:pt x="123283" y="69812"/>
                  </a:lnTo>
                  <a:lnTo>
                    <a:pt x="147780" y="33480"/>
                  </a:lnTo>
                  <a:lnTo>
                    <a:pt x="184112" y="8983"/>
                  </a:lnTo>
                  <a:lnTo>
                    <a:pt x="228600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38400" y="3657600"/>
              <a:ext cx="609600" cy="304800"/>
            </a:xfrm>
            <a:custGeom>
              <a:avLst/>
              <a:gdLst/>
              <a:ahLst/>
              <a:cxnLst/>
              <a:rect l="l" t="t" r="r" b="b"/>
              <a:pathLst>
                <a:path w="609600" h="304800">
                  <a:moveTo>
                    <a:pt x="0" y="304800"/>
                  </a:moveTo>
                  <a:lnTo>
                    <a:pt x="609600" y="304800"/>
                  </a:lnTo>
                  <a:lnTo>
                    <a:pt x="6096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667380" y="365493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267200" y="3657600"/>
            <a:ext cx="914400" cy="762000"/>
          </a:xfrm>
          <a:custGeom>
            <a:avLst/>
            <a:gdLst/>
            <a:ahLst/>
            <a:cxnLst/>
            <a:rect l="l" t="t" r="r" b="b"/>
            <a:pathLst>
              <a:path w="914400" h="762000">
                <a:moveTo>
                  <a:pt x="0" y="304800"/>
                </a:moveTo>
                <a:lnTo>
                  <a:pt x="914400" y="304800"/>
                </a:lnTo>
                <a:lnTo>
                  <a:pt x="914400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  <a:path w="914400" h="762000">
                <a:moveTo>
                  <a:pt x="0" y="762000"/>
                </a:moveTo>
                <a:lnTo>
                  <a:pt x="914400" y="762000"/>
                </a:lnTo>
                <a:lnTo>
                  <a:pt x="914400" y="457200"/>
                </a:lnTo>
                <a:lnTo>
                  <a:pt x="0" y="457200"/>
                </a:lnTo>
                <a:lnTo>
                  <a:pt x="0" y="762000"/>
                </a:lnTo>
                <a:close/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423409" y="3654932"/>
            <a:ext cx="60388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If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n=0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1800" dirty="0">
                <a:latin typeface="Arial MT"/>
                <a:cs typeface="Arial MT"/>
              </a:rPr>
              <a:t>If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n&gt;0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438400" y="4114800"/>
            <a:ext cx="1524000" cy="381000"/>
          </a:xfrm>
          <a:custGeom>
            <a:avLst/>
            <a:gdLst/>
            <a:ahLst/>
            <a:cxnLst/>
            <a:rect l="l" t="t" r="r" b="b"/>
            <a:pathLst>
              <a:path w="1524000" h="381000">
                <a:moveTo>
                  <a:pt x="0" y="381000"/>
                </a:moveTo>
                <a:lnTo>
                  <a:pt x="1524000" y="381000"/>
                </a:lnTo>
                <a:lnTo>
                  <a:pt x="15240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515489" y="4150232"/>
            <a:ext cx="1370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2+</a:t>
            </a:r>
            <a:r>
              <a:rPr sz="1800" spc="5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</a:t>
            </a:r>
            <a:r>
              <a:rPr sz="1800" spc="-15" baseline="-20833" dirty="0">
                <a:latin typeface="Arial MT"/>
                <a:cs typeface="Arial MT"/>
              </a:rPr>
              <a:t>RSum</a:t>
            </a:r>
            <a:r>
              <a:rPr sz="1800" spc="-10" dirty="0">
                <a:latin typeface="Arial MT"/>
                <a:cs typeface="Arial MT"/>
              </a:rPr>
              <a:t>(n-</a:t>
            </a:r>
            <a:r>
              <a:rPr sz="1800" spc="-25" dirty="0">
                <a:latin typeface="Arial MT"/>
                <a:cs typeface="Arial MT"/>
              </a:rPr>
              <a:t>1)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8640" y="1016253"/>
            <a:ext cx="7845425" cy="43021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9100" marR="81280" indent="-343535">
              <a:lnSpc>
                <a:spcPct val="100000"/>
              </a:lnSpc>
              <a:spcBef>
                <a:spcPts val="105"/>
              </a:spcBef>
              <a:buChar char="•"/>
              <a:tabLst>
                <a:tab pos="419100" algn="l"/>
              </a:tabLst>
            </a:pPr>
            <a:r>
              <a:rPr sz="2000" dirty="0">
                <a:latin typeface="Arial MT"/>
                <a:cs typeface="Arial MT"/>
              </a:rPr>
              <a:t>One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way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solving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such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recursive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formula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repeated </a:t>
            </a:r>
            <a:r>
              <a:rPr sz="2000" dirty="0">
                <a:latin typeface="Arial MT"/>
                <a:cs typeface="Arial MT"/>
              </a:rPr>
              <a:t>substitutions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each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occurrence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function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t</a:t>
            </a:r>
            <a:r>
              <a:rPr sz="1950" baseline="-21367" dirty="0">
                <a:solidFill>
                  <a:srgbClr val="FF3399"/>
                </a:solidFill>
                <a:latin typeface="Arial MT"/>
                <a:cs typeface="Arial MT"/>
              </a:rPr>
              <a:t>RSum</a:t>
            </a:r>
            <a:r>
              <a:rPr sz="1950" spc="277" baseline="-21367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 </a:t>
            </a:r>
            <a:r>
              <a:rPr sz="2000" spc="-10" dirty="0">
                <a:latin typeface="Arial MT"/>
                <a:cs typeface="Arial MT"/>
              </a:rPr>
              <a:t>right </a:t>
            </a:r>
            <a:r>
              <a:rPr sz="2000" dirty="0">
                <a:latin typeface="Arial MT"/>
                <a:cs typeface="Arial MT"/>
              </a:rPr>
              <a:t>side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until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all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such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occurrences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disappear: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2000">
              <a:latin typeface="Arial MT"/>
              <a:cs typeface="Arial MT"/>
            </a:endParaRPr>
          </a:p>
          <a:p>
            <a:pPr marL="838200">
              <a:lnSpc>
                <a:spcPct val="100000"/>
              </a:lnSpc>
              <a:tabLst>
                <a:tab pos="2183130" algn="l"/>
              </a:tabLst>
            </a:pPr>
            <a:r>
              <a:rPr sz="2000" dirty="0">
                <a:latin typeface="Arial MT"/>
                <a:cs typeface="Arial MT"/>
              </a:rPr>
              <a:t>t</a:t>
            </a:r>
            <a:r>
              <a:rPr sz="1950" baseline="-21367" dirty="0">
                <a:latin typeface="Arial MT"/>
                <a:cs typeface="Arial MT"/>
              </a:rPr>
              <a:t>RSum</a:t>
            </a:r>
            <a:r>
              <a:rPr sz="1950" spc="322" baseline="-21367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(n)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spc="-50" dirty="0">
                <a:latin typeface="Arial MT"/>
                <a:cs typeface="Arial MT"/>
              </a:rPr>
              <a:t>=</a:t>
            </a:r>
            <a:r>
              <a:rPr sz="2000" dirty="0">
                <a:latin typeface="Arial MT"/>
                <a:cs typeface="Arial MT"/>
              </a:rPr>
              <a:t>	2+t</a:t>
            </a:r>
            <a:r>
              <a:rPr sz="1950" baseline="-21367" dirty="0">
                <a:latin typeface="Arial MT"/>
                <a:cs typeface="Arial MT"/>
              </a:rPr>
              <a:t>RSum</a:t>
            </a:r>
            <a:r>
              <a:rPr sz="2000" dirty="0">
                <a:latin typeface="Arial MT"/>
                <a:cs typeface="Arial MT"/>
              </a:rPr>
              <a:t>(n-</a:t>
            </a:r>
            <a:r>
              <a:rPr sz="2000" spc="-25" dirty="0">
                <a:latin typeface="Arial MT"/>
                <a:cs typeface="Arial MT"/>
              </a:rPr>
              <a:t>1)</a:t>
            </a:r>
            <a:endParaRPr sz="2000">
              <a:latin typeface="Arial MT"/>
              <a:cs typeface="Arial MT"/>
            </a:endParaRPr>
          </a:p>
          <a:p>
            <a:pPr marL="1816735">
              <a:lnSpc>
                <a:spcPct val="100000"/>
              </a:lnSpc>
              <a:tabLst>
                <a:tab pos="2103755" algn="l"/>
              </a:tabLst>
            </a:pPr>
            <a:r>
              <a:rPr sz="2000" spc="-50" dirty="0">
                <a:latin typeface="Arial MT"/>
                <a:cs typeface="Arial MT"/>
              </a:rPr>
              <a:t>=</a:t>
            </a:r>
            <a:r>
              <a:rPr sz="2000" dirty="0">
                <a:latin typeface="Arial MT"/>
                <a:cs typeface="Arial MT"/>
              </a:rPr>
              <a:t>	2+2+t</a:t>
            </a:r>
            <a:r>
              <a:rPr sz="1950" baseline="-21367" dirty="0">
                <a:latin typeface="Arial MT"/>
                <a:cs typeface="Arial MT"/>
              </a:rPr>
              <a:t>RSum</a:t>
            </a:r>
            <a:r>
              <a:rPr sz="2000" dirty="0">
                <a:latin typeface="Arial MT"/>
                <a:cs typeface="Arial MT"/>
              </a:rPr>
              <a:t>(n-</a:t>
            </a:r>
            <a:r>
              <a:rPr sz="2000" spc="-25" dirty="0">
                <a:latin typeface="Arial MT"/>
                <a:cs typeface="Arial MT"/>
              </a:rPr>
              <a:t>2)</a:t>
            </a:r>
            <a:endParaRPr sz="2000">
              <a:latin typeface="Arial MT"/>
              <a:cs typeface="Arial MT"/>
            </a:endParaRPr>
          </a:p>
          <a:p>
            <a:pPr marL="1816735">
              <a:lnSpc>
                <a:spcPct val="100000"/>
              </a:lnSpc>
              <a:tabLst>
                <a:tab pos="2103755" algn="l"/>
              </a:tabLst>
            </a:pPr>
            <a:r>
              <a:rPr sz="2000" spc="-50" dirty="0">
                <a:latin typeface="Arial MT"/>
                <a:cs typeface="Arial MT"/>
              </a:rPr>
              <a:t>=</a:t>
            </a:r>
            <a:r>
              <a:rPr sz="2000" dirty="0">
                <a:latin typeface="Arial MT"/>
                <a:cs typeface="Arial MT"/>
              </a:rPr>
              <a:t>	2(2)+t</a:t>
            </a:r>
            <a:r>
              <a:rPr sz="1950" baseline="-21367" dirty="0">
                <a:latin typeface="Arial MT"/>
                <a:cs typeface="Arial MT"/>
              </a:rPr>
              <a:t>RSum</a:t>
            </a:r>
            <a:r>
              <a:rPr sz="2000" dirty="0">
                <a:latin typeface="Arial MT"/>
                <a:cs typeface="Arial MT"/>
              </a:rPr>
              <a:t>(n-</a:t>
            </a:r>
            <a:r>
              <a:rPr sz="2000" spc="-25" dirty="0">
                <a:latin typeface="Arial MT"/>
                <a:cs typeface="Arial MT"/>
              </a:rPr>
              <a:t>2)</a:t>
            </a:r>
            <a:endParaRPr sz="2000">
              <a:latin typeface="Arial MT"/>
              <a:cs typeface="Arial MT"/>
            </a:endParaRPr>
          </a:p>
          <a:p>
            <a:pPr marL="2304415">
              <a:lnSpc>
                <a:spcPct val="100000"/>
              </a:lnSpc>
            </a:pPr>
            <a:r>
              <a:rPr sz="2000" spc="-50" dirty="0">
                <a:latin typeface="Arial MT"/>
                <a:cs typeface="Arial MT"/>
              </a:rPr>
              <a:t>:</a:t>
            </a:r>
            <a:endParaRPr sz="2000">
              <a:latin typeface="Arial MT"/>
              <a:cs typeface="Arial MT"/>
            </a:endParaRPr>
          </a:p>
          <a:p>
            <a:pPr marL="2304415">
              <a:lnSpc>
                <a:spcPct val="100000"/>
              </a:lnSpc>
              <a:spcBef>
                <a:spcPts val="5"/>
              </a:spcBef>
            </a:pPr>
            <a:r>
              <a:rPr sz="2000" spc="-50" dirty="0">
                <a:latin typeface="Arial MT"/>
                <a:cs typeface="Arial MT"/>
              </a:rPr>
              <a:t>:</a:t>
            </a:r>
            <a:endParaRPr sz="2000">
              <a:latin typeface="Arial MT"/>
              <a:cs typeface="Arial MT"/>
            </a:endParaRPr>
          </a:p>
          <a:p>
            <a:pPr marL="1752600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=</a:t>
            </a:r>
            <a:r>
              <a:rPr sz="2000" spc="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n(2)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+t</a:t>
            </a:r>
            <a:r>
              <a:rPr sz="1950" baseline="-21367" dirty="0">
                <a:latin typeface="Arial MT"/>
                <a:cs typeface="Arial MT"/>
              </a:rPr>
              <a:t>RSum</a:t>
            </a:r>
            <a:r>
              <a:rPr sz="2000" dirty="0">
                <a:latin typeface="Arial MT"/>
                <a:cs typeface="Arial MT"/>
              </a:rPr>
              <a:t>(n-</a:t>
            </a:r>
            <a:r>
              <a:rPr sz="2000" spc="-25" dirty="0">
                <a:latin typeface="Arial MT"/>
                <a:cs typeface="Arial MT"/>
              </a:rPr>
              <a:t>n)</a:t>
            </a:r>
            <a:endParaRPr sz="2000">
              <a:latin typeface="Arial MT"/>
              <a:cs typeface="Arial MT"/>
            </a:endParaRPr>
          </a:p>
          <a:p>
            <a:pPr marL="1885314">
              <a:lnSpc>
                <a:spcPct val="100000"/>
              </a:lnSpc>
            </a:pPr>
            <a:r>
              <a:rPr sz="2000" spc="-10" dirty="0">
                <a:latin typeface="Arial MT"/>
                <a:cs typeface="Arial MT"/>
              </a:rPr>
              <a:t>=2n+t</a:t>
            </a:r>
            <a:r>
              <a:rPr sz="1950" spc="-15" baseline="-21367" dirty="0">
                <a:latin typeface="Arial MT"/>
                <a:cs typeface="Arial MT"/>
              </a:rPr>
              <a:t>RSum</a:t>
            </a:r>
            <a:r>
              <a:rPr sz="2000" spc="-10" dirty="0">
                <a:latin typeface="Arial MT"/>
                <a:cs typeface="Arial MT"/>
              </a:rPr>
              <a:t>(0)</a:t>
            </a:r>
            <a:endParaRPr sz="2000">
              <a:latin typeface="Arial MT"/>
              <a:cs typeface="Arial MT"/>
            </a:endParaRPr>
          </a:p>
          <a:p>
            <a:pPr marL="1752600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=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2n+2</a:t>
            </a:r>
            <a:endParaRPr sz="2000">
              <a:latin typeface="Arial MT"/>
              <a:cs typeface="Arial MT"/>
            </a:endParaRPr>
          </a:p>
          <a:p>
            <a:pPr marL="838200">
              <a:lnSpc>
                <a:spcPct val="100000"/>
              </a:lnSpc>
              <a:tabLst>
                <a:tab pos="4008120" algn="l"/>
              </a:tabLst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step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count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Rsum</a:t>
            </a:r>
            <a:r>
              <a:rPr sz="2000" spc="-25" dirty="0">
                <a:latin typeface="Arial MT"/>
                <a:cs typeface="Arial MT"/>
              </a:rPr>
              <a:t> is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0" dirty="0">
                <a:solidFill>
                  <a:srgbClr val="FF3399"/>
                </a:solidFill>
                <a:latin typeface="Arial MT"/>
                <a:cs typeface="Arial MT"/>
              </a:rPr>
              <a:t>2n+2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4487" rIns="0" bIns="0" rtlCol="0">
            <a:spAutoFit/>
          </a:bodyPr>
          <a:lstStyle/>
          <a:p>
            <a:pPr marL="167640">
              <a:lnSpc>
                <a:spcPct val="100000"/>
              </a:lnSpc>
              <a:spcBef>
                <a:spcPts val="95"/>
              </a:spcBef>
            </a:pPr>
            <a:r>
              <a:rPr sz="2800" b="0" spc="-25" dirty="0">
                <a:solidFill>
                  <a:srgbClr val="000000"/>
                </a:solidFill>
                <a:latin typeface="Arial MT"/>
                <a:cs typeface="Arial MT"/>
              </a:rPr>
              <a:t>Method-</a:t>
            </a:r>
            <a:r>
              <a:rPr sz="2800" b="0" dirty="0">
                <a:solidFill>
                  <a:srgbClr val="000000"/>
                </a:solidFill>
                <a:latin typeface="Arial MT"/>
                <a:cs typeface="Arial MT"/>
              </a:rPr>
              <a:t>II:</a:t>
            </a:r>
            <a:r>
              <a:rPr sz="2800" b="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 MT"/>
                <a:cs typeface="Arial MT"/>
              </a:rPr>
              <a:t>Tabular</a:t>
            </a:r>
            <a:r>
              <a:rPr sz="2400" b="0" spc="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400" b="0" spc="-10" dirty="0">
                <a:solidFill>
                  <a:srgbClr val="000000"/>
                </a:solidFill>
                <a:latin typeface="Arial MT"/>
                <a:cs typeface="Arial MT"/>
              </a:rPr>
              <a:t>method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340" y="1443354"/>
            <a:ext cx="47358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  <a:tab pos="2945130" algn="l"/>
              </a:tabLst>
            </a:pPr>
            <a:r>
              <a:rPr sz="2400" dirty="0">
                <a:latin typeface="Arial MT"/>
                <a:cs typeface="Arial MT"/>
              </a:rPr>
              <a:t>EX:-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Iterative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sum</a:t>
            </a:r>
            <a:r>
              <a:rPr sz="2400" dirty="0">
                <a:latin typeface="Arial MT"/>
                <a:cs typeface="Arial MT"/>
              </a:rPr>
              <a:t>	of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numbers</a:t>
            </a:r>
            <a:endParaRPr sz="240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76312" y="1966912"/>
          <a:ext cx="7239000" cy="29463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9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868044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Statement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177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25" dirty="0">
                          <a:latin typeface="Arial MT"/>
                          <a:cs typeface="Arial MT"/>
                        </a:rPr>
                        <a:t>s/e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5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frequency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718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35" dirty="0">
                          <a:latin typeface="Arial MT"/>
                          <a:cs typeface="Arial MT"/>
                        </a:rPr>
                        <a:t>Total</a:t>
                      </a:r>
                      <a:r>
                        <a:rPr sz="2000" spc="-9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10" dirty="0">
                          <a:latin typeface="Arial MT"/>
                          <a:cs typeface="Arial MT"/>
                        </a:rPr>
                        <a:t>steps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marL="91440">
                        <a:lnSpc>
                          <a:spcPts val="1655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Algorithm</a:t>
                      </a:r>
                      <a:r>
                        <a:rPr sz="14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sum(a,</a:t>
                      </a:r>
                      <a:r>
                        <a:rPr sz="1400" spc="3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n)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655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655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400" spc="-50" dirty="0">
                          <a:latin typeface="Arial MT"/>
                          <a:cs typeface="Arial MT"/>
                        </a:rPr>
                        <a:t>-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655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5904">
                <a:tc>
                  <a:txBody>
                    <a:bodyPr/>
                    <a:lstStyle/>
                    <a:p>
                      <a:pPr marL="91440">
                        <a:lnSpc>
                          <a:spcPts val="1605"/>
                        </a:lnSpc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{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655"/>
                        </a:lnSpc>
                        <a:spcBef>
                          <a:spcPts val="26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655"/>
                        </a:lnSpc>
                        <a:spcBef>
                          <a:spcPts val="26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400" spc="-50" dirty="0">
                          <a:latin typeface="Arial MT"/>
                          <a:cs typeface="Arial MT"/>
                        </a:rPr>
                        <a:t>-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655"/>
                        </a:lnSpc>
                        <a:spcBef>
                          <a:spcPts val="26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marL="584835">
                        <a:lnSpc>
                          <a:spcPts val="1605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s:=0</a:t>
                      </a:r>
                      <a:r>
                        <a:rPr sz="14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0" dirty="0">
                          <a:latin typeface="Arial MT"/>
                          <a:cs typeface="Arial MT"/>
                        </a:rPr>
                        <a:t>;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650"/>
                        </a:lnSpc>
                        <a:spcBef>
                          <a:spcPts val="26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650"/>
                        </a:lnSpc>
                        <a:spcBef>
                          <a:spcPts val="26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650"/>
                        </a:lnSpc>
                        <a:spcBef>
                          <a:spcPts val="26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5904">
                <a:tc>
                  <a:txBody>
                    <a:bodyPr/>
                    <a:lstStyle/>
                    <a:p>
                      <a:pPr marL="584835">
                        <a:lnSpc>
                          <a:spcPts val="1610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for</a:t>
                      </a:r>
                      <a:r>
                        <a:rPr sz="14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i:=1</a:t>
                      </a:r>
                      <a:r>
                        <a:rPr sz="14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n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do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655"/>
                        </a:lnSpc>
                        <a:spcBef>
                          <a:spcPts val="26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655"/>
                        </a:lnSpc>
                        <a:spcBef>
                          <a:spcPts val="265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n+1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655"/>
                        </a:lnSpc>
                        <a:spcBef>
                          <a:spcPts val="265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n+1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5904">
                <a:tc>
                  <a:txBody>
                    <a:bodyPr/>
                    <a:lstStyle/>
                    <a:p>
                      <a:pPr marL="682625">
                        <a:lnSpc>
                          <a:spcPts val="1605"/>
                        </a:lnSpc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s:=s+a[i];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655"/>
                        </a:lnSpc>
                        <a:spcBef>
                          <a:spcPts val="26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655"/>
                        </a:lnSpc>
                        <a:spcBef>
                          <a:spcPts val="26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n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655"/>
                        </a:lnSpc>
                        <a:spcBef>
                          <a:spcPts val="26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n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5904">
                <a:tc>
                  <a:txBody>
                    <a:bodyPr/>
                    <a:lstStyle/>
                    <a:p>
                      <a:pPr marL="289560">
                        <a:lnSpc>
                          <a:spcPts val="1605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return</a:t>
                      </a:r>
                      <a:r>
                        <a:rPr sz="14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s;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655"/>
                        </a:lnSpc>
                        <a:spcBef>
                          <a:spcPts val="26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655"/>
                        </a:lnSpc>
                        <a:spcBef>
                          <a:spcPts val="26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655"/>
                        </a:lnSpc>
                        <a:spcBef>
                          <a:spcPts val="26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6710">
                <a:tc>
                  <a:txBody>
                    <a:bodyPr/>
                    <a:lstStyle/>
                    <a:p>
                      <a:pPr marL="91440">
                        <a:lnSpc>
                          <a:spcPts val="1605"/>
                        </a:lnSpc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}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400" spc="-50" dirty="0">
                          <a:latin typeface="Arial MT"/>
                          <a:cs typeface="Arial MT"/>
                        </a:rPr>
                        <a:t>-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6167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Total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800" spc="-20" dirty="0">
                          <a:latin typeface="Arial MT"/>
                          <a:cs typeface="Arial MT"/>
                        </a:rPr>
                        <a:t>2n+3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938529"/>
            <a:ext cx="55911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EX:-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800" dirty="0">
                <a:latin typeface="Arial MT"/>
                <a:cs typeface="Arial MT"/>
              </a:rPr>
              <a:t>ddition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two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m×n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matrices</a:t>
            </a:r>
            <a:endParaRPr sz="2800">
              <a:latin typeface="Arial MT"/>
              <a:cs typeface="Arial MT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76312" y="1966912"/>
          <a:ext cx="7239000" cy="29470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9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868044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Statement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177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25" dirty="0">
                          <a:latin typeface="Arial MT"/>
                          <a:cs typeface="Arial MT"/>
                        </a:rPr>
                        <a:t>s/e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5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frequency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718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35" dirty="0">
                          <a:latin typeface="Arial MT"/>
                          <a:cs typeface="Arial MT"/>
                        </a:rPr>
                        <a:t>Total</a:t>
                      </a:r>
                      <a:r>
                        <a:rPr sz="2000" spc="-9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10" dirty="0">
                          <a:latin typeface="Arial MT"/>
                          <a:cs typeface="Arial MT"/>
                        </a:rPr>
                        <a:t>steps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marL="91440">
                        <a:lnSpc>
                          <a:spcPts val="1655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Algorithm</a:t>
                      </a:r>
                      <a:r>
                        <a:rPr sz="1400" spc="-1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Add(a,b,c,m,</a:t>
                      </a:r>
                      <a:r>
                        <a:rPr sz="14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n)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655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655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400" spc="-50" dirty="0">
                          <a:latin typeface="Arial MT"/>
                          <a:cs typeface="Arial MT"/>
                        </a:rPr>
                        <a:t>-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655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5904">
                <a:tc>
                  <a:txBody>
                    <a:bodyPr/>
                    <a:lstStyle/>
                    <a:p>
                      <a:pPr marL="91440">
                        <a:lnSpc>
                          <a:spcPts val="1605"/>
                        </a:lnSpc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{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655"/>
                        </a:lnSpc>
                        <a:spcBef>
                          <a:spcPts val="26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655"/>
                        </a:lnSpc>
                        <a:spcBef>
                          <a:spcPts val="26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400" spc="-50" dirty="0">
                          <a:latin typeface="Arial MT"/>
                          <a:cs typeface="Arial MT"/>
                        </a:rPr>
                        <a:t>-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655"/>
                        </a:lnSpc>
                        <a:spcBef>
                          <a:spcPts val="26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marL="435609">
                        <a:lnSpc>
                          <a:spcPts val="1605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for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i:=1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m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do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650"/>
                        </a:lnSpc>
                        <a:spcBef>
                          <a:spcPts val="26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650"/>
                        </a:lnSpc>
                        <a:spcBef>
                          <a:spcPts val="260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m+1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650"/>
                        </a:lnSpc>
                        <a:spcBef>
                          <a:spcPts val="260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m+1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5904">
                <a:tc>
                  <a:txBody>
                    <a:bodyPr/>
                    <a:lstStyle/>
                    <a:p>
                      <a:pPr marL="632460">
                        <a:lnSpc>
                          <a:spcPts val="1610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for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j:=1</a:t>
                      </a:r>
                      <a:r>
                        <a:rPr sz="14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n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do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655"/>
                        </a:lnSpc>
                        <a:spcBef>
                          <a:spcPts val="26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655"/>
                        </a:lnSpc>
                        <a:spcBef>
                          <a:spcPts val="26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m(n+1)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655"/>
                        </a:lnSpc>
                        <a:spcBef>
                          <a:spcPts val="265"/>
                        </a:spcBef>
                      </a:pPr>
                      <a:r>
                        <a:rPr sz="1400" spc="-20" dirty="0">
                          <a:latin typeface="Arial MT"/>
                          <a:cs typeface="Arial MT"/>
                        </a:rPr>
                        <a:t>mn+m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5904">
                <a:tc>
                  <a:txBody>
                    <a:bodyPr/>
                    <a:lstStyle/>
                    <a:p>
                      <a:pPr marL="731520">
                        <a:lnSpc>
                          <a:spcPts val="1605"/>
                        </a:lnSpc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c[i,j]:=a[i,j]+b[i,j]</a:t>
                      </a:r>
                      <a:r>
                        <a:rPr sz="1400" spc="9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0" dirty="0">
                          <a:latin typeface="Arial MT"/>
                          <a:cs typeface="Arial MT"/>
                        </a:rPr>
                        <a:t>;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655"/>
                        </a:lnSpc>
                        <a:spcBef>
                          <a:spcPts val="26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655"/>
                        </a:lnSpc>
                        <a:spcBef>
                          <a:spcPts val="260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mn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655"/>
                        </a:lnSpc>
                        <a:spcBef>
                          <a:spcPts val="260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mn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pPr marL="91440">
                        <a:lnSpc>
                          <a:spcPts val="1605"/>
                        </a:lnSpc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}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400" spc="-50" dirty="0">
                          <a:latin typeface="Arial MT"/>
                          <a:cs typeface="Arial MT"/>
                        </a:rPr>
                        <a:t>-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6167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Total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2mn+2m+1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938529"/>
            <a:ext cx="56845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5600" algn="l"/>
              </a:tabLst>
            </a:pPr>
            <a:r>
              <a:rPr sz="2800" dirty="0">
                <a:latin typeface="Arial MT"/>
                <a:cs typeface="Arial MT"/>
              </a:rPr>
              <a:t>EX:-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Recursive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sum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n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numbers</a:t>
            </a:r>
            <a:endParaRPr sz="2800">
              <a:latin typeface="Arial MT"/>
              <a:cs typeface="Arial MT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76312" y="1966912"/>
          <a:ext cx="6934834" cy="324421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9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70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99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94690">
                <a:tc>
                  <a:txBody>
                    <a:bodyPr/>
                    <a:lstStyle/>
                    <a:p>
                      <a:pPr marL="9271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Statement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955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s/e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28067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Frequency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430"/>
                        </a:spcBef>
                        <a:tabLst>
                          <a:tab pos="1049655" algn="l"/>
                        </a:tabLst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n=0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n&gt;0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9146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Total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n=0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85115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steps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 marR="230504" algn="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n&gt;0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marL="91440">
                        <a:lnSpc>
                          <a:spcPts val="1655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Algorithm</a:t>
                      </a:r>
                      <a:r>
                        <a:rPr sz="14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RSum(a,n)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655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655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400" spc="-50" dirty="0">
                          <a:latin typeface="Arial MT"/>
                          <a:cs typeface="Arial MT"/>
                        </a:rPr>
                        <a:t>-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17195">
                        <a:lnSpc>
                          <a:spcPts val="1655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400" spc="-50" dirty="0">
                          <a:latin typeface="Arial MT"/>
                          <a:cs typeface="Arial MT"/>
                        </a:rPr>
                        <a:t>-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655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0650">
                        <a:lnSpc>
                          <a:spcPts val="1655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marL="91440">
                        <a:lnSpc>
                          <a:spcPts val="1605"/>
                        </a:lnSpc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{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650"/>
                        </a:lnSpc>
                        <a:spcBef>
                          <a:spcPts val="26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650"/>
                        </a:lnSpc>
                        <a:spcBef>
                          <a:spcPts val="26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400" spc="-50" dirty="0">
                          <a:latin typeface="Arial MT"/>
                          <a:cs typeface="Arial MT"/>
                        </a:rPr>
                        <a:t>-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417195">
                        <a:lnSpc>
                          <a:spcPts val="1650"/>
                        </a:lnSpc>
                        <a:spcBef>
                          <a:spcPts val="26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400" spc="-50" dirty="0">
                          <a:latin typeface="Arial MT"/>
                          <a:cs typeface="Arial MT"/>
                        </a:rPr>
                        <a:t>-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650"/>
                        </a:lnSpc>
                        <a:spcBef>
                          <a:spcPts val="26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20650">
                        <a:lnSpc>
                          <a:spcPts val="1650"/>
                        </a:lnSpc>
                        <a:spcBef>
                          <a:spcPts val="26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5904">
                <a:tc>
                  <a:txBody>
                    <a:bodyPr/>
                    <a:lstStyle/>
                    <a:p>
                      <a:pPr marL="336550">
                        <a:lnSpc>
                          <a:spcPts val="1610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if(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n</a:t>
                      </a:r>
                      <a:r>
                        <a:rPr sz="14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≤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0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) 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then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655"/>
                        </a:lnSpc>
                        <a:spcBef>
                          <a:spcPts val="26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655"/>
                        </a:lnSpc>
                        <a:spcBef>
                          <a:spcPts val="26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447675">
                        <a:lnSpc>
                          <a:spcPts val="1655"/>
                        </a:lnSpc>
                        <a:spcBef>
                          <a:spcPts val="26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655"/>
                        </a:lnSpc>
                        <a:spcBef>
                          <a:spcPts val="26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20650">
                        <a:lnSpc>
                          <a:spcPts val="1655"/>
                        </a:lnSpc>
                        <a:spcBef>
                          <a:spcPts val="26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5904">
                <a:tc>
                  <a:txBody>
                    <a:bodyPr/>
                    <a:lstStyle/>
                    <a:p>
                      <a:pPr marL="534670">
                        <a:lnSpc>
                          <a:spcPts val="1605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return</a:t>
                      </a:r>
                      <a:r>
                        <a:rPr sz="14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0;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655"/>
                        </a:lnSpc>
                        <a:spcBef>
                          <a:spcPts val="26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655"/>
                        </a:lnSpc>
                        <a:spcBef>
                          <a:spcPts val="26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447675">
                        <a:lnSpc>
                          <a:spcPts val="1655"/>
                        </a:lnSpc>
                        <a:spcBef>
                          <a:spcPts val="26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655"/>
                        </a:lnSpc>
                        <a:spcBef>
                          <a:spcPts val="26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20650">
                        <a:lnSpc>
                          <a:spcPts val="1655"/>
                        </a:lnSpc>
                        <a:spcBef>
                          <a:spcPts val="26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4315">
                <a:tc>
                  <a:txBody>
                    <a:bodyPr/>
                    <a:lstStyle/>
                    <a:p>
                      <a:pPr marL="336550">
                        <a:lnSpc>
                          <a:spcPts val="1605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else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return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6860">
                <a:tc>
                  <a:txBody>
                    <a:bodyPr/>
                    <a:lstStyle/>
                    <a:p>
                      <a:pPr marL="38735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Rsum(a,n-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1)+a[n]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0" dirty="0">
                          <a:latin typeface="Arial MT"/>
                          <a:cs typeface="Arial MT"/>
                        </a:rPr>
                        <a:t>;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20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655"/>
                        </a:lnSpc>
                        <a:spcBef>
                          <a:spcPts val="430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1+x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54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655"/>
                        </a:lnSpc>
                        <a:spcBef>
                          <a:spcPts val="43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5461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447675">
                        <a:lnSpc>
                          <a:spcPts val="1655"/>
                        </a:lnSpc>
                        <a:spcBef>
                          <a:spcPts val="43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5461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655"/>
                        </a:lnSpc>
                        <a:spcBef>
                          <a:spcPts val="43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5461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20650">
                        <a:lnSpc>
                          <a:spcPts val="1655"/>
                        </a:lnSpc>
                        <a:spcBef>
                          <a:spcPts val="430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1+x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5461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6710">
                <a:tc>
                  <a:txBody>
                    <a:bodyPr/>
                    <a:lstStyle/>
                    <a:p>
                      <a:pPr marL="91440">
                        <a:lnSpc>
                          <a:spcPts val="1605"/>
                        </a:lnSpc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}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400" spc="-50" dirty="0">
                          <a:latin typeface="Arial MT"/>
                          <a:cs typeface="Arial MT"/>
                        </a:rPr>
                        <a:t>-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08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400" spc="-50" dirty="0">
                          <a:latin typeface="Arial MT"/>
                          <a:cs typeface="Arial MT"/>
                        </a:rPr>
                        <a:t>-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081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R w="28575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6167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Total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2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2+x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6402323" y="5636463"/>
            <a:ext cx="12934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x=t</a:t>
            </a:r>
            <a:r>
              <a:rPr sz="1800" spc="-15" baseline="-20833" dirty="0">
                <a:latin typeface="Arial MT"/>
                <a:cs typeface="Arial MT"/>
              </a:rPr>
              <a:t>RSum</a:t>
            </a:r>
            <a:r>
              <a:rPr sz="1800" spc="-10" dirty="0">
                <a:latin typeface="Arial MT"/>
                <a:cs typeface="Arial MT"/>
              </a:rPr>
              <a:t>(n-</a:t>
            </a:r>
            <a:r>
              <a:rPr sz="1800" spc="-25" dirty="0">
                <a:latin typeface="Arial MT"/>
                <a:cs typeface="Arial MT"/>
              </a:rPr>
              <a:t>1)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04441" y="264363"/>
            <a:ext cx="512826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dirty="0">
                <a:solidFill>
                  <a:srgbClr val="000000"/>
                </a:solidFill>
                <a:latin typeface="Arial MT"/>
                <a:cs typeface="Arial MT"/>
              </a:rPr>
              <a:t>Best,</a:t>
            </a:r>
            <a:r>
              <a:rPr sz="3200" b="0" spc="-5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200" b="0" dirty="0">
                <a:solidFill>
                  <a:srgbClr val="000000"/>
                </a:solidFill>
                <a:latin typeface="Arial MT"/>
                <a:cs typeface="Arial MT"/>
              </a:rPr>
              <a:t>Worst,</a:t>
            </a:r>
            <a:r>
              <a:rPr sz="3200" b="0" spc="-4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200" b="0" dirty="0">
                <a:solidFill>
                  <a:srgbClr val="000000"/>
                </a:solidFill>
                <a:latin typeface="Arial MT"/>
                <a:cs typeface="Arial MT"/>
              </a:rPr>
              <a:t>Average</a:t>
            </a:r>
            <a:r>
              <a:rPr sz="3200" b="0" spc="-4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200" b="0" spc="-10" dirty="0">
                <a:solidFill>
                  <a:srgbClr val="000000"/>
                </a:solidFill>
                <a:latin typeface="Arial MT"/>
                <a:cs typeface="Arial MT"/>
              </a:rPr>
              <a:t>Cases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2140" y="1005586"/>
            <a:ext cx="7921625" cy="4411345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622300" marR="239395" indent="-610235">
              <a:lnSpc>
                <a:spcPct val="70000"/>
              </a:lnSpc>
              <a:spcBef>
                <a:spcPts val="825"/>
              </a:spcBef>
              <a:buFont typeface="Wingdings"/>
              <a:buChar char=""/>
              <a:tabLst>
                <a:tab pos="622300" algn="l"/>
              </a:tabLst>
            </a:pPr>
            <a:r>
              <a:rPr sz="2000" dirty="0">
                <a:latin typeface="Arial MT"/>
                <a:cs typeface="Arial MT"/>
              </a:rPr>
              <a:t>Not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all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inputs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given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size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take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same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number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program steps.</a:t>
            </a:r>
            <a:endParaRPr sz="2000">
              <a:latin typeface="Arial MT"/>
              <a:cs typeface="Arial MT"/>
            </a:endParaRPr>
          </a:p>
          <a:p>
            <a:pPr marL="622300" indent="-609600">
              <a:lnSpc>
                <a:spcPct val="100000"/>
              </a:lnSpc>
              <a:spcBef>
                <a:spcPts val="720"/>
              </a:spcBef>
              <a:buFont typeface="Wingdings"/>
              <a:buChar char=""/>
              <a:tabLst>
                <a:tab pos="622300" algn="l"/>
              </a:tabLst>
            </a:pPr>
            <a:r>
              <a:rPr sz="2000" dirty="0">
                <a:latin typeface="Arial MT"/>
                <a:cs typeface="Arial MT"/>
              </a:rPr>
              <a:t>Sequential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search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i="1" dirty="0">
                <a:latin typeface="Arial"/>
                <a:cs typeface="Arial"/>
              </a:rPr>
              <a:t>K</a:t>
            </a:r>
            <a:r>
              <a:rPr sz="2000" i="1" spc="-20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array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i="1" dirty="0">
                <a:latin typeface="Arial"/>
                <a:cs typeface="Arial"/>
              </a:rPr>
              <a:t>n</a:t>
            </a:r>
            <a:r>
              <a:rPr sz="2000" i="1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 MT"/>
                <a:cs typeface="Arial MT"/>
              </a:rPr>
              <a:t>integers:</a:t>
            </a:r>
            <a:endParaRPr sz="2000">
              <a:latin typeface="Arial MT"/>
              <a:cs typeface="Arial MT"/>
            </a:endParaRPr>
          </a:p>
          <a:p>
            <a:pPr marL="1003300" lvl="1" indent="-533400">
              <a:lnSpc>
                <a:spcPct val="100000"/>
              </a:lnSpc>
              <a:spcBef>
                <a:spcPts val="440"/>
              </a:spcBef>
              <a:buChar char="•"/>
              <a:tabLst>
                <a:tab pos="1003300" algn="l"/>
              </a:tabLst>
            </a:pPr>
            <a:r>
              <a:rPr sz="2000" dirty="0">
                <a:latin typeface="Arial MT"/>
                <a:cs typeface="Arial MT"/>
              </a:rPr>
              <a:t>Begin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first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element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array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look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at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each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element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in</a:t>
            </a:r>
            <a:endParaRPr sz="2000">
              <a:latin typeface="Arial MT"/>
              <a:cs typeface="Arial MT"/>
            </a:endParaRPr>
          </a:p>
          <a:p>
            <a:pPr marR="4665345" algn="r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Arial MT"/>
                <a:cs typeface="Arial MT"/>
              </a:rPr>
              <a:t>turn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until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i="1" dirty="0">
                <a:latin typeface="Arial"/>
                <a:cs typeface="Arial"/>
              </a:rPr>
              <a:t>K</a:t>
            </a:r>
            <a:r>
              <a:rPr sz="2000" i="1" spc="-15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found.</a:t>
            </a:r>
            <a:endParaRPr sz="2000">
              <a:latin typeface="Arial MT"/>
              <a:cs typeface="Arial MT"/>
            </a:endParaRPr>
          </a:p>
          <a:p>
            <a:pPr marL="609600" marR="4663440" indent="-609600" algn="r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609600" algn="l"/>
              </a:tabLst>
            </a:pPr>
            <a:r>
              <a:rPr sz="2000" u="sng" spc="-10" dirty="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  <a:latin typeface="Arial MT"/>
                <a:cs typeface="Arial MT"/>
              </a:rPr>
              <a:t>Best-</a:t>
            </a:r>
            <a:r>
              <a:rPr sz="2000" u="sng" dirty="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  <a:latin typeface="Arial MT"/>
                <a:cs typeface="Arial MT"/>
              </a:rPr>
              <a:t>Case</a:t>
            </a:r>
            <a:r>
              <a:rPr sz="2000" u="sng" spc="-40" dirty="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  <a:latin typeface="Arial MT"/>
                <a:cs typeface="Arial MT"/>
              </a:rPr>
              <a:t> </a:t>
            </a:r>
            <a:r>
              <a:rPr sz="2000" u="sng" dirty="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  <a:latin typeface="Arial MT"/>
                <a:cs typeface="Arial MT"/>
              </a:rPr>
              <a:t>Step</a:t>
            </a:r>
            <a:r>
              <a:rPr sz="2000" u="sng" spc="-5" dirty="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  <a:latin typeface="Arial MT"/>
                <a:cs typeface="Arial MT"/>
              </a:rPr>
              <a:t> </a:t>
            </a:r>
            <a:r>
              <a:rPr sz="2000" u="sng" spc="-10" dirty="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  <a:latin typeface="Arial MT"/>
                <a:cs typeface="Arial MT"/>
              </a:rPr>
              <a:t>count</a:t>
            </a:r>
            <a:r>
              <a:rPr sz="2000" spc="-10" dirty="0">
                <a:latin typeface="Arial MT"/>
                <a:cs typeface="Arial MT"/>
              </a:rPr>
              <a:t>:-</a:t>
            </a:r>
            <a:endParaRPr sz="2000">
              <a:latin typeface="Arial MT"/>
              <a:cs typeface="Arial MT"/>
            </a:endParaRPr>
          </a:p>
          <a:p>
            <a:pPr marL="622300" marR="5080">
              <a:lnSpc>
                <a:spcPct val="100000"/>
              </a:lnSpc>
              <a:spcBef>
                <a:spcPts val="480"/>
              </a:spcBef>
              <a:tabLst>
                <a:tab pos="1791335" algn="l"/>
                <a:tab pos="2788285" algn="l"/>
                <a:tab pos="3135630" algn="l"/>
                <a:tab pos="3879215" algn="l"/>
                <a:tab pos="5045710" algn="l"/>
                <a:tab pos="5450840" algn="l"/>
                <a:tab pos="5941695" algn="l"/>
                <a:tab pos="7122795" algn="l"/>
                <a:tab pos="7554595" algn="l"/>
              </a:tabLst>
            </a:pPr>
            <a:r>
              <a:rPr sz="2000" spc="-10" dirty="0">
                <a:latin typeface="Arial MT"/>
                <a:cs typeface="Arial MT"/>
              </a:rPr>
              <a:t>Minimum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number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of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0" dirty="0">
                <a:latin typeface="Arial MT"/>
                <a:cs typeface="Arial MT"/>
              </a:rPr>
              <a:t>steps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executed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by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the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algorithm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for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the </a:t>
            </a:r>
            <a:r>
              <a:rPr sz="2000" dirty="0">
                <a:latin typeface="Arial MT"/>
                <a:cs typeface="Arial MT"/>
              </a:rPr>
              <a:t>given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parameters.</a:t>
            </a:r>
            <a:endParaRPr sz="2000">
              <a:latin typeface="Arial MT"/>
              <a:cs typeface="Arial MT"/>
            </a:endParaRPr>
          </a:p>
          <a:p>
            <a:pPr marL="291465" indent="-278765">
              <a:lnSpc>
                <a:spcPct val="100000"/>
              </a:lnSpc>
              <a:spcBef>
                <a:spcPts val="480"/>
              </a:spcBef>
              <a:buAutoNum type="arabicPeriod" startAt="2"/>
              <a:tabLst>
                <a:tab pos="291465" algn="l"/>
              </a:tabLst>
            </a:pPr>
            <a:r>
              <a:rPr sz="2000" u="sng" dirty="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  <a:latin typeface="Arial MT"/>
                <a:cs typeface="Arial MT"/>
              </a:rPr>
              <a:t>Worst-Case</a:t>
            </a:r>
            <a:r>
              <a:rPr sz="2000" u="sng" spc="-65" dirty="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  <a:latin typeface="Arial MT"/>
                <a:cs typeface="Arial MT"/>
              </a:rPr>
              <a:t> </a:t>
            </a:r>
            <a:r>
              <a:rPr sz="2000" u="sng" dirty="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  <a:latin typeface="Arial MT"/>
                <a:cs typeface="Arial MT"/>
              </a:rPr>
              <a:t>Step</a:t>
            </a:r>
            <a:r>
              <a:rPr sz="2000" u="sng" spc="-10" dirty="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  <a:latin typeface="Arial MT"/>
                <a:cs typeface="Arial MT"/>
              </a:rPr>
              <a:t> count</a:t>
            </a:r>
            <a:r>
              <a:rPr sz="2000" spc="-10" dirty="0">
                <a:latin typeface="Arial MT"/>
                <a:cs typeface="Arial MT"/>
              </a:rPr>
              <a:t>:-</a:t>
            </a:r>
            <a:endParaRPr sz="2000">
              <a:latin typeface="Arial MT"/>
              <a:cs typeface="Arial MT"/>
            </a:endParaRPr>
          </a:p>
          <a:p>
            <a:pPr marL="622300" marR="5080">
              <a:lnSpc>
                <a:spcPct val="100000"/>
              </a:lnSpc>
              <a:spcBef>
                <a:spcPts val="480"/>
              </a:spcBef>
              <a:tabLst>
                <a:tab pos="1852295" algn="l"/>
                <a:tab pos="2842895" algn="l"/>
                <a:tab pos="3182620" algn="l"/>
                <a:tab pos="3919220" algn="l"/>
                <a:tab pos="5077460" algn="l"/>
                <a:tab pos="5473700" algn="l"/>
                <a:tab pos="5956935" algn="l"/>
                <a:tab pos="7130415" algn="l"/>
                <a:tab pos="7554595" algn="l"/>
              </a:tabLst>
            </a:pPr>
            <a:r>
              <a:rPr sz="2000" spc="-10" dirty="0">
                <a:latin typeface="Arial MT"/>
                <a:cs typeface="Arial MT"/>
              </a:rPr>
              <a:t>Maximum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number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of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0" dirty="0">
                <a:latin typeface="Arial MT"/>
                <a:cs typeface="Arial MT"/>
              </a:rPr>
              <a:t>steps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executed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by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the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algorithm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for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the </a:t>
            </a:r>
            <a:r>
              <a:rPr sz="2000" dirty="0">
                <a:latin typeface="Arial MT"/>
                <a:cs typeface="Arial MT"/>
              </a:rPr>
              <a:t>given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parameters.</a:t>
            </a:r>
            <a:endParaRPr sz="2000">
              <a:latin typeface="Arial MT"/>
              <a:cs typeface="Arial MT"/>
            </a:endParaRPr>
          </a:p>
          <a:p>
            <a:pPr marL="224790" indent="-224154">
              <a:lnSpc>
                <a:spcPct val="100000"/>
              </a:lnSpc>
              <a:spcBef>
                <a:spcPts val="480"/>
              </a:spcBef>
              <a:buSzPct val="95000"/>
              <a:buAutoNum type="arabicPeriod" startAt="3"/>
              <a:tabLst>
                <a:tab pos="224790" algn="l"/>
              </a:tabLst>
            </a:pPr>
            <a:r>
              <a:rPr sz="2000" u="sng" spc="-10" dirty="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  <a:latin typeface="Arial MT"/>
                <a:cs typeface="Arial MT"/>
              </a:rPr>
              <a:t>Average-</a:t>
            </a:r>
            <a:r>
              <a:rPr sz="2000" u="sng" dirty="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  <a:latin typeface="Arial MT"/>
                <a:cs typeface="Arial MT"/>
              </a:rPr>
              <a:t>Case</a:t>
            </a:r>
            <a:r>
              <a:rPr sz="2000" u="sng" spc="-55" dirty="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  <a:latin typeface="Arial MT"/>
                <a:cs typeface="Arial MT"/>
              </a:rPr>
              <a:t> </a:t>
            </a:r>
            <a:r>
              <a:rPr sz="2000" u="sng" dirty="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  <a:latin typeface="Arial MT"/>
                <a:cs typeface="Arial MT"/>
              </a:rPr>
              <a:t>Step</a:t>
            </a:r>
            <a:r>
              <a:rPr sz="2000" u="sng" spc="-5" dirty="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  <a:latin typeface="Arial MT"/>
                <a:cs typeface="Arial MT"/>
              </a:rPr>
              <a:t> </a:t>
            </a:r>
            <a:r>
              <a:rPr sz="2000" u="sng" spc="-10" dirty="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  <a:latin typeface="Arial MT"/>
                <a:cs typeface="Arial MT"/>
              </a:rPr>
              <a:t>count</a:t>
            </a:r>
            <a:r>
              <a:rPr sz="2000" spc="-10" dirty="0">
                <a:latin typeface="Arial MT"/>
                <a:cs typeface="Arial MT"/>
              </a:rPr>
              <a:t>:-</a:t>
            </a:r>
            <a:endParaRPr sz="2000">
              <a:latin typeface="Arial MT"/>
              <a:cs typeface="Arial MT"/>
            </a:endParaRPr>
          </a:p>
          <a:p>
            <a:pPr marL="62230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Arial MT"/>
                <a:cs typeface="Arial MT"/>
              </a:rPr>
              <a:t>Average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number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steps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executed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algorithm.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911340">
              <a:lnSpc>
                <a:spcPct val="100000"/>
              </a:lnSpc>
              <a:spcBef>
                <a:spcPts val="95"/>
              </a:spcBef>
            </a:pPr>
            <a:r>
              <a:rPr sz="2800" b="0" spc="-10" dirty="0">
                <a:solidFill>
                  <a:srgbClr val="000000"/>
                </a:solidFill>
                <a:latin typeface="Arial MT"/>
                <a:cs typeface="Arial MT"/>
              </a:rPr>
              <a:t>Contd..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052827" y="1066800"/>
            <a:ext cx="4653280" cy="3053080"/>
            <a:chOff x="2052827" y="1066800"/>
            <a:chExt cx="4653280" cy="3053080"/>
          </a:xfrm>
        </p:grpSpPr>
        <p:sp>
          <p:nvSpPr>
            <p:cNvPr id="4" name="object 4"/>
            <p:cNvSpPr/>
            <p:nvPr/>
          </p:nvSpPr>
          <p:spPr>
            <a:xfrm>
              <a:off x="2057399" y="1066800"/>
              <a:ext cx="4648200" cy="3048000"/>
            </a:xfrm>
            <a:custGeom>
              <a:avLst/>
              <a:gdLst/>
              <a:ahLst/>
              <a:cxnLst/>
              <a:rect l="l" t="t" r="r" b="b"/>
              <a:pathLst>
                <a:path w="4648200" h="3048000">
                  <a:moveTo>
                    <a:pt x="0" y="0"/>
                  </a:moveTo>
                  <a:lnTo>
                    <a:pt x="0" y="3048000"/>
                  </a:lnTo>
                </a:path>
                <a:path w="4648200" h="3048000">
                  <a:moveTo>
                    <a:pt x="0" y="3048000"/>
                  </a:moveTo>
                  <a:lnTo>
                    <a:pt x="4648200" y="30480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362200" y="2743200"/>
              <a:ext cx="228600" cy="1371600"/>
            </a:xfrm>
            <a:custGeom>
              <a:avLst/>
              <a:gdLst/>
              <a:ahLst/>
              <a:cxnLst/>
              <a:rect l="l" t="t" r="r" b="b"/>
              <a:pathLst>
                <a:path w="228600" h="1371600">
                  <a:moveTo>
                    <a:pt x="228600" y="0"/>
                  </a:moveTo>
                  <a:lnTo>
                    <a:pt x="0" y="0"/>
                  </a:lnTo>
                  <a:lnTo>
                    <a:pt x="0" y="1371600"/>
                  </a:lnTo>
                  <a:lnTo>
                    <a:pt x="228600" y="1371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362200" y="2743200"/>
              <a:ext cx="228600" cy="1371600"/>
            </a:xfrm>
            <a:custGeom>
              <a:avLst/>
              <a:gdLst/>
              <a:ahLst/>
              <a:cxnLst/>
              <a:rect l="l" t="t" r="r" b="b"/>
              <a:pathLst>
                <a:path w="228600" h="1371600">
                  <a:moveTo>
                    <a:pt x="0" y="1371600"/>
                  </a:moveTo>
                  <a:lnTo>
                    <a:pt x="228600" y="1371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1371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819400" y="2514600"/>
              <a:ext cx="228600" cy="1600200"/>
            </a:xfrm>
            <a:custGeom>
              <a:avLst/>
              <a:gdLst/>
              <a:ahLst/>
              <a:cxnLst/>
              <a:rect l="l" t="t" r="r" b="b"/>
              <a:pathLst>
                <a:path w="228600" h="1600200">
                  <a:moveTo>
                    <a:pt x="228600" y="0"/>
                  </a:moveTo>
                  <a:lnTo>
                    <a:pt x="0" y="0"/>
                  </a:lnTo>
                  <a:lnTo>
                    <a:pt x="0" y="1600200"/>
                  </a:lnTo>
                  <a:lnTo>
                    <a:pt x="228600" y="16002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819400" y="2514600"/>
              <a:ext cx="228600" cy="1600200"/>
            </a:xfrm>
            <a:custGeom>
              <a:avLst/>
              <a:gdLst/>
              <a:ahLst/>
              <a:cxnLst/>
              <a:rect l="l" t="t" r="r" b="b"/>
              <a:pathLst>
                <a:path w="228600" h="1600200">
                  <a:moveTo>
                    <a:pt x="0" y="1600200"/>
                  </a:moveTo>
                  <a:lnTo>
                    <a:pt x="228600" y="16002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16002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352800" y="2362200"/>
              <a:ext cx="228600" cy="1752600"/>
            </a:xfrm>
            <a:custGeom>
              <a:avLst/>
              <a:gdLst/>
              <a:ahLst/>
              <a:cxnLst/>
              <a:rect l="l" t="t" r="r" b="b"/>
              <a:pathLst>
                <a:path w="228600" h="1752600">
                  <a:moveTo>
                    <a:pt x="228600" y="0"/>
                  </a:moveTo>
                  <a:lnTo>
                    <a:pt x="0" y="0"/>
                  </a:lnTo>
                  <a:lnTo>
                    <a:pt x="0" y="1752600"/>
                  </a:lnTo>
                  <a:lnTo>
                    <a:pt x="228600" y="1752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352800" y="2362200"/>
              <a:ext cx="228600" cy="1752600"/>
            </a:xfrm>
            <a:custGeom>
              <a:avLst/>
              <a:gdLst/>
              <a:ahLst/>
              <a:cxnLst/>
              <a:rect l="l" t="t" r="r" b="b"/>
              <a:pathLst>
                <a:path w="228600" h="1752600">
                  <a:moveTo>
                    <a:pt x="0" y="1752600"/>
                  </a:moveTo>
                  <a:lnTo>
                    <a:pt x="228600" y="1752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1752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886200" y="2057400"/>
              <a:ext cx="228600" cy="2057400"/>
            </a:xfrm>
            <a:custGeom>
              <a:avLst/>
              <a:gdLst/>
              <a:ahLst/>
              <a:cxnLst/>
              <a:rect l="l" t="t" r="r" b="b"/>
              <a:pathLst>
                <a:path w="228600" h="2057400">
                  <a:moveTo>
                    <a:pt x="228600" y="0"/>
                  </a:moveTo>
                  <a:lnTo>
                    <a:pt x="0" y="0"/>
                  </a:lnTo>
                  <a:lnTo>
                    <a:pt x="0" y="2057400"/>
                  </a:lnTo>
                  <a:lnTo>
                    <a:pt x="228600" y="20574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886200" y="2057400"/>
              <a:ext cx="228600" cy="2057400"/>
            </a:xfrm>
            <a:custGeom>
              <a:avLst/>
              <a:gdLst/>
              <a:ahLst/>
              <a:cxnLst/>
              <a:rect l="l" t="t" r="r" b="b"/>
              <a:pathLst>
                <a:path w="228600" h="2057400">
                  <a:moveTo>
                    <a:pt x="0" y="2057400"/>
                  </a:moveTo>
                  <a:lnTo>
                    <a:pt x="228600" y="20574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0574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419600" y="1828800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600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228600" y="22860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419600" y="1828800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0" y="2286000"/>
                  </a:moveTo>
                  <a:lnTo>
                    <a:pt x="228600" y="22860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953000" y="1676400"/>
              <a:ext cx="228600" cy="2438400"/>
            </a:xfrm>
            <a:custGeom>
              <a:avLst/>
              <a:gdLst/>
              <a:ahLst/>
              <a:cxnLst/>
              <a:rect l="l" t="t" r="r" b="b"/>
              <a:pathLst>
                <a:path w="228600" h="2438400">
                  <a:moveTo>
                    <a:pt x="228600" y="0"/>
                  </a:moveTo>
                  <a:lnTo>
                    <a:pt x="0" y="0"/>
                  </a:lnTo>
                  <a:lnTo>
                    <a:pt x="0" y="2438400"/>
                  </a:lnTo>
                  <a:lnTo>
                    <a:pt x="228600" y="24384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953000" y="1676400"/>
              <a:ext cx="228600" cy="2438400"/>
            </a:xfrm>
            <a:custGeom>
              <a:avLst/>
              <a:gdLst/>
              <a:ahLst/>
              <a:cxnLst/>
              <a:rect l="l" t="t" r="r" b="b"/>
              <a:pathLst>
                <a:path w="228600" h="2438400">
                  <a:moveTo>
                    <a:pt x="0" y="2438400"/>
                  </a:moveTo>
                  <a:lnTo>
                    <a:pt x="228600" y="24384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4384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486399" y="1524000"/>
              <a:ext cx="228600" cy="2590800"/>
            </a:xfrm>
            <a:custGeom>
              <a:avLst/>
              <a:gdLst/>
              <a:ahLst/>
              <a:cxnLst/>
              <a:rect l="l" t="t" r="r" b="b"/>
              <a:pathLst>
                <a:path w="228600" h="2590800">
                  <a:moveTo>
                    <a:pt x="228600" y="0"/>
                  </a:moveTo>
                  <a:lnTo>
                    <a:pt x="0" y="0"/>
                  </a:lnTo>
                  <a:lnTo>
                    <a:pt x="0" y="2590800"/>
                  </a:lnTo>
                  <a:lnTo>
                    <a:pt x="228600" y="25908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486399" y="1524000"/>
              <a:ext cx="228600" cy="2590800"/>
            </a:xfrm>
            <a:custGeom>
              <a:avLst/>
              <a:gdLst/>
              <a:ahLst/>
              <a:cxnLst/>
              <a:rect l="l" t="t" r="r" b="b"/>
              <a:pathLst>
                <a:path w="228600" h="2590800">
                  <a:moveTo>
                    <a:pt x="0" y="2590800"/>
                  </a:moveTo>
                  <a:lnTo>
                    <a:pt x="228600" y="25908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5908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057399" y="1524000"/>
              <a:ext cx="4495800" cy="1219200"/>
            </a:xfrm>
            <a:custGeom>
              <a:avLst/>
              <a:gdLst/>
              <a:ahLst/>
              <a:cxnLst/>
              <a:rect l="l" t="t" r="r" b="b"/>
              <a:pathLst>
                <a:path w="4495800" h="1219200">
                  <a:moveTo>
                    <a:pt x="0" y="1219200"/>
                  </a:moveTo>
                  <a:lnTo>
                    <a:pt x="4495800" y="1219200"/>
                  </a:lnTo>
                </a:path>
                <a:path w="4495800" h="1219200">
                  <a:moveTo>
                    <a:pt x="76200" y="0"/>
                  </a:moveTo>
                  <a:lnTo>
                    <a:pt x="4419600" y="0"/>
                  </a:lnTo>
                </a:path>
              </a:pathLst>
            </a:custGeom>
            <a:ln w="57912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509141" y="1436877"/>
            <a:ext cx="410209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Arial MT"/>
                <a:cs typeface="Arial MT"/>
              </a:rPr>
              <a:t>5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ms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09141" y="1894077"/>
            <a:ext cx="41020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Arial MT"/>
                <a:cs typeface="Arial MT"/>
              </a:rPr>
              <a:t>4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ms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10"/>
              </a:spcBef>
            </a:pP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Arial MT"/>
                <a:cs typeface="Arial MT"/>
              </a:rPr>
              <a:t>3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ms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09141" y="2808858"/>
            <a:ext cx="410209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Arial MT"/>
                <a:cs typeface="Arial MT"/>
              </a:rPr>
              <a:t>2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ms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509141" y="3189858"/>
            <a:ext cx="410209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Arial MT"/>
                <a:cs typeface="Arial MT"/>
              </a:rPr>
              <a:t>1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ms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866635" y="2656458"/>
            <a:ext cx="127825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CC9900"/>
                </a:solidFill>
                <a:latin typeface="Arial"/>
                <a:cs typeface="Arial"/>
              </a:rPr>
              <a:t>Best-</a:t>
            </a:r>
            <a:r>
              <a:rPr sz="1400" b="1" dirty="0">
                <a:solidFill>
                  <a:srgbClr val="CC9900"/>
                </a:solidFill>
                <a:latin typeface="Arial"/>
                <a:cs typeface="Arial"/>
              </a:rPr>
              <a:t>case</a:t>
            </a:r>
            <a:r>
              <a:rPr sz="1400" b="1" spc="-20" dirty="0">
                <a:solidFill>
                  <a:srgbClr val="CC9900"/>
                </a:solidFill>
                <a:latin typeface="Arial"/>
                <a:cs typeface="Arial"/>
              </a:rPr>
              <a:t> time</a:t>
            </a:r>
            <a:endParaRPr sz="14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860540" y="1436877"/>
            <a:ext cx="144462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CC9900"/>
                </a:solidFill>
                <a:latin typeface="Arial"/>
                <a:cs typeface="Arial"/>
              </a:rPr>
              <a:t>Worst</a:t>
            </a:r>
            <a:r>
              <a:rPr sz="1400" b="1" spc="-45" dirty="0">
                <a:solidFill>
                  <a:srgbClr val="CC99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CC9900"/>
                </a:solidFill>
                <a:latin typeface="Arial"/>
                <a:cs typeface="Arial"/>
              </a:rPr>
              <a:t>-case</a:t>
            </a:r>
            <a:r>
              <a:rPr sz="1400" b="1" spc="-50" dirty="0">
                <a:solidFill>
                  <a:srgbClr val="CC9900"/>
                </a:solidFill>
                <a:latin typeface="Arial"/>
                <a:cs typeface="Arial"/>
              </a:rPr>
              <a:t> </a:t>
            </a:r>
            <a:r>
              <a:rPr sz="1400" b="1" spc="-20" dirty="0">
                <a:solidFill>
                  <a:srgbClr val="CC9900"/>
                </a:solidFill>
                <a:latin typeface="Arial"/>
                <a:cs typeface="Arial"/>
              </a:rPr>
              <a:t>time</a:t>
            </a:r>
            <a:endParaRPr sz="14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326004" y="4333113"/>
            <a:ext cx="6089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6725" algn="l"/>
              </a:tabLst>
            </a:pPr>
            <a:r>
              <a:rPr sz="1400" b="1" spc="-50" dirty="0">
                <a:latin typeface="Arial"/>
                <a:cs typeface="Arial"/>
              </a:rPr>
              <a:t>A</a:t>
            </a:r>
            <a:r>
              <a:rPr sz="1400" b="1" dirty="0">
                <a:latin typeface="Arial"/>
                <a:cs typeface="Arial"/>
              </a:rPr>
              <a:t>	</a:t>
            </a:r>
            <a:r>
              <a:rPr sz="1400" b="1" spc="-50" dirty="0">
                <a:latin typeface="Arial"/>
                <a:cs typeface="Arial"/>
              </a:rPr>
              <a:t>B</a:t>
            </a:r>
            <a:endParaRPr sz="14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313938" y="4333113"/>
            <a:ext cx="1543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latin typeface="Arial"/>
                <a:cs typeface="Arial"/>
              </a:rPr>
              <a:t>C</a:t>
            </a:r>
            <a:endParaRPr sz="14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790950" y="4226603"/>
            <a:ext cx="586105" cy="75692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68580">
              <a:lnSpc>
                <a:spcPct val="100000"/>
              </a:lnSpc>
              <a:spcBef>
                <a:spcPts val="940"/>
              </a:spcBef>
            </a:pPr>
            <a:r>
              <a:rPr sz="1400" b="1" spc="-50" dirty="0">
                <a:latin typeface="Arial"/>
                <a:cs typeface="Arial"/>
              </a:rPr>
              <a:t>D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sz="1800" b="1" spc="-10" dirty="0">
                <a:latin typeface="Arial"/>
                <a:cs typeface="Arial"/>
              </a:rPr>
              <a:t>Input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461509" y="4333113"/>
            <a:ext cx="1447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latin typeface="Arial"/>
                <a:cs typeface="Arial"/>
              </a:rPr>
              <a:t>E</a:t>
            </a:r>
            <a:endParaRPr sz="14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001259" y="4333113"/>
            <a:ext cx="1346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latin typeface="Arial"/>
                <a:cs typeface="Arial"/>
              </a:rPr>
              <a:t>F</a:t>
            </a:r>
            <a:endParaRPr sz="14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595620" y="4333113"/>
            <a:ext cx="1644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latin typeface="Arial"/>
                <a:cs typeface="Arial"/>
              </a:rPr>
              <a:t>G</a:t>
            </a:r>
            <a:endParaRPr sz="14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66445" y="2549779"/>
            <a:ext cx="74549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5100" marR="5080" indent="-1524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latin typeface="Arial"/>
                <a:cs typeface="Arial"/>
              </a:rPr>
              <a:t>Running </a:t>
            </a:r>
            <a:r>
              <a:rPr sz="1400" b="1" spc="-20" dirty="0">
                <a:latin typeface="Arial"/>
                <a:cs typeface="Arial"/>
              </a:rPr>
              <a:t>Time</a:t>
            </a:r>
            <a:endParaRPr sz="14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2819400" y="5638800"/>
            <a:ext cx="4876800" cy="228600"/>
          </a:xfrm>
          <a:custGeom>
            <a:avLst/>
            <a:gdLst/>
            <a:ahLst/>
            <a:cxnLst/>
            <a:rect l="l" t="t" r="r" b="b"/>
            <a:pathLst>
              <a:path w="4876800" h="228600">
                <a:moveTo>
                  <a:pt x="4876800" y="0"/>
                </a:moveTo>
                <a:lnTo>
                  <a:pt x="0" y="0"/>
                </a:lnTo>
                <a:lnTo>
                  <a:pt x="0" y="228600"/>
                </a:lnTo>
                <a:lnTo>
                  <a:pt x="4876800" y="228600"/>
                </a:lnTo>
                <a:lnTo>
                  <a:pt x="48768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1069644" y="5369763"/>
            <a:ext cx="5862955" cy="833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46300">
              <a:lnSpc>
                <a:spcPts val="195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A</a:t>
            </a:r>
            <a:r>
              <a:rPr sz="1800" spc="-11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time +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time+ ………..+G</a:t>
            </a:r>
            <a:r>
              <a:rPr sz="1800" spc="-20" dirty="0">
                <a:latin typeface="Arial MT"/>
                <a:cs typeface="Arial MT"/>
              </a:rPr>
              <a:t> time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ts val="1470"/>
              </a:lnSpc>
              <a:tabLst>
                <a:tab pos="5849620" algn="l"/>
              </a:tabLst>
            </a:pPr>
            <a:r>
              <a:rPr sz="1400" b="1" spc="-20" dirty="0">
                <a:solidFill>
                  <a:srgbClr val="CC9900"/>
                </a:solidFill>
                <a:latin typeface="Arial"/>
                <a:cs typeface="Arial"/>
              </a:rPr>
              <a:t>Average-</a:t>
            </a:r>
            <a:r>
              <a:rPr sz="1400" b="1" dirty="0">
                <a:solidFill>
                  <a:srgbClr val="CC9900"/>
                </a:solidFill>
                <a:latin typeface="Arial"/>
                <a:cs typeface="Arial"/>
              </a:rPr>
              <a:t>case time </a:t>
            </a:r>
            <a:r>
              <a:rPr sz="1400" dirty="0">
                <a:latin typeface="Arial MT"/>
                <a:cs typeface="Arial MT"/>
              </a:rPr>
              <a:t>=</a:t>
            </a:r>
            <a:r>
              <a:rPr sz="1400" spc="515" dirty="0">
                <a:latin typeface="Arial MT"/>
                <a:cs typeface="Arial MT"/>
              </a:rPr>
              <a:t> </a:t>
            </a:r>
            <a:r>
              <a:rPr sz="14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	</a:t>
            </a:r>
            <a:endParaRPr sz="1400">
              <a:latin typeface="Arial MT"/>
              <a:cs typeface="Arial MT"/>
            </a:endParaRPr>
          </a:p>
          <a:p>
            <a:pPr marL="2222500">
              <a:lnSpc>
                <a:spcPct val="100000"/>
              </a:lnSpc>
              <a:spcBef>
                <a:spcPts val="775"/>
              </a:spcBef>
            </a:pPr>
            <a:r>
              <a:rPr sz="1800" dirty="0">
                <a:latin typeface="Arial MT"/>
                <a:cs typeface="Arial MT"/>
              </a:rPr>
              <a:t>7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total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number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possible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inputs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)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18157" y="828802"/>
            <a:ext cx="53359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Inexactness</a:t>
            </a:r>
            <a:r>
              <a:rPr b="0" spc="-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of</a:t>
            </a:r>
            <a:r>
              <a:rPr b="0" spc="-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step</a:t>
            </a:r>
            <a:r>
              <a:rPr b="0" spc="-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 MT"/>
                <a:cs typeface="Arial MT"/>
              </a:rPr>
              <a:t>count.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9944" y="1869389"/>
            <a:ext cx="7083425" cy="36855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2585" indent="-286385">
              <a:lnSpc>
                <a:spcPct val="100000"/>
              </a:lnSpc>
              <a:spcBef>
                <a:spcPts val="105"/>
              </a:spcBef>
              <a:buChar char="•"/>
              <a:tabLst>
                <a:tab pos="362585" algn="l"/>
              </a:tabLst>
            </a:pPr>
            <a:r>
              <a:rPr sz="2000" dirty="0">
                <a:latin typeface="Arial MT"/>
                <a:cs typeface="Arial MT"/>
              </a:rPr>
              <a:t>Both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instructions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x=y;</a:t>
            </a:r>
            <a:r>
              <a:rPr sz="2000" spc="-3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x=y+z+(x/y)</a:t>
            </a:r>
            <a:r>
              <a:rPr sz="2000" spc="-4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count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one</a:t>
            </a:r>
            <a:endParaRPr sz="2000">
              <a:latin typeface="Arial MT"/>
              <a:cs typeface="Arial MT"/>
            </a:endParaRPr>
          </a:p>
          <a:p>
            <a:pPr marL="362585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latin typeface="Arial MT"/>
                <a:cs typeface="Arial MT"/>
              </a:rPr>
              <a:t>step.</a:t>
            </a:r>
            <a:endParaRPr sz="2000">
              <a:latin typeface="Arial MT"/>
              <a:cs typeface="Arial MT"/>
            </a:endParaRPr>
          </a:p>
          <a:p>
            <a:pPr marL="362585" marR="879475" indent="-287020">
              <a:lnSpc>
                <a:spcPct val="100000"/>
              </a:lnSpc>
              <a:spcBef>
                <a:spcPts val="480"/>
              </a:spcBef>
              <a:buChar char="•"/>
              <a:tabLst>
                <a:tab pos="362585" algn="l"/>
              </a:tabLst>
            </a:pPr>
            <a:r>
              <a:rPr sz="2000" dirty="0">
                <a:latin typeface="Arial MT"/>
                <a:cs typeface="Arial MT"/>
              </a:rPr>
              <a:t>Therefore,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two</a:t>
            </a:r>
            <a:r>
              <a:rPr sz="2000" spc="-1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analysts</a:t>
            </a:r>
            <a:r>
              <a:rPr sz="2000" spc="-2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may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arrive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at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4n</a:t>
            </a:r>
            <a:r>
              <a:rPr sz="1950" baseline="25641" dirty="0">
                <a:solidFill>
                  <a:srgbClr val="FF3399"/>
                </a:solidFill>
                <a:latin typeface="Arial MT"/>
                <a:cs typeface="Arial MT"/>
              </a:rPr>
              <a:t>2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+6n+2</a:t>
            </a:r>
            <a:r>
              <a:rPr sz="2000" spc="-4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and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7n</a:t>
            </a:r>
            <a:r>
              <a:rPr sz="1950" baseline="25641" dirty="0">
                <a:solidFill>
                  <a:srgbClr val="FF3399"/>
                </a:solidFill>
                <a:latin typeface="Arial MT"/>
                <a:cs typeface="Arial MT"/>
              </a:rPr>
              <a:t>2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+3n+4</a:t>
            </a:r>
            <a:r>
              <a:rPr sz="2000" spc="-5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step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count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same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program.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60"/>
              </a:spcBef>
              <a:buFont typeface="Arial MT"/>
              <a:buChar char="•"/>
            </a:pPr>
            <a:endParaRPr sz="2000">
              <a:latin typeface="Arial MT"/>
              <a:cs typeface="Arial MT"/>
            </a:endParaRPr>
          </a:p>
          <a:p>
            <a:pPr marL="362585" marR="189865" indent="-287020">
              <a:lnSpc>
                <a:spcPct val="100000"/>
              </a:lnSpc>
              <a:buChar char="•"/>
              <a:tabLst>
                <a:tab pos="362585" algn="l"/>
                <a:tab pos="4863465" algn="l"/>
              </a:tabLst>
            </a:pPr>
            <a:r>
              <a:rPr sz="2000" dirty="0">
                <a:latin typeface="Arial MT"/>
                <a:cs typeface="Arial MT"/>
              </a:rPr>
              <a:t>Any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step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count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form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FF3399"/>
                </a:solidFill>
                <a:latin typeface="Arial MT"/>
                <a:cs typeface="Arial MT"/>
              </a:rPr>
              <a:t>c</a:t>
            </a:r>
            <a:r>
              <a:rPr sz="1950" spc="-15" baseline="-21367" dirty="0">
                <a:solidFill>
                  <a:srgbClr val="FF3399"/>
                </a:solidFill>
                <a:latin typeface="Arial MT"/>
                <a:cs typeface="Arial MT"/>
              </a:rPr>
              <a:t>1</a:t>
            </a:r>
            <a:r>
              <a:rPr sz="2000" spc="-10" dirty="0">
                <a:solidFill>
                  <a:srgbClr val="FF3399"/>
                </a:solidFill>
                <a:latin typeface="Arial MT"/>
                <a:cs typeface="Arial MT"/>
              </a:rPr>
              <a:t>n</a:t>
            </a:r>
            <a:r>
              <a:rPr sz="1950" spc="-15" baseline="25641" dirty="0">
                <a:solidFill>
                  <a:srgbClr val="FF3399"/>
                </a:solidFill>
                <a:latin typeface="Arial MT"/>
                <a:cs typeface="Arial MT"/>
              </a:rPr>
              <a:t>2</a:t>
            </a:r>
            <a:r>
              <a:rPr sz="2000" spc="-10" dirty="0">
                <a:solidFill>
                  <a:srgbClr val="FF3399"/>
                </a:solidFill>
                <a:latin typeface="Arial MT"/>
                <a:cs typeface="Arial MT"/>
              </a:rPr>
              <a:t>+c</a:t>
            </a:r>
            <a:r>
              <a:rPr sz="1950" spc="-15" baseline="-21367" dirty="0">
                <a:solidFill>
                  <a:srgbClr val="FF3399"/>
                </a:solidFill>
                <a:latin typeface="Arial MT"/>
                <a:cs typeface="Arial MT"/>
              </a:rPr>
              <a:t>2</a:t>
            </a:r>
            <a:r>
              <a:rPr sz="2000" spc="-10" dirty="0">
                <a:solidFill>
                  <a:srgbClr val="FF3399"/>
                </a:solidFill>
                <a:latin typeface="Arial MT"/>
                <a:cs typeface="Arial MT"/>
              </a:rPr>
              <a:t>n+c</a:t>
            </a:r>
            <a:r>
              <a:rPr sz="1950" spc="-15" baseline="-21367" dirty="0">
                <a:solidFill>
                  <a:srgbClr val="FF3399"/>
                </a:solidFill>
                <a:latin typeface="Arial MT"/>
                <a:cs typeface="Arial MT"/>
              </a:rPr>
              <a:t>3</a:t>
            </a:r>
            <a:r>
              <a:rPr sz="1950" baseline="-21367" dirty="0">
                <a:solidFill>
                  <a:srgbClr val="FF3399"/>
                </a:solidFill>
                <a:latin typeface="Arial MT"/>
                <a:cs typeface="Arial MT"/>
              </a:rPr>
              <a:t>	</a:t>
            </a:r>
            <a:r>
              <a:rPr sz="2000" dirty="0">
                <a:latin typeface="Arial MT"/>
                <a:cs typeface="Arial MT"/>
              </a:rPr>
              <a:t>could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correct </a:t>
            </a:r>
            <a:r>
              <a:rPr sz="2000" dirty="0">
                <a:latin typeface="Arial MT"/>
                <a:cs typeface="Arial MT"/>
              </a:rPr>
              <a:t>step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count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program.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60"/>
              </a:spcBef>
              <a:buFont typeface="Arial MT"/>
              <a:buChar char="•"/>
            </a:pPr>
            <a:endParaRPr sz="2000">
              <a:latin typeface="Arial MT"/>
              <a:cs typeface="Arial MT"/>
            </a:endParaRPr>
          </a:p>
          <a:p>
            <a:pPr marL="362585" marR="17780" indent="-287020">
              <a:lnSpc>
                <a:spcPct val="100000"/>
              </a:lnSpc>
              <a:buChar char="•"/>
              <a:tabLst>
                <a:tab pos="362585" algn="l"/>
              </a:tabLst>
            </a:pPr>
            <a:r>
              <a:rPr sz="2000" dirty="0">
                <a:latin typeface="Arial MT"/>
                <a:cs typeface="Arial MT"/>
              </a:rPr>
              <a:t>Because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inexactness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what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step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count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stands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for, </a:t>
            </a:r>
            <a:r>
              <a:rPr sz="2000" dirty="0">
                <a:solidFill>
                  <a:srgbClr val="CC9900"/>
                </a:solidFill>
                <a:latin typeface="Arial MT"/>
                <a:cs typeface="Arial MT"/>
              </a:rPr>
              <a:t>the</a:t>
            </a:r>
            <a:r>
              <a:rPr sz="2000" spc="-30" dirty="0">
                <a:solidFill>
                  <a:srgbClr val="CC99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CC9900"/>
                </a:solidFill>
                <a:latin typeface="Arial MT"/>
                <a:cs typeface="Arial MT"/>
              </a:rPr>
              <a:t>exact</a:t>
            </a:r>
            <a:r>
              <a:rPr sz="2000" spc="-30" dirty="0">
                <a:solidFill>
                  <a:srgbClr val="CC99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CC9900"/>
                </a:solidFill>
                <a:latin typeface="Arial MT"/>
                <a:cs typeface="Arial MT"/>
              </a:rPr>
              <a:t>step</a:t>
            </a:r>
            <a:r>
              <a:rPr sz="2000" spc="-35" dirty="0">
                <a:solidFill>
                  <a:srgbClr val="CC99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CC9900"/>
                </a:solidFill>
                <a:latin typeface="Arial MT"/>
                <a:cs typeface="Arial MT"/>
              </a:rPr>
              <a:t>count</a:t>
            </a:r>
            <a:r>
              <a:rPr sz="2000" spc="-35" dirty="0">
                <a:solidFill>
                  <a:srgbClr val="CC99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CC9900"/>
                </a:solidFill>
                <a:latin typeface="Arial MT"/>
                <a:cs typeface="Arial MT"/>
              </a:rPr>
              <a:t>is</a:t>
            </a:r>
            <a:r>
              <a:rPr sz="2000" spc="-10" dirty="0">
                <a:solidFill>
                  <a:srgbClr val="CC99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CC9900"/>
                </a:solidFill>
                <a:latin typeface="Arial MT"/>
                <a:cs typeface="Arial MT"/>
              </a:rPr>
              <a:t>not</a:t>
            </a:r>
            <a:r>
              <a:rPr sz="2000" spc="-30" dirty="0">
                <a:solidFill>
                  <a:srgbClr val="CC99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CC9900"/>
                </a:solidFill>
                <a:latin typeface="Arial MT"/>
                <a:cs typeface="Arial MT"/>
              </a:rPr>
              <a:t>very</a:t>
            </a:r>
            <a:r>
              <a:rPr sz="2000" spc="-20" dirty="0">
                <a:solidFill>
                  <a:srgbClr val="CC99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CC9900"/>
                </a:solidFill>
                <a:latin typeface="Arial MT"/>
                <a:cs typeface="Arial MT"/>
              </a:rPr>
              <a:t>useful</a:t>
            </a:r>
            <a:r>
              <a:rPr sz="2000" spc="-35" dirty="0">
                <a:solidFill>
                  <a:srgbClr val="CC9900"/>
                </a:solidFill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comparison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of </a:t>
            </a:r>
            <a:r>
              <a:rPr sz="2000" spc="-10" dirty="0">
                <a:latin typeface="Arial MT"/>
                <a:cs typeface="Arial MT"/>
              </a:rPr>
              <a:t>algorithms.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584782"/>
            <a:ext cx="8267700" cy="437896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355600" marR="227965" indent="-342900">
              <a:lnSpc>
                <a:spcPts val="2690"/>
              </a:lnSpc>
              <a:spcBef>
                <a:spcPts val="745"/>
              </a:spcBef>
              <a:buChar char="•"/>
              <a:tabLst>
                <a:tab pos="355600" algn="l"/>
                <a:tab pos="6390005" algn="l"/>
              </a:tabLst>
            </a:pPr>
            <a:r>
              <a:rPr sz="2800" dirty="0">
                <a:latin typeface="Arial MT"/>
                <a:cs typeface="Arial MT"/>
              </a:rPr>
              <a:t>Asymptotic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efficiency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means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study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of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Arial MT"/>
                <a:cs typeface="Arial MT"/>
              </a:rPr>
              <a:t>algorithms </a:t>
            </a:r>
            <a:r>
              <a:rPr sz="2800" dirty="0">
                <a:latin typeface="Arial MT"/>
                <a:cs typeface="Arial MT"/>
              </a:rPr>
              <a:t>efficiency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large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inputs.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35"/>
              </a:spcBef>
              <a:buFont typeface="Arial MT"/>
              <a:buChar char="•"/>
            </a:pPr>
            <a:endParaRPr sz="2800">
              <a:latin typeface="Arial MT"/>
              <a:cs typeface="Arial MT"/>
            </a:endParaRPr>
          </a:p>
          <a:p>
            <a:pPr marL="355600" marR="5080" indent="-342900">
              <a:lnSpc>
                <a:spcPct val="80000"/>
              </a:lnSpc>
              <a:buChar char="•"/>
              <a:tabLst>
                <a:tab pos="355600" algn="l"/>
              </a:tabLst>
            </a:pPr>
            <a:r>
              <a:rPr sz="2800" dirty="0">
                <a:latin typeface="Arial MT"/>
                <a:cs typeface="Arial MT"/>
              </a:rPr>
              <a:t>To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compare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two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algorithms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with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running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times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i="1" spc="-20" dirty="0">
                <a:latin typeface="Arial"/>
                <a:cs typeface="Arial"/>
              </a:rPr>
              <a:t>f(n)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i="1" dirty="0">
                <a:latin typeface="Arial"/>
                <a:cs typeface="Arial"/>
              </a:rPr>
              <a:t>g(n),</a:t>
            </a:r>
            <a:r>
              <a:rPr sz="2800" i="1" spc="-60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we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need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3399"/>
                </a:solidFill>
                <a:latin typeface="Arial MT"/>
                <a:cs typeface="Arial MT"/>
              </a:rPr>
              <a:t>rough</a:t>
            </a:r>
            <a:r>
              <a:rPr sz="2800" spc="-5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3399"/>
                </a:solidFill>
                <a:latin typeface="Arial MT"/>
                <a:cs typeface="Arial MT"/>
              </a:rPr>
              <a:t>measure</a:t>
            </a:r>
            <a:r>
              <a:rPr sz="2800" spc="-2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that </a:t>
            </a:r>
            <a:r>
              <a:rPr sz="2800" dirty="0">
                <a:latin typeface="Arial MT"/>
                <a:cs typeface="Arial MT"/>
              </a:rPr>
              <a:t>characterizes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3399"/>
                </a:solidFill>
                <a:latin typeface="Arial MT"/>
                <a:cs typeface="Arial MT"/>
              </a:rPr>
              <a:t>how</a:t>
            </a:r>
            <a:r>
              <a:rPr sz="2800" spc="-6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3399"/>
                </a:solidFill>
                <a:latin typeface="Arial MT"/>
                <a:cs typeface="Arial MT"/>
              </a:rPr>
              <a:t>fast</a:t>
            </a:r>
            <a:r>
              <a:rPr sz="2800" spc="-7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3399"/>
                </a:solidFill>
                <a:latin typeface="Arial MT"/>
                <a:cs typeface="Arial MT"/>
              </a:rPr>
              <a:t>each</a:t>
            </a:r>
            <a:r>
              <a:rPr sz="2800" spc="-7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3399"/>
                </a:solidFill>
                <a:latin typeface="Arial MT"/>
                <a:cs typeface="Arial MT"/>
              </a:rPr>
              <a:t>function</a:t>
            </a:r>
            <a:r>
              <a:rPr sz="2800" spc="-7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3399"/>
                </a:solidFill>
                <a:latin typeface="Arial MT"/>
                <a:cs typeface="Arial MT"/>
              </a:rPr>
              <a:t>grows</a:t>
            </a:r>
            <a:r>
              <a:rPr sz="2800" spc="-3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as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50" dirty="0">
                <a:latin typeface="Arial MT"/>
                <a:cs typeface="Arial MT"/>
              </a:rPr>
              <a:t>n </a:t>
            </a:r>
            <a:r>
              <a:rPr sz="2800" spc="-10" dirty="0">
                <a:latin typeface="Arial MT"/>
                <a:cs typeface="Arial MT"/>
              </a:rPr>
              <a:t>grows.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Font typeface="Arial MT"/>
              <a:buChar char="•"/>
            </a:pPr>
            <a:endParaRPr sz="2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800" i="1" u="sng" dirty="0">
                <a:solidFill>
                  <a:srgbClr val="FF3399"/>
                </a:solidFill>
                <a:uFill>
                  <a:solidFill>
                    <a:srgbClr val="FF3399"/>
                  </a:solidFill>
                </a:uFill>
                <a:latin typeface="Arial"/>
                <a:cs typeface="Arial"/>
              </a:rPr>
              <a:t>Hint:</a:t>
            </a:r>
            <a:r>
              <a:rPr sz="2800" i="1" spc="-35" dirty="0">
                <a:solidFill>
                  <a:srgbClr val="FF3399"/>
                </a:solidFill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use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i="1" dirty="0">
                <a:latin typeface="Arial"/>
                <a:cs typeface="Arial"/>
              </a:rPr>
              <a:t>rate</a:t>
            </a:r>
            <a:r>
              <a:rPr sz="2800" i="1" spc="-35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of</a:t>
            </a:r>
            <a:r>
              <a:rPr sz="2800" i="1" spc="-35" dirty="0">
                <a:latin typeface="Arial"/>
                <a:cs typeface="Arial"/>
              </a:rPr>
              <a:t> </a:t>
            </a:r>
            <a:r>
              <a:rPr sz="2800" i="1" spc="-10" dirty="0">
                <a:latin typeface="Arial"/>
                <a:cs typeface="Arial"/>
              </a:rPr>
              <a:t>growth</a:t>
            </a:r>
            <a:endParaRPr sz="28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800" dirty="0">
                <a:latin typeface="Arial MT"/>
                <a:cs typeface="Arial MT"/>
              </a:rPr>
              <a:t>Compare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functions</a:t>
            </a:r>
            <a:r>
              <a:rPr sz="2800" spc="-110" dirty="0">
                <a:latin typeface="Arial MT"/>
                <a:cs typeface="Arial MT"/>
              </a:rPr>
              <a:t> </a:t>
            </a:r>
            <a:r>
              <a:rPr sz="2800" b="1" spc="-10" dirty="0">
                <a:latin typeface="Arial"/>
                <a:cs typeface="Arial"/>
              </a:rPr>
              <a:t>asymptotically!</a:t>
            </a:r>
            <a:endParaRPr sz="28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</a:pPr>
            <a:r>
              <a:rPr sz="2800" dirty="0">
                <a:latin typeface="Arial MT"/>
                <a:cs typeface="Arial MT"/>
              </a:rPr>
              <a:t>(i.e.,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3399"/>
                </a:solidFill>
                <a:latin typeface="Arial MT"/>
                <a:cs typeface="Arial MT"/>
              </a:rPr>
              <a:t>for</a:t>
            </a:r>
            <a:r>
              <a:rPr sz="2800" spc="-5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3399"/>
                </a:solidFill>
                <a:latin typeface="Arial MT"/>
                <a:cs typeface="Arial MT"/>
              </a:rPr>
              <a:t>large</a:t>
            </a:r>
            <a:r>
              <a:rPr sz="2800" spc="-3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3399"/>
                </a:solidFill>
                <a:latin typeface="Arial MT"/>
                <a:cs typeface="Arial MT"/>
              </a:rPr>
              <a:t>values</a:t>
            </a:r>
            <a:r>
              <a:rPr sz="2800" spc="-5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3399"/>
                </a:solidFill>
                <a:latin typeface="Arial MT"/>
                <a:cs typeface="Arial MT"/>
              </a:rPr>
              <a:t>of</a:t>
            </a:r>
            <a:r>
              <a:rPr sz="2800" spc="-2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800" i="1" spc="-25" dirty="0">
                <a:solidFill>
                  <a:srgbClr val="FF3399"/>
                </a:solidFill>
                <a:latin typeface="Arial"/>
                <a:cs typeface="Arial"/>
              </a:rPr>
              <a:t>n</a:t>
            </a:r>
            <a:r>
              <a:rPr sz="2800" spc="-25" dirty="0">
                <a:latin typeface="Arial MT"/>
                <a:cs typeface="Arial MT"/>
              </a:rPr>
              <a:t>)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1901189">
              <a:lnSpc>
                <a:spcPct val="100000"/>
              </a:lnSpc>
              <a:spcBef>
                <a:spcPts val="100"/>
              </a:spcBef>
            </a:pP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Asymptotic </a:t>
            </a:r>
            <a:r>
              <a:rPr b="0" spc="-10" dirty="0">
                <a:solidFill>
                  <a:srgbClr val="000000"/>
                </a:solidFill>
                <a:latin typeface="Arial MT"/>
                <a:cs typeface="Arial MT"/>
              </a:rPr>
              <a:t>efficiency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175" rIns="0" bIns="0" rtlCol="0">
            <a:spAutoFit/>
          </a:bodyPr>
          <a:lstStyle/>
          <a:p>
            <a:pPr marL="2670175">
              <a:lnSpc>
                <a:spcPct val="100000"/>
              </a:lnSpc>
              <a:spcBef>
                <a:spcPts val="105"/>
              </a:spcBef>
            </a:pPr>
            <a:r>
              <a:rPr sz="3200" b="0" dirty="0">
                <a:solidFill>
                  <a:srgbClr val="000000"/>
                </a:solidFill>
                <a:latin typeface="Arial MT"/>
                <a:cs typeface="Arial MT"/>
              </a:rPr>
              <a:t>Rate</a:t>
            </a:r>
            <a:r>
              <a:rPr sz="3200" b="0" spc="-3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200" b="0" dirty="0">
                <a:solidFill>
                  <a:srgbClr val="000000"/>
                </a:solidFill>
                <a:latin typeface="Arial MT"/>
                <a:cs typeface="Arial MT"/>
              </a:rPr>
              <a:t>of</a:t>
            </a:r>
            <a:r>
              <a:rPr sz="3200" b="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200" b="0" spc="-10" dirty="0">
                <a:solidFill>
                  <a:srgbClr val="000000"/>
                </a:solidFill>
                <a:latin typeface="Arial MT"/>
                <a:cs typeface="Arial MT"/>
              </a:rPr>
              <a:t>Growth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3144" y="1368678"/>
            <a:ext cx="3644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76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67665" algn="l"/>
              </a:tabLst>
            </a:pPr>
            <a:r>
              <a:rPr sz="1800" dirty="0">
                <a:latin typeface="Arial MT"/>
                <a:cs typeface="Arial MT"/>
              </a:rPr>
              <a:t>Ex:-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333399"/>
                </a:solidFill>
                <a:latin typeface="Arial MT"/>
                <a:cs typeface="Arial MT"/>
              </a:rPr>
              <a:t>F(n)=n</a:t>
            </a:r>
            <a:r>
              <a:rPr sz="1800" spc="-15" baseline="25462" dirty="0">
                <a:solidFill>
                  <a:srgbClr val="333399"/>
                </a:solidFill>
                <a:latin typeface="Arial MT"/>
                <a:cs typeface="Arial MT"/>
              </a:rPr>
              <a:t>2</a:t>
            </a:r>
            <a:r>
              <a:rPr sz="1800" spc="-10" dirty="0">
                <a:solidFill>
                  <a:srgbClr val="333399"/>
                </a:solidFill>
                <a:latin typeface="Arial MT"/>
                <a:cs typeface="Arial MT"/>
              </a:rPr>
              <a:t>+100n+log</a:t>
            </a:r>
            <a:r>
              <a:rPr sz="1800" spc="-15" baseline="-20833" dirty="0">
                <a:solidFill>
                  <a:srgbClr val="333399"/>
                </a:solidFill>
                <a:latin typeface="Arial MT"/>
                <a:cs typeface="Arial MT"/>
              </a:rPr>
              <a:t>10</a:t>
            </a:r>
            <a:r>
              <a:rPr sz="1800" spc="-10" dirty="0">
                <a:solidFill>
                  <a:srgbClr val="333399"/>
                </a:solidFill>
                <a:latin typeface="Arial MT"/>
                <a:cs typeface="Arial MT"/>
              </a:rPr>
              <a:t>n+1000</a:t>
            </a:r>
            <a:endParaRPr sz="180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76312" y="2043112"/>
          <a:ext cx="7696200" cy="33521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8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8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8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15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8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715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683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794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spc="-50" dirty="0">
                          <a:solidFill>
                            <a:srgbClr val="99CC00"/>
                          </a:solidFill>
                          <a:latin typeface="Arial"/>
                          <a:cs typeface="Arial"/>
                        </a:rPr>
                        <a:t>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spc="-20" dirty="0">
                          <a:solidFill>
                            <a:srgbClr val="99CC00"/>
                          </a:solidFill>
                          <a:latin typeface="Arial"/>
                          <a:cs typeface="Arial"/>
                        </a:rPr>
                        <a:t>f(n)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spc="-25" dirty="0">
                          <a:solidFill>
                            <a:srgbClr val="99CC00"/>
                          </a:solidFill>
                          <a:latin typeface="Arial"/>
                          <a:cs typeface="Arial"/>
                        </a:rPr>
                        <a:t>n2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spc="-20" dirty="0">
                          <a:solidFill>
                            <a:srgbClr val="99CC00"/>
                          </a:solidFill>
                          <a:latin typeface="Arial"/>
                          <a:cs typeface="Arial"/>
                        </a:rPr>
                        <a:t>100n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spc="-10" dirty="0">
                          <a:solidFill>
                            <a:srgbClr val="99CC00"/>
                          </a:solidFill>
                          <a:latin typeface="Arial"/>
                          <a:cs typeface="Arial"/>
                        </a:rPr>
                        <a:t>log10n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spc="-20" dirty="0">
                          <a:solidFill>
                            <a:srgbClr val="99CC00"/>
                          </a:solidFill>
                          <a:latin typeface="Arial"/>
                          <a:cs typeface="Arial"/>
                        </a:rPr>
                        <a:t>1000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value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value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spc="-50" dirty="0">
                          <a:solidFill>
                            <a:srgbClr val="FF3399"/>
                          </a:solidFill>
                          <a:latin typeface="Arial"/>
                          <a:cs typeface="Arial"/>
                        </a:rPr>
                        <a:t>%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value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spc="-50" dirty="0">
                          <a:solidFill>
                            <a:srgbClr val="FF3399"/>
                          </a:solidFill>
                          <a:latin typeface="Arial"/>
                          <a:cs typeface="Arial"/>
                        </a:rPr>
                        <a:t>%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value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spc="-50" dirty="0">
                          <a:solidFill>
                            <a:srgbClr val="FF3399"/>
                          </a:solidFill>
                          <a:latin typeface="Arial"/>
                          <a:cs typeface="Arial"/>
                        </a:rPr>
                        <a:t>%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value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spc="-50" dirty="0">
                          <a:solidFill>
                            <a:srgbClr val="FF3399"/>
                          </a:solidFill>
                          <a:latin typeface="Arial"/>
                          <a:cs typeface="Arial"/>
                        </a:rPr>
                        <a:t>%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spc="-50" dirty="0">
                          <a:latin typeface="Arial MT"/>
                          <a:cs typeface="Arial MT"/>
                        </a:rPr>
                        <a:t>1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1,101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spc="-50" dirty="0">
                          <a:latin typeface="Arial MT"/>
                          <a:cs typeface="Arial MT"/>
                        </a:rPr>
                        <a:t>1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spc="-25" dirty="0">
                          <a:solidFill>
                            <a:srgbClr val="FF3399"/>
                          </a:solidFill>
                          <a:latin typeface="Arial"/>
                          <a:cs typeface="Arial"/>
                        </a:rPr>
                        <a:t>0.1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100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spc="-25" dirty="0">
                          <a:solidFill>
                            <a:srgbClr val="FF3399"/>
                          </a:solidFill>
                          <a:latin typeface="Arial"/>
                          <a:cs typeface="Arial"/>
                        </a:rPr>
                        <a:t>9.1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spc="-50" dirty="0">
                          <a:latin typeface="Arial MT"/>
                          <a:cs typeface="Arial MT"/>
                        </a:rPr>
                        <a:t>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spc="-25" dirty="0">
                          <a:solidFill>
                            <a:srgbClr val="FF3399"/>
                          </a:solidFill>
                          <a:latin typeface="Arial"/>
                          <a:cs typeface="Arial"/>
                        </a:rPr>
                        <a:t>0.0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1,000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spc="-10" dirty="0">
                          <a:solidFill>
                            <a:srgbClr val="FF3399"/>
                          </a:solidFill>
                          <a:latin typeface="Arial"/>
                          <a:cs typeface="Arial"/>
                        </a:rPr>
                        <a:t>90.83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1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10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2,101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100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spc="-20" dirty="0">
                          <a:solidFill>
                            <a:srgbClr val="FF3399"/>
                          </a:solidFill>
                          <a:latin typeface="Arial"/>
                          <a:cs typeface="Arial"/>
                        </a:rPr>
                        <a:t>4.76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1,000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spc="-20" dirty="0">
                          <a:solidFill>
                            <a:srgbClr val="FF3399"/>
                          </a:solidFill>
                          <a:latin typeface="Arial"/>
                          <a:cs typeface="Arial"/>
                        </a:rPr>
                        <a:t>47.6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spc="-50" dirty="0">
                          <a:latin typeface="Arial MT"/>
                          <a:cs typeface="Arial MT"/>
                        </a:rPr>
                        <a:t>1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spc="-20" dirty="0">
                          <a:solidFill>
                            <a:srgbClr val="FF3399"/>
                          </a:solidFill>
                          <a:latin typeface="Arial"/>
                          <a:cs typeface="Arial"/>
                        </a:rPr>
                        <a:t>0.05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1,000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spc="-10" dirty="0">
                          <a:solidFill>
                            <a:srgbClr val="FF3399"/>
                          </a:solidFill>
                          <a:latin typeface="Arial"/>
                          <a:cs typeface="Arial"/>
                        </a:rPr>
                        <a:t>47.60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100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21,002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10,000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spc="-20" dirty="0">
                          <a:solidFill>
                            <a:srgbClr val="FF3399"/>
                          </a:solidFill>
                          <a:latin typeface="Arial"/>
                          <a:cs typeface="Arial"/>
                        </a:rPr>
                        <a:t>47.6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10,000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spc="-20" dirty="0">
                          <a:solidFill>
                            <a:srgbClr val="FF3399"/>
                          </a:solidFill>
                          <a:latin typeface="Arial"/>
                          <a:cs typeface="Arial"/>
                        </a:rPr>
                        <a:t>47.6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spc="-50" dirty="0">
                          <a:latin typeface="Arial MT"/>
                          <a:cs typeface="Arial MT"/>
                        </a:rPr>
                        <a:t>2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spc="-20" dirty="0">
                          <a:solidFill>
                            <a:srgbClr val="FF3399"/>
                          </a:solidFill>
                          <a:latin typeface="Arial"/>
                          <a:cs typeface="Arial"/>
                        </a:rPr>
                        <a:t>0.001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1,000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spc="-20" dirty="0">
                          <a:solidFill>
                            <a:srgbClr val="FF3399"/>
                          </a:solidFill>
                          <a:latin typeface="Arial"/>
                          <a:cs typeface="Arial"/>
                        </a:rPr>
                        <a:t>4.76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81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1,000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1,101,003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1,000,000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spc="-20" dirty="0">
                          <a:solidFill>
                            <a:srgbClr val="FF3399"/>
                          </a:solidFill>
                          <a:latin typeface="Arial"/>
                          <a:cs typeface="Arial"/>
                        </a:rPr>
                        <a:t>90.8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100,000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spc="-25" dirty="0">
                          <a:solidFill>
                            <a:srgbClr val="FF3399"/>
                          </a:solidFill>
                          <a:latin typeface="Arial"/>
                          <a:cs typeface="Arial"/>
                        </a:rPr>
                        <a:t>9.1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spc="-50" dirty="0">
                          <a:latin typeface="Arial MT"/>
                          <a:cs typeface="Arial MT"/>
                        </a:rPr>
                        <a:t>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spc="-10" dirty="0">
                          <a:solidFill>
                            <a:srgbClr val="FF3399"/>
                          </a:solidFill>
                          <a:latin typeface="Arial"/>
                          <a:cs typeface="Arial"/>
                        </a:rPr>
                        <a:t>0.0003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1,000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spc="-20" dirty="0">
                          <a:solidFill>
                            <a:srgbClr val="FF3399"/>
                          </a:solidFill>
                          <a:latin typeface="Arial"/>
                          <a:cs typeface="Arial"/>
                        </a:rPr>
                        <a:t>0.09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10,000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101,001,004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100,000,000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spc="-20" dirty="0">
                          <a:solidFill>
                            <a:srgbClr val="FF3399"/>
                          </a:solidFill>
                          <a:latin typeface="Arial"/>
                          <a:cs typeface="Arial"/>
                        </a:rPr>
                        <a:t>99.0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1,000,000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spc="-20" dirty="0">
                          <a:solidFill>
                            <a:srgbClr val="FF3399"/>
                          </a:solidFill>
                          <a:latin typeface="Arial"/>
                          <a:cs typeface="Arial"/>
                        </a:rPr>
                        <a:t>0.99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spc="-50" dirty="0">
                          <a:latin typeface="Arial MT"/>
                          <a:cs typeface="Arial MT"/>
                        </a:rPr>
                        <a:t>4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spc="-25" dirty="0">
                          <a:solidFill>
                            <a:srgbClr val="FF3399"/>
                          </a:solidFill>
                          <a:latin typeface="Arial"/>
                          <a:cs typeface="Arial"/>
                        </a:rPr>
                        <a:t>0.0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1,000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spc="-20" dirty="0">
                          <a:solidFill>
                            <a:srgbClr val="FF3399"/>
                          </a:solidFill>
                          <a:latin typeface="Arial"/>
                          <a:cs typeface="Arial"/>
                        </a:rPr>
                        <a:t>0.001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1,00000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38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10,010,001005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10,000,000,000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spc="-20" dirty="0">
                          <a:solidFill>
                            <a:srgbClr val="FF3399"/>
                          </a:solidFill>
                          <a:latin typeface="Arial"/>
                          <a:cs typeface="Arial"/>
                        </a:rPr>
                        <a:t>99.9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10,000,000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spc="-20" dirty="0">
                          <a:solidFill>
                            <a:srgbClr val="FF3399"/>
                          </a:solidFill>
                          <a:latin typeface="Arial"/>
                          <a:cs typeface="Arial"/>
                        </a:rPr>
                        <a:t>0.099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00" spc="-50" dirty="0">
                          <a:latin typeface="Arial MT"/>
                          <a:cs typeface="Arial MT"/>
                        </a:rPr>
                        <a:t>5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spc="-25" dirty="0">
                          <a:solidFill>
                            <a:srgbClr val="FF3399"/>
                          </a:solidFill>
                          <a:latin typeface="Arial"/>
                          <a:cs typeface="Arial"/>
                        </a:rPr>
                        <a:t>0.0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1,000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spc="-20" dirty="0">
                          <a:solidFill>
                            <a:srgbClr val="FF3399"/>
                          </a:solidFill>
                          <a:latin typeface="Arial"/>
                          <a:cs typeface="Arial"/>
                        </a:rPr>
                        <a:t>0.00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757174"/>
            <a:ext cx="7227570" cy="59499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355600" marR="5080" indent="-342900">
              <a:lnSpc>
                <a:spcPts val="2080"/>
              </a:lnSpc>
              <a:spcBef>
                <a:spcPts val="440"/>
              </a:spcBef>
              <a:buChar char="•"/>
              <a:tabLst>
                <a:tab pos="355600" algn="l"/>
              </a:tabLst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low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order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terms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constants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function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relatively </a:t>
            </a:r>
            <a:r>
              <a:rPr sz="2000" dirty="0">
                <a:latin typeface="Arial MT"/>
                <a:cs typeface="Arial MT"/>
              </a:rPr>
              <a:t>insignificant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b="1" dirty="0">
                <a:latin typeface="Arial"/>
                <a:cs typeface="Arial"/>
              </a:rPr>
              <a:t>large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i="1" spc="-50" dirty="0">
                <a:latin typeface="Arial"/>
                <a:cs typeface="Arial"/>
              </a:rPr>
              <a:t>n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50694" y="1366774"/>
            <a:ext cx="34131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  <a:tabLst>
                <a:tab pos="3225800" algn="l"/>
              </a:tabLst>
            </a:pPr>
            <a:r>
              <a:rPr sz="2000" i="1" dirty="0">
                <a:solidFill>
                  <a:srgbClr val="DD0011"/>
                </a:solidFill>
                <a:latin typeface="Arial"/>
                <a:cs typeface="Arial"/>
              </a:rPr>
              <a:t>n</a:t>
            </a:r>
            <a:r>
              <a:rPr sz="1950" baseline="25641" dirty="0">
                <a:solidFill>
                  <a:srgbClr val="DD0011"/>
                </a:solidFill>
                <a:latin typeface="Arial MT"/>
                <a:cs typeface="Arial MT"/>
              </a:rPr>
              <a:t>2</a:t>
            </a:r>
            <a:r>
              <a:rPr sz="1950" spc="270" baseline="25641" dirty="0">
                <a:solidFill>
                  <a:srgbClr val="DD001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DD0011"/>
                </a:solidFill>
                <a:latin typeface="Arial MT"/>
                <a:cs typeface="Arial MT"/>
              </a:rPr>
              <a:t>+</a:t>
            </a:r>
            <a:r>
              <a:rPr sz="2000" spc="-15" dirty="0">
                <a:solidFill>
                  <a:srgbClr val="DD001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DD0011"/>
                </a:solidFill>
                <a:latin typeface="Arial MT"/>
                <a:cs typeface="Arial MT"/>
              </a:rPr>
              <a:t>100</a:t>
            </a:r>
            <a:r>
              <a:rPr sz="2000" i="1" dirty="0">
                <a:solidFill>
                  <a:srgbClr val="DD0011"/>
                </a:solidFill>
                <a:latin typeface="Arial"/>
                <a:cs typeface="Arial"/>
              </a:rPr>
              <a:t>n</a:t>
            </a:r>
            <a:r>
              <a:rPr sz="2000" i="1" spc="-25" dirty="0">
                <a:solidFill>
                  <a:srgbClr val="DD001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DD0011"/>
                </a:solidFill>
                <a:latin typeface="Arial MT"/>
                <a:cs typeface="Arial MT"/>
              </a:rPr>
              <a:t>+</a:t>
            </a:r>
            <a:r>
              <a:rPr sz="2000" spc="-15" dirty="0">
                <a:solidFill>
                  <a:srgbClr val="DD001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DD0011"/>
                </a:solidFill>
                <a:latin typeface="Arial MT"/>
                <a:cs typeface="Arial MT"/>
              </a:rPr>
              <a:t>log</a:t>
            </a:r>
            <a:r>
              <a:rPr sz="1950" baseline="-21367" dirty="0">
                <a:solidFill>
                  <a:srgbClr val="DD0011"/>
                </a:solidFill>
                <a:latin typeface="Arial MT"/>
                <a:cs typeface="Arial MT"/>
              </a:rPr>
              <a:t>10</a:t>
            </a:r>
            <a:r>
              <a:rPr sz="2000" i="1" dirty="0">
                <a:solidFill>
                  <a:srgbClr val="DD0011"/>
                </a:solidFill>
                <a:latin typeface="Arial"/>
                <a:cs typeface="Arial"/>
              </a:rPr>
              <a:t>n</a:t>
            </a:r>
            <a:r>
              <a:rPr sz="2000" i="1" spc="-30" dirty="0">
                <a:solidFill>
                  <a:srgbClr val="DD001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DD0011"/>
                </a:solidFill>
                <a:latin typeface="Arial MT"/>
                <a:cs typeface="Arial MT"/>
              </a:rPr>
              <a:t>+</a:t>
            </a:r>
            <a:r>
              <a:rPr sz="2000" spc="-10" dirty="0">
                <a:solidFill>
                  <a:srgbClr val="DD0011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DD0011"/>
                </a:solidFill>
                <a:latin typeface="Arial MT"/>
                <a:cs typeface="Arial MT"/>
              </a:rPr>
              <a:t>1000</a:t>
            </a:r>
            <a:r>
              <a:rPr sz="2000" dirty="0">
                <a:solidFill>
                  <a:srgbClr val="DD0011"/>
                </a:solidFill>
                <a:latin typeface="Arial MT"/>
                <a:cs typeface="Arial MT"/>
              </a:rPr>
              <a:t>	</a:t>
            </a:r>
            <a:r>
              <a:rPr sz="2000" spc="-50" dirty="0">
                <a:latin typeface="Arial MT"/>
                <a:cs typeface="Arial MT"/>
              </a:rPr>
              <a:t>~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35345" y="1290574"/>
            <a:ext cx="31242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000" i="1" spc="-37" baseline="-16666" dirty="0">
                <a:solidFill>
                  <a:srgbClr val="DD0011"/>
                </a:solidFill>
                <a:latin typeface="Arial"/>
                <a:cs typeface="Arial"/>
              </a:rPr>
              <a:t>n</a:t>
            </a:r>
            <a:r>
              <a:rPr sz="1300" spc="-25" dirty="0">
                <a:solidFill>
                  <a:srgbClr val="DD0011"/>
                </a:solidFill>
                <a:latin typeface="Arial MT"/>
                <a:cs typeface="Arial MT"/>
              </a:rPr>
              <a:t>2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7840" y="1925777"/>
            <a:ext cx="7445375" cy="3557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0">
              <a:lnSpc>
                <a:spcPts val="2240"/>
              </a:lnSpc>
              <a:spcBef>
                <a:spcPts val="105"/>
              </a:spcBef>
            </a:pPr>
            <a:r>
              <a:rPr sz="2000" i="1" dirty="0">
                <a:latin typeface="Arial"/>
                <a:cs typeface="Arial"/>
              </a:rPr>
              <a:t>i.e.,</a:t>
            </a:r>
            <a:r>
              <a:rPr sz="2000" i="1" spc="-25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we say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i="1" dirty="0">
                <a:solidFill>
                  <a:srgbClr val="DD0011"/>
                </a:solidFill>
                <a:latin typeface="Arial"/>
                <a:cs typeface="Arial"/>
              </a:rPr>
              <a:t>n</a:t>
            </a:r>
            <a:r>
              <a:rPr sz="1950" baseline="25641" dirty="0">
                <a:solidFill>
                  <a:srgbClr val="DD0011"/>
                </a:solidFill>
                <a:latin typeface="Arial MT"/>
                <a:cs typeface="Arial MT"/>
              </a:rPr>
              <a:t>2</a:t>
            </a:r>
            <a:r>
              <a:rPr sz="1950" spc="270" baseline="25641" dirty="0">
                <a:solidFill>
                  <a:srgbClr val="DD001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DD0011"/>
                </a:solidFill>
                <a:latin typeface="Arial MT"/>
                <a:cs typeface="Arial MT"/>
              </a:rPr>
              <a:t>+</a:t>
            </a:r>
            <a:r>
              <a:rPr sz="2000" spc="-10" dirty="0">
                <a:solidFill>
                  <a:srgbClr val="DD001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DD0011"/>
                </a:solidFill>
                <a:latin typeface="Arial MT"/>
                <a:cs typeface="Arial MT"/>
              </a:rPr>
              <a:t>100</a:t>
            </a:r>
            <a:r>
              <a:rPr sz="2000" i="1" dirty="0">
                <a:solidFill>
                  <a:srgbClr val="DD0011"/>
                </a:solidFill>
                <a:latin typeface="Arial"/>
                <a:cs typeface="Arial"/>
              </a:rPr>
              <a:t>n</a:t>
            </a:r>
            <a:r>
              <a:rPr sz="2000" i="1" spc="-30" dirty="0">
                <a:solidFill>
                  <a:srgbClr val="DD001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DD0011"/>
                </a:solidFill>
                <a:latin typeface="Arial MT"/>
                <a:cs typeface="Arial MT"/>
              </a:rPr>
              <a:t>+</a:t>
            </a:r>
            <a:r>
              <a:rPr sz="2000" spc="-15" dirty="0">
                <a:solidFill>
                  <a:srgbClr val="DD001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DD0011"/>
                </a:solidFill>
                <a:latin typeface="Arial MT"/>
                <a:cs typeface="Arial MT"/>
              </a:rPr>
              <a:t>log</a:t>
            </a:r>
            <a:r>
              <a:rPr sz="1950" baseline="-21367" dirty="0">
                <a:solidFill>
                  <a:srgbClr val="DD0011"/>
                </a:solidFill>
                <a:latin typeface="Arial MT"/>
                <a:cs typeface="Arial MT"/>
              </a:rPr>
              <a:t>10</a:t>
            </a:r>
            <a:r>
              <a:rPr sz="2000" i="1" dirty="0">
                <a:solidFill>
                  <a:srgbClr val="DD0011"/>
                </a:solidFill>
                <a:latin typeface="Arial"/>
                <a:cs typeface="Arial"/>
              </a:rPr>
              <a:t>n</a:t>
            </a:r>
            <a:r>
              <a:rPr sz="2000" i="1" spc="-30" dirty="0">
                <a:solidFill>
                  <a:srgbClr val="DD001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DD0011"/>
                </a:solidFill>
                <a:latin typeface="Arial MT"/>
                <a:cs typeface="Arial MT"/>
              </a:rPr>
              <a:t>+</a:t>
            </a:r>
            <a:r>
              <a:rPr sz="2000" spc="-15" dirty="0">
                <a:solidFill>
                  <a:srgbClr val="DD001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DD0011"/>
                </a:solidFill>
                <a:latin typeface="Arial MT"/>
                <a:cs typeface="Arial MT"/>
              </a:rPr>
              <a:t>1000</a:t>
            </a:r>
            <a:r>
              <a:rPr sz="2000" spc="-15" dirty="0">
                <a:solidFill>
                  <a:srgbClr val="DD0011"/>
                </a:solidFill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i="1" dirty="0">
                <a:solidFill>
                  <a:srgbClr val="DD0011"/>
                </a:solidFill>
                <a:latin typeface="Arial"/>
                <a:cs typeface="Arial"/>
              </a:rPr>
              <a:t>n</a:t>
            </a:r>
            <a:r>
              <a:rPr sz="1950" baseline="25641" dirty="0">
                <a:solidFill>
                  <a:srgbClr val="DD0011"/>
                </a:solidFill>
                <a:latin typeface="Arial MT"/>
                <a:cs typeface="Arial MT"/>
              </a:rPr>
              <a:t>2</a:t>
            </a:r>
            <a:r>
              <a:rPr sz="1950" spc="270" baseline="25641" dirty="0">
                <a:solidFill>
                  <a:srgbClr val="DD0011"/>
                </a:solidFill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have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same</a:t>
            </a:r>
            <a:endParaRPr sz="2000">
              <a:latin typeface="Arial MT"/>
              <a:cs typeface="Arial MT"/>
            </a:endParaRPr>
          </a:p>
          <a:p>
            <a:pPr marL="393700">
              <a:lnSpc>
                <a:spcPts val="2240"/>
              </a:lnSpc>
            </a:pPr>
            <a:r>
              <a:rPr sz="2000" b="1" dirty="0">
                <a:latin typeface="Arial"/>
                <a:cs typeface="Arial"/>
              </a:rPr>
              <a:t>rate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of</a:t>
            </a:r>
            <a:r>
              <a:rPr sz="2000" b="1" spc="-10" dirty="0">
                <a:latin typeface="Arial"/>
                <a:cs typeface="Arial"/>
              </a:rPr>
              <a:t> growth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40"/>
              </a:spcBef>
            </a:pPr>
            <a:endParaRPr sz="20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</a:pPr>
            <a:r>
              <a:rPr sz="2800" i="1" dirty="0">
                <a:latin typeface="Arial"/>
                <a:cs typeface="Arial"/>
              </a:rPr>
              <a:t>Some</a:t>
            </a:r>
            <a:r>
              <a:rPr sz="2800" i="1" spc="-60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more</a:t>
            </a:r>
            <a:r>
              <a:rPr sz="2800" i="1" spc="-60" dirty="0">
                <a:latin typeface="Arial"/>
                <a:cs typeface="Arial"/>
              </a:rPr>
              <a:t> </a:t>
            </a:r>
            <a:r>
              <a:rPr sz="2800" i="1" spc="-10" dirty="0">
                <a:latin typeface="Arial"/>
                <a:cs typeface="Arial"/>
              </a:rPr>
              <a:t>examples</a:t>
            </a:r>
            <a:endParaRPr sz="2800">
              <a:latin typeface="Arial"/>
              <a:cs typeface="Arial"/>
            </a:endParaRPr>
          </a:p>
          <a:p>
            <a:pPr marL="492759" indent="-441959">
              <a:lnSpc>
                <a:spcPct val="100000"/>
              </a:lnSpc>
              <a:spcBef>
                <a:spcPts val="1135"/>
              </a:spcBef>
              <a:buSzPct val="140000"/>
              <a:buFont typeface="Arial MT"/>
              <a:buChar char="•"/>
              <a:tabLst>
                <a:tab pos="492759" algn="l"/>
              </a:tabLst>
            </a:pPr>
            <a:r>
              <a:rPr sz="2000" i="1" dirty="0">
                <a:latin typeface="Arial"/>
                <a:cs typeface="Arial"/>
              </a:rPr>
              <a:t>n</a:t>
            </a:r>
            <a:r>
              <a:rPr sz="1950" baseline="25641" dirty="0">
                <a:latin typeface="Arial MT"/>
                <a:cs typeface="Arial MT"/>
              </a:rPr>
              <a:t>4</a:t>
            </a:r>
            <a:r>
              <a:rPr sz="1950" spc="270" baseline="25641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+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100</a:t>
            </a:r>
            <a:r>
              <a:rPr sz="2000" i="1" dirty="0">
                <a:latin typeface="Arial"/>
                <a:cs typeface="Arial"/>
              </a:rPr>
              <a:t>n</a:t>
            </a:r>
            <a:r>
              <a:rPr sz="1950" baseline="25641" dirty="0">
                <a:latin typeface="Arial MT"/>
                <a:cs typeface="Arial MT"/>
              </a:rPr>
              <a:t>2</a:t>
            </a:r>
            <a:r>
              <a:rPr sz="1950" spc="262" baseline="25641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+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10</a:t>
            </a:r>
            <a:r>
              <a:rPr sz="2000" i="1" dirty="0">
                <a:latin typeface="Arial"/>
                <a:cs typeface="Arial"/>
              </a:rPr>
              <a:t>n</a:t>
            </a:r>
            <a:r>
              <a:rPr sz="2000" i="1" spc="-20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+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50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~</a:t>
            </a:r>
            <a:r>
              <a:rPr sz="2000" i="1" spc="-25" dirty="0">
                <a:latin typeface="Arial"/>
                <a:cs typeface="Arial"/>
              </a:rPr>
              <a:t>n</a:t>
            </a:r>
            <a:r>
              <a:rPr sz="1950" spc="-37" baseline="25641" dirty="0">
                <a:latin typeface="Arial MT"/>
                <a:cs typeface="Arial MT"/>
              </a:rPr>
              <a:t>4</a:t>
            </a:r>
            <a:endParaRPr sz="1950" baseline="25641">
              <a:latin typeface="Arial MT"/>
              <a:cs typeface="Arial MT"/>
            </a:endParaRPr>
          </a:p>
          <a:p>
            <a:pPr marL="393065" indent="-342265">
              <a:lnSpc>
                <a:spcPct val="100000"/>
              </a:lnSpc>
              <a:spcBef>
                <a:spcPts val="425"/>
              </a:spcBef>
              <a:buChar char="•"/>
              <a:tabLst>
                <a:tab pos="393065" algn="l"/>
              </a:tabLst>
            </a:pPr>
            <a:r>
              <a:rPr sz="2000" dirty="0">
                <a:latin typeface="Arial MT"/>
                <a:cs typeface="Arial MT"/>
              </a:rPr>
              <a:t>10</a:t>
            </a:r>
            <a:r>
              <a:rPr sz="2000" i="1" dirty="0">
                <a:latin typeface="Arial"/>
                <a:cs typeface="Arial"/>
              </a:rPr>
              <a:t>n</a:t>
            </a:r>
            <a:r>
              <a:rPr sz="1950" baseline="25641" dirty="0">
                <a:latin typeface="Arial MT"/>
                <a:cs typeface="Arial MT"/>
              </a:rPr>
              <a:t>3</a:t>
            </a:r>
            <a:r>
              <a:rPr sz="1950" spc="254" baseline="25641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+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2</a:t>
            </a:r>
            <a:r>
              <a:rPr sz="2000" i="1" dirty="0">
                <a:latin typeface="Arial"/>
                <a:cs typeface="Arial"/>
              </a:rPr>
              <a:t>n</a:t>
            </a:r>
            <a:r>
              <a:rPr sz="1950" baseline="25641" dirty="0">
                <a:latin typeface="Arial MT"/>
                <a:cs typeface="Arial MT"/>
              </a:rPr>
              <a:t>2</a:t>
            </a:r>
            <a:r>
              <a:rPr sz="1950" spc="277" baseline="25641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~</a:t>
            </a:r>
            <a:r>
              <a:rPr sz="2000" i="1" spc="-25" dirty="0">
                <a:latin typeface="Arial"/>
                <a:cs typeface="Arial"/>
              </a:rPr>
              <a:t>n</a:t>
            </a:r>
            <a:r>
              <a:rPr sz="1950" spc="-37" baseline="25641" dirty="0">
                <a:latin typeface="Arial MT"/>
                <a:cs typeface="Arial MT"/>
              </a:rPr>
              <a:t>3</a:t>
            </a:r>
            <a:endParaRPr sz="1950" baseline="25641">
              <a:latin typeface="Arial MT"/>
              <a:cs typeface="Arial MT"/>
            </a:endParaRPr>
          </a:p>
          <a:p>
            <a:pPr marL="393065" indent="-342265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393065" algn="l"/>
              </a:tabLst>
            </a:pPr>
            <a:r>
              <a:rPr sz="2000" i="1" dirty="0">
                <a:latin typeface="Arial"/>
                <a:cs typeface="Arial"/>
              </a:rPr>
              <a:t>n</a:t>
            </a:r>
            <a:r>
              <a:rPr sz="1950" baseline="25641" dirty="0">
                <a:latin typeface="Arial MT"/>
                <a:cs typeface="Arial MT"/>
              </a:rPr>
              <a:t>3</a:t>
            </a:r>
            <a:r>
              <a:rPr sz="1950" spc="270" baseline="25641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-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i="1" dirty="0">
                <a:latin typeface="Arial"/>
                <a:cs typeface="Arial"/>
              </a:rPr>
              <a:t>n</a:t>
            </a:r>
            <a:r>
              <a:rPr sz="1950" baseline="25641" dirty="0">
                <a:latin typeface="Arial MT"/>
                <a:cs typeface="Arial MT"/>
              </a:rPr>
              <a:t>2</a:t>
            </a:r>
            <a:r>
              <a:rPr sz="1950" spc="277" baseline="25641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 </a:t>
            </a:r>
            <a:r>
              <a:rPr sz="2000" spc="-25" dirty="0">
                <a:latin typeface="Arial MT"/>
                <a:cs typeface="Arial MT"/>
              </a:rPr>
              <a:t>~</a:t>
            </a:r>
            <a:r>
              <a:rPr sz="2000" i="1" spc="-25" dirty="0">
                <a:latin typeface="Arial"/>
                <a:cs typeface="Arial"/>
              </a:rPr>
              <a:t>n</a:t>
            </a:r>
            <a:r>
              <a:rPr sz="1950" spc="-37" baseline="25641" dirty="0">
                <a:latin typeface="Arial MT"/>
                <a:cs typeface="Arial MT"/>
              </a:rPr>
              <a:t>3</a:t>
            </a:r>
            <a:endParaRPr sz="1950" baseline="25641">
              <a:latin typeface="Arial MT"/>
              <a:cs typeface="Arial MT"/>
            </a:endParaRPr>
          </a:p>
          <a:p>
            <a:pPr marL="393065" indent="-342265">
              <a:lnSpc>
                <a:spcPct val="100000"/>
              </a:lnSpc>
              <a:spcBef>
                <a:spcPts val="240"/>
              </a:spcBef>
              <a:buChar char="•"/>
              <a:tabLst>
                <a:tab pos="393065" algn="l"/>
              </a:tabLst>
            </a:pPr>
            <a:r>
              <a:rPr sz="2000" spc="-10" dirty="0">
                <a:latin typeface="Arial MT"/>
                <a:cs typeface="Arial MT"/>
              </a:rPr>
              <a:t>constants</a:t>
            </a:r>
            <a:endParaRPr sz="2000">
              <a:latin typeface="Arial MT"/>
              <a:cs typeface="Arial MT"/>
            </a:endParaRPr>
          </a:p>
          <a:p>
            <a:pPr marL="508000">
              <a:lnSpc>
                <a:spcPct val="100000"/>
              </a:lnSpc>
              <a:spcBef>
                <a:spcPts val="240"/>
              </a:spcBef>
              <a:tabLst>
                <a:tab pos="794385" algn="l"/>
              </a:tabLst>
            </a:pPr>
            <a:r>
              <a:rPr sz="2000" spc="-50" dirty="0">
                <a:latin typeface="Arial MT"/>
                <a:cs typeface="Arial MT"/>
              </a:rPr>
              <a:t>–</a:t>
            </a:r>
            <a:r>
              <a:rPr sz="2000" dirty="0">
                <a:latin typeface="Arial MT"/>
                <a:cs typeface="Arial MT"/>
              </a:rPr>
              <a:t>	10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~</a:t>
            </a:r>
            <a:r>
              <a:rPr sz="2000" spc="-25" dirty="0">
                <a:latin typeface="Arial MT"/>
                <a:cs typeface="Arial MT"/>
              </a:rPr>
              <a:t>1</a:t>
            </a:r>
            <a:endParaRPr sz="2000">
              <a:latin typeface="Arial MT"/>
              <a:cs typeface="Arial MT"/>
            </a:endParaRPr>
          </a:p>
          <a:p>
            <a:pPr marL="508000">
              <a:lnSpc>
                <a:spcPct val="100000"/>
              </a:lnSpc>
              <a:spcBef>
                <a:spcPts val="240"/>
              </a:spcBef>
              <a:tabLst>
                <a:tab pos="794385" algn="l"/>
              </a:tabLst>
            </a:pPr>
            <a:r>
              <a:rPr sz="2000" spc="-50" dirty="0">
                <a:latin typeface="Arial MT"/>
                <a:cs typeface="Arial MT"/>
              </a:rPr>
              <a:t>–</a:t>
            </a:r>
            <a:r>
              <a:rPr sz="2000" dirty="0">
                <a:latin typeface="Arial MT"/>
                <a:cs typeface="Arial MT"/>
              </a:rPr>
              <a:t>	1273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~</a:t>
            </a:r>
            <a:r>
              <a:rPr sz="2000" spc="-25" dirty="0">
                <a:latin typeface="Arial MT"/>
                <a:cs typeface="Arial MT"/>
              </a:rPr>
              <a:t>1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87782"/>
            <a:ext cx="383984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0" dirty="0">
                <a:solidFill>
                  <a:srgbClr val="000000"/>
                </a:solidFill>
                <a:latin typeface="Arial MT"/>
                <a:cs typeface="Arial MT"/>
              </a:rPr>
              <a:t>Asymptotic</a:t>
            </a:r>
            <a:r>
              <a:rPr sz="3200" b="0" spc="-5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200" b="0" spc="-10" dirty="0">
                <a:solidFill>
                  <a:srgbClr val="000000"/>
                </a:solidFill>
                <a:latin typeface="Arial MT"/>
                <a:cs typeface="Arial MT"/>
              </a:rPr>
              <a:t>Notations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640" y="1024621"/>
            <a:ext cx="5354955" cy="5110480"/>
          </a:xfrm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367665" indent="-342265">
              <a:lnSpc>
                <a:spcPct val="100000"/>
              </a:lnSpc>
              <a:spcBef>
                <a:spcPts val="1220"/>
              </a:spcBef>
              <a:buChar char="•"/>
              <a:tabLst>
                <a:tab pos="367665" algn="l"/>
              </a:tabLst>
            </a:pPr>
            <a:r>
              <a:rPr sz="2000" dirty="0">
                <a:latin typeface="Arial MT"/>
                <a:cs typeface="Arial MT"/>
              </a:rPr>
              <a:t>Asymptotic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notation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describes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behavior</a:t>
            </a:r>
            <a:endParaRPr sz="2000">
              <a:latin typeface="Arial MT"/>
              <a:cs typeface="Arial MT"/>
            </a:endParaRPr>
          </a:p>
          <a:p>
            <a:pPr marL="368300">
              <a:lnSpc>
                <a:spcPct val="100000"/>
              </a:lnSpc>
              <a:spcBef>
                <a:spcPts val="1340"/>
              </a:spcBef>
            </a:pP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functions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large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inputs</a:t>
            </a:r>
            <a:r>
              <a:rPr sz="2400" spc="-10" dirty="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 marL="367665" indent="-342265">
              <a:lnSpc>
                <a:spcPct val="100000"/>
              </a:lnSpc>
              <a:spcBef>
                <a:spcPts val="2014"/>
              </a:spcBef>
              <a:buFont typeface="Arial MT"/>
              <a:buChar char="•"/>
              <a:tabLst>
                <a:tab pos="367665" algn="l"/>
              </a:tabLst>
            </a:pPr>
            <a:r>
              <a:rPr sz="2400" b="1" dirty="0">
                <a:latin typeface="Arial"/>
                <a:cs typeface="Arial"/>
              </a:rPr>
              <a:t>Big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Oh(</a:t>
            </a:r>
            <a:r>
              <a:rPr sz="2400" i="1" dirty="0">
                <a:latin typeface="Arial"/>
                <a:cs typeface="Arial"/>
              </a:rPr>
              <a:t>O)</a:t>
            </a:r>
            <a:r>
              <a:rPr sz="2400" i="1" spc="-25" dirty="0">
                <a:latin typeface="Arial"/>
                <a:cs typeface="Arial"/>
              </a:rPr>
              <a:t> </a:t>
            </a:r>
            <a:r>
              <a:rPr sz="2400" spc="-10" dirty="0">
                <a:latin typeface="Arial MT"/>
                <a:cs typeface="Arial MT"/>
              </a:rPr>
              <a:t>notation:</a:t>
            </a:r>
            <a:endParaRPr sz="2400">
              <a:latin typeface="Arial MT"/>
              <a:cs typeface="Arial MT"/>
            </a:endParaRPr>
          </a:p>
          <a:p>
            <a:pPr marL="768985" marR="246379" lvl="1" indent="-287020">
              <a:lnSpc>
                <a:spcPct val="150000"/>
              </a:lnSpc>
              <a:spcBef>
                <a:spcPts val="590"/>
              </a:spcBef>
              <a:buChar char="–"/>
              <a:tabLst>
                <a:tab pos="768985" algn="l"/>
              </a:tabLst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big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oh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notation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describes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3399"/>
                </a:solidFill>
                <a:latin typeface="Arial MT"/>
                <a:cs typeface="Arial MT"/>
              </a:rPr>
              <a:t>upper </a:t>
            </a:r>
            <a:r>
              <a:rPr sz="1800" dirty="0">
                <a:solidFill>
                  <a:srgbClr val="FF3399"/>
                </a:solidFill>
                <a:latin typeface="Arial MT"/>
                <a:cs typeface="Arial MT"/>
              </a:rPr>
              <a:t>bound</a:t>
            </a:r>
            <a:r>
              <a:rPr sz="1800" spc="-2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3399"/>
                </a:solidFill>
                <a:latin typeface="Arial MT"/>
                <a:cs typeface="Arial MT"/>
              </a:rPr>
              <a:t>asymptotic</a:t>
            </a:r>
            <a:r>
              <a:rPr sz="1800" spc="-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3399"/>
                </a:solidFill>
                <a:latin typeface="Arial MT"/>
                <a:cs typeface="Arial MT"/>
              </a:rPr>
              <a:t>growth</a:t>
            </a:r>
            <a:r>
              <a:rPr sz="1800" spc="1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3399"/>
                </a:solidFill>
                <a:latin typeface="Arial MT"/>
                <a:cs typeface="Arial MT"/>
              </a:rPr>
              <a:t>rate</a:t>
            </a:r>
            <a:r>
              <a:rPr sz="1800" spc="-2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the </a:t>
            </a:r>
            <a:r>
              <a:rPr sz="1800" dirty="0">
                <a:latin typeface="Arial MT"/>
                <a:cs typeface="Arial MT"/>
              </a:rPr>
              <a:t>function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FF3399"/>
                </a:solidFill>
                <a:latin typeface="Arial MT"/>
                <a:cs typeface="Arial MT"/>
              </a:rPr>
              <a:t>f</a:t>
            </a:r>
            <a:r>
              <a:rPr sz="1800" spc="-25" dirty="0"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  <a:p>
            <a:pPr marL="614680">
              <a:lnSpc>
                <a:spcPct val="100000"/>
              </a:lnSpc>
              <a:spcBef>
                <a:spcPts val="1440"/>
              </a:spcBef>
            </a:pPr>
            <a:r>
              <a:rPr sz="2400" b="1" dirty="0">
                <a:latin typeface="Arial"/>
                <a:cs typeface="Arial"/>
              </a:rPr>
              <a:t>Definition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[Big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“oh’’]</a:t>
            </a:r>
            <a:endParaRPr sz="2400">
              <a:latin typeface="Arial MT"/>
              <a:cs typeface="Arial MT"/>
            </a:endParaRPr>
          </a:p>
          <a:p>
            <a:pPr marL="767715" marR="43180" lvl="1" indent="-285750">
              <a:lnSpc>
                <a:spcPct val="100000"/>
              </a:lnSpc>
              <a:spcBef>
                <a:spcPts val="670"/>
              </a:spcBef>
              <a:buChar char="–"/>
              <a:tabLst>
                <a:tab pos="768985" algn="l"/>
              </a:tabLst>
            </a:pPr>
            <a:r>
              <a:rPr sz="2400" dirty="0">
                <a:latin typeface="Arial MT"/>
                <a:cs typeface="Arial MT"/>
              </a:rPr>
              <a:t>f(</a:t>
            </a:r>
            <a:r>
              <a:rPr sz="2400" i="1" dirty="0">
                <a:latin typeface="Arial"/>
                <a:cs typeface="Arial"/>
              </a:rPr>
              <a:t>n</a:t>
            </a:r>
            <a:r>
              <a:rPr sz="2400" dirty="0">
                <a:latin typeface="Arial MT"/>
                <a:cs typeface="Arial MT"/>
              </a:rPr>
              <a:t>)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O(g(</a:t>
            </a:r>
            <a:r>
              <a:rPr sz="2400" i="1" dirty="0">
                <a:latin typeface="Arial"/>
                <a:cs typeface="Arial"/>
              </a:rPr>
              <a:t>n</a:t>
            </a:r>
            <a:r>
              <a:rPr sz="2400" dirty="0">
                <a:latin typeface="Arial MT"/>
                <a:cs typeface="Arial MT"/>
              </a:rPr>
              <a:t>))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(read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“</a:t>
            </a:r>
            <a:r>
              <a:rPr sz="2000" i="1" dirty="0">
                <a:latin typeface="Arial"/>
                <a:cs typeface="Arial"/>
              </a:rPr>
              <a:t>f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i="1" dirty="0">
                <a:latin typeface="Arial"/>
                <a:cs typeface="Arial"/>
              </a:rPr>
              <a:t>n</a:t>
            </a:r>
            <a:r>
              <a:rPr sz="2000" i="1" spc="-20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big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oh 	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i="1" dirty="0">
                <a:latin typeface="Arial"/>
                <a:cs typeface="Arial"/>
              </a:rPr>
              <a:t>g</a:t>
            </a:r>
            <a:r>
              <a:rPr sz="2000" i="1" spc="-15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i="1" dirty="0">
                <a:latin typeface="Arial"/>
                <a:cs typeface="Arial"/>
              </a:rPr>
              <a:t>n</a:t>
            </a:r>
            <a:r>
              <a:rPr sz="2000" dirty="0">
                <a:latin typeface="Arial MT"/>
                <a:cs typeface="Arial MT"/>
              </a:rPr>
              <a:t>”)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iff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there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exist </a:t>
            </a:r>
            <a:r>
              <a:rPr sz="2400" spc="-10" dirty="0">
                <a:latin typeface="Arial MT"/>
                <a:cs typeface="Arial MT"/>
              </a:rPr>
              <a:t>positive 	</a:t>
            </a:r>
            <a:r>
              <a:rPr sz="2400" dirty="0">
                <a:latin typeface="Arial MT"/>
                <a:cs typeface="Arial MT"/>
              </a:rPr>
              <a:t>constants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</a:t>
            </a:r>
            <a:r>
              <a:rPr sz="2400" baseline="-20833" dirty="0">
                <a:latin typeface="Arial MT"/>
                <a:cs typeface="Arial MT"/>
              </a:rPr>
              <a:t>0</a:t>
            </a:r>
            <a:r>
              <a:rPr sz="2400" spc="270" baseline="-2083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such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that</a:t>
            </a:r>
            <a:endParaRPr sz="2400">
              <a:latin typeface="Arial MT"/>
              <a:cs typeface="Arial MT"/>
            </a:endParaRPr>
          </a:p>
          <a:p>
            <a:pPr marL="821055">
              <a:lnSpc>
                <a:spcPct val="100000"/>
              </a:lnSpc>
              <a:spcBef>
                <a:spcPts val="580"/>
              </a:spcBef>
            </a:pPr>
            <a:r>
              <a:rPr sz="2400" dirty="0">
                <a:solidFill>
                  <a:srgbClr val="FF3399"/>
                </a:solidFill>
                <a:latin typeface="Arial MT"/>
                <a:cs typeface="Arial MT"/>
              </a:rPr>
              <a:t>f(</a:t>
            </a:r>
            <a:r>
              <a:rPr sz="2400" i="1" dirty="0">
                <a:solidFill>
                  <a:srgbClr val="FF3399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srgbClr val="FF3399"/>
                </a:solidFill>
                <a:latin typeface="Arial MT"/>
                <a:cs typeface="Arial MT"/>
              </a:rPr>
              <a:t>)</a:t>
            </a:r>
            <a:r>
              <a:rPr sz="2400" spc="-5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399"/>
                </a:solidFill>
                <a:latin typeface="Symbol"/>
                <a:cs typeface="Symbol"/>
              </a:rPr>
              <a:t></a:t>
            </a:r>
            <a:r>
              <a:rPr sz="2400" spc="45" dirty="0">
                <a:solidFill>
                  <a:srgbClr val="FF33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399"/>
                </a:solidFill>
                <a:latin typeface="Arial MT"/>
                <a:cs typeface="Arial MT"/>
              </a:rPr>
              <a:t>cg(</a:t>
            </a:r>
            <a:r>
              <a:rPr sz="2400" i="1" dirty="0">
                <a:solidFill>
                  <a:srgbClr val="FF3399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srgbClr val="FF3399"/>
                </a:solidFill>
                <a:latin typeface="Arial MT"/>
                <a:cs typeface="Arial MT"/>
              </a:rPr>
              <a:t>)</a:t>
            </a:r>
            <a:r>
              <a:rPr sz="2400" spc="-2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all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Symbol"/>
                <a:cs typeface="Symbol"/>
              </a:rPr>
              <a:t>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Arial MT"/>
                <a:cs typeface="Arial MT"/>
              </a:rPr>
              <a:t>n</a:t>
            </a:r>
            <a:r>
              <a:rPr sz="2400" spc="-37" baseline="-20833" dirty="0">
                <a:latin typeface="Arial MT"/>
                <a:cs typeface="Arial MT"/>
              </a:rPr>
              <a:t>0</a:t>
            </a:r>
            <a:r>
              <a:rPr sz="2400" spc="-25" dirty="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91200" y="1386839"/>
            <a:ext cx="3247644" cy="3438144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9740" y="492378"/>
            <a:ext cx="8103870" cy="558609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431800" marR="93980" indent="-342900">
              <a:lnSpc>
                <a:spcPts val="2590"/>
              </a:lnSpc>
              <a:spcBef>
                <a:spcPts val="425"/>
              </a:spcBef>
              <a:buChar char="•"/>
              <a:tabLst>
                <a:tab pos="431800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definition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states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function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f(n)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399"/>
                </a:solidFill>
                <a:latin typeface="Arial MT"/>
                <a:cs typeface="Arial MT"/>
              </a:rPr>
              <a:t>most</a:t>
            </a:r>
            <a:r>
              <a:rPr sz="2400" spc="-4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c </a:t>
            </a:r>
            <a:r>
              <a:rPr sz="2400" dirty="0">
                <a:latin typeface="Arial MT"/>
                <a:cs typeface="Arial MT"/>
              </a:rPr>
              <a:t>times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function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g(n)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except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when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smaller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than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n</a:t>
            </a:r>
            <a:r>
              <a:rPr sz="2400" spc="-37" baseline="-20833" dirty="0">
                <a:latin typeface="Arial MT"/>
                <a:cs typeface="Arial MT"/>
              </a:rPr>
              <a:t>0</a:t>
            </a:r>
            <a:r>
              <a:rPr sz="2400" spc="-25" dirty="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 marL="431800" marR="261620" indent="-342900">
              <a:lnSpc>
                <a:spcPts val="2590"/>
              </a:lnSpc>
              <a:spcBef>
                <a:spcPts val="580"/>
              </a:spcBef>
              <a:buFont typeface="Arial MT"/>
              <a:buChar char="•"/>
              <a:tabLst>
                <a:tab pos="431800" algn="l"/>
              </a:tabLst>
            </a:pPr>
            <a:r>
              <a:rPr sz="2400" i="1" dirty="0">
                <a:latin typeface="Arial"/>
                <a:cs typeface="Arial"/>
              </a:rPr>
              <a:t>In</a:t>
            </a:r>
            <a:r>
              <a:rPr sz="2400" i="1" spc="-5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other</a:t>
            </a:r>
            <a:r>
              <a:rPr sz="2400" i="1" spc="-5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words,</a:t>
            </a:r>
            <a:r>
              <a:rPr sz="2400" i="1" spc="-60" dirty="0"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FF3399"/>
                </a:solidFill>
                <a:latin typeface="Arial"/>
                <a:cs typeface="Arial"/>
              </a:rPr>
              <a:t>f</a:t>
            </a:r>
            <a:r>
              <a:rPr sz="2400" dirty="0">
                <a:solidFill>
                  <a:srgbClr val="FF3399"/>
                </a:solidFill>
                <a:latin typeface="Arial MT"/>
                <a:cs typeface="Arial MT"/>
              </a:rPr>
              <a:t>(</a:t>
            </a:r>
            <a:r>
              <a:rPr sz="2400" i="1" dirty="0">
                <a:solidFill>
                  <a:srgbClr val="FF3399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srgbClr val="FF3399"/>
                </a:solidFill>
                <a:latin typeface="Arial MT"/>
                <a:cs typeface="Arial MT"/>
              </a:rPr>
              <a:t>)</a:t>
            </a:r>
            <a:r>
              <a:rPr sz="2400" spc="-6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399"/>
                </a:solidFill>
                <a:latin typeface="Arial MT"/>
                <a:cs typeface="Arial MT"/>
              </a:rPr>
              <a:t>grows</a:t>
            </a:r>
            <a:r>
              <a:rPr sz="2400" spc="-4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399"/>
                </a:solidFill>
                <a:latin typeface="Arial MT"/>
                <a:cs typeface="Arial MT"/>
              </a:rPr>
              <a:t>slower</a:t>
            </a:r>
            <a:r>
              <a:rPr sz="2400" spc="-4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399"/>
                </a:solidFill>
                <a:latin typeface="Arial MT"/>
                <a:cs typeface="Arial MT"/>
              </a:rPr>
              <a:t>than</a:t>
            </a:r>
            <a:r>
              <a:rPr sz="2400" spc="-5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399"/>
                </a:solidFill>
                <a:latin typeface="Arial MT"/>
                <a:cs typeface="Arial MT"/>
              </a:rPr>
              <a:t>or</a:t>
            </a:r>
            <a:r>
              <a:rPr sz="2400" spc="-5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399"/>
                </a:solidFill>
                <a:latin typeface="Arial MT"/>
                <a:cs typeface="Arial MT"/>
              </a:rPr>
              <a:t>same</a:t>
            </a:r>
            <a:r>
              <a:rPr sz="2400" spc="-5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399"/>
                </a:solidFill>
                <a:latin typeface="Arial MT"/>
                <a:cs typeface="Arial MT"/>
              </a:rPr>
              <a:t>rate</a:t>
            </a:r>
            <a:r>
              <a:rPr sz="2400" spc="-5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FF3399"/>
                </a:solidFill>
                <a:latin typeface="Arial MT"/>
                <a:cs typeface="Arial MT"/>
              </a:rPr>
              <a:t>as” </a:t>
            </a:r>
            <a:r>
              <a:rPr sz="2400" spc="-10" dirty="0">
                <a:solidFill>
                  <a:srgbClr val="FF3399"/>
                </a:solidFill>
                <a:latin typeface="Arial MT"/>
                <a:cs typeface="Arial MT"/>
              </a:rPr>
              <a:t>g(n).</a:t>
            </a:r>
            <a:endParaRPr sz="2400">
              <a:latin typeface="Arial MT"/>
              <a:cs typeface="Arial MT"/>
            </a:endParaRPr>
          </a:p>
          <a:p>
            <a:pPr marL="431800" marR="578485" indent="-342900">
              <a:lnSpc>
                <a:spcPts val="2590"/>
              </a:lnSpc>
              <a:spcBef>
                <a:spcPts val="585"/>
              </a:spcBef>
              <a:buChar char="•"/>
              <a:tabLst>
                <a:tab pos="431800" algn="l"/>
              </a:tabLst>
            </a:pPr>
            <a:r>
              <a:rPr sz="2400" dirty="0">
                <a:latin typeface="Arial MT"/>
                <a:cs typeface="Arial MT"/>
              </a:rPr>
              <a:t>When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providing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upper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–bound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function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f,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we </a:t>
            </a:r>
            <a:r>
              <a:rPr sz="2400" dirty="0">
                <a:latin typeface="Arial MT"/>
                <a:cs typeface="Arial MT"/>
              </a:rPr>
              <a:t>normally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single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term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n.</a:t>
            </a:r>
            <a:endParaRPr sz="2400">
              <a:latin typeface="Arial MT"/>
              <a:cs typeface="Arial MT"/>
            </a:endParaRPr>
          </a:p>
          <a:p>
            <a:pPr marL="431165" indent="-342265">
              <a:lnSpc>
                <a:spcPct val="100000"/>
              </a:lnSpc>
              <a:spcBef>
                <a:spcPts val="250"/>
              </a:spcBef>
              <a:buFont typeface="Arial MT"/>
              <a:buChar char="•"/>
              <a:tabLst>
                <a:tab pos="431165" algn="l"/>
              </a:tabLst>
            </a:pPr>
            <a:r>
              <a:rPr sz="2400" b="1" spc="-10" dirty="0">
                <a:latin typeface="Arial"/>
                <a:cs typeface="Arial"/>
              </a:rPr>
              <a:t>Examples</a:t>
            </a:r>
            <a:endParaRPr sz="2400">
              <a:latin typeface="Arial"/>
              <a:cs typeface="Arial"/>
            </a:endParaRPr>
          </a:p>
          <a:p>
            <a:pPr marL="546100">
              <a:lnSpc>
                <a:spcPct val="100000"/>
              </a:lnSpc>
              <a:spcBef>
                <a:spcPts val="290"/>
              </a:spcBef>
            </a:pPr>
            <a:r>
              <a:rPr sz="2400" dirty="0">
                <a:latin typeface="Arial MT"/>
                <a:cs typeface="Arial MT"/>
              </a:rPr>
              <a:t>–</a:t>
            </a:r>
            <a:r>
              <a:rPr sz="2400" spc="229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f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i="1" dirty="0">
                <a:latin typeface="Arial"/>
                <a:cs typeface="Arial"/>
              </a:rPr>
              <a:t>n</a:t>
            </a:r>
            <a:r>
              <a:rPr sz="2400" dirty="0">
                <a:latin typeface="Arial MT"/>
                <a:cs typeface="Arial MT"/>
              </a:rPr>
              <a:t>)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3n+2</a:t>
            </a:r>
            <a:endParaRPr sz="2400">
              <a:latin typeface="Arial MT"/>
              <a:cs typeface="Arial MT"/>
            </a:endParaRPr>
          </a:p>
          <a:p>
            <a:pPr marL="1230630" lvl="1" indent="-227329">
              <a:lnSpc>
                <a:spcPct val="100000"/>
              </a:lnSpc>
              <a:spcBef>
                <a:spcPts val="290"/>
              </a:spcBef>
              <a:buChar char="•"/>
              <a:tabLst>
                <a:tab pos="1230630" algn="l"/>
              </a:tabLst>
            </a:pPr>
            <a:r>
              <a:rPr sz="2400" dirty="0">
                <a:latin typeface="Arial MT"/>
                <a:cs typeface="Arial MT"/>
              </a:rPr>
              <a:t>3n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+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&lt;=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4n,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all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&gt;=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2,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Symbol"/>
                <a:cs typeface="Symbol"/>
              </a:rPr>
              <a:t></a:t>
            </a:r>
            <a:r>
              <a:rPr sz="2400" dirty="0">
                <a:latin typeface="Arial MT"/>
                <a:cs typeface="Arial MT"/>
              </a:rPr>
              <a:t>3n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+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Symbol"/>
                <a:cs typeface="Symbol"/>
              </a:rPr>
              <a:t>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Arial MT"/>
                <a:cs typeface="Arial MT"/>
              </a:rPr>
              <a:t>(</a:t>
            </a:r>
            <a:r>
              <a:rPr sz="2400" i="1" spc="-25" dirty="0">
                <a:latin typeface="Arial"/>
                <a:cs typeface="Arial"/>
              </a:rPr>
              <a:t>n</a:t>
            </a:r>
            <a:r>
              <a:rPr sz="2400" spc="-25" dirty="0">
                <a:latin typeface="Arial MT"/>
                <a:cs typeface="Arial MT"/>
              </a:rPr>
              <a:t>)</a:t>
            </a:r>
            <a:endParaRPr sz="24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120"/>
              </a:spcBef>
              <a:buFont typeface="Arial MT"/>
              <a:buChar char="•"/>
            </a:pPr>
            <a:endParaRPr sz="2400">
              <a:latin typeface="Arial MT"/>
              <a:cs typeface="Arial MT"/>
            </a:endParaRPr>
          </a:p>
          <a:p>
            <a:pPr marL="54610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–</a:t>
            </a:r>
            <a:r>
              <a:rPr sz="2400" spc="229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f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i="1" dirty="0">
                <a:latin typeface="Arial"/>
                <a:cs typeface="Arial"/>
              </a:rPr>
              <a:t>n</a:t>
            </a:r>
            <a:r>
              <a:rPr sz="2400" dirty="0">
                <a:latin typeface="Arial MT"/>
                <a:cs typeface="Arial MT"/>
              </a:rPr>
              <a:t>)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10n</a:t>
            </a:r>
            <a:r>
              <a:rPr sz="2400" spc="-15" baseline="24305" dirty="0">
                <a:latin typeface="Arial MT"/>
                <a:cs typeface="Arial MT"/>
              </a:rPr>
              <a:t>2</a:t>
            </a:r>
            <a:r>
              <a:rPr sz="2400" spc="-10" dirty="0">
                <a:latin typeface="Arial MT"/>
                <a:cs typeface="Arial MT"/>
              </a:rPr>
              <a:t>+4n+2</a:t>
            </a:r>
            <a:endParaRPr sz="2400">
              <a:latin typeface="Arial MT"/>
              <a:cs typeface="Arial MT"/>
            </a:endParaRPr>
          </a:p>
          <a:p>
            <a:pPr marL="1230630" lvl="1" indent="-227329">
              <a:lnSpc>
                <a:spcPts val="2735"/>
              </a:lnSpc>
              <a:spcBef>
                <a:spcPts val="290"/>
              </a:spcBef>
              <a:buChar char="•"/>
              <a:tabLst>
                <a:tab pos="1230630" algn="l"/>
              </a:tabLst>
            </a:pPr>
            <a:r>
              <a:rPr sz="2400" dirty="0">
                <a:latin typeface="Arial MT"/>
                <a:cs typeface="Arial MT"/>
              </a:rPr>
              <a:t>10n</a:t>
            </a:r>
            <a:r>
              <a:rPr sz="2400" baseline="24305" dirty="0">
                <a:latin typeface="Arial MT"/>
                <a:cs typeface="Arial MT"/>
              </a:rPr>
              <a:t>2</a:t>
            </a:r>
            <a:r>
              <a:rPr sz="2400" dirty="0">
                <a:latin typeface="Arial MT"/>
                <a:cs typeface="Arial MT"/>
              </a:rPr>
              <a:t>+4n+2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&lt;=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11n</a:t>
            </a:r>
            <a:r>
              <a:rPr sz="2400" baseline="24305" dirty="0">
                <a:latin typeface="Arial MT"/>
                <a:cs typeface="Arial MT"/>
              </a:rPr>
              <a:t>2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all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&gt;=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5,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Symbol"/>
                <a:cs typeface="Symbol"/>
              </a:rPr>
              <a:t>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 MT"/>
                <a:cs typeface="Arial MT"/>
              </a:rPr>
              <a:t>10n</a:t>
            </a:r>
            <a:r>
              <a:rPr sz="2400" baseline="24305" dirty="0">
                <a:latin typeface="Arial MT"/>
                <a:cs typeface="Arial MT"/>
              </a:rPr>
              <a:t>2</a:t>
            </a:r>
            <a:r>
              <a:rPr sz="2400" dirty="0">
                <a:latin typeface="Arial MT"/>
                <a:cs typeface="Arial MT"/>
              </a:rPr>
              <a:t>+4n+2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=</a:t>
            </a:r>
            <a:endParaRPr sz="2400">
              <a:latin typeface="Arial MT"/>
              <a:cs typeface="Arial MT"/>
            </a:endParaRPr>
          </a:p>
          <a:p>
            <a:pPr marL="1231900">
              <a:lnSpc>
                <a:spcPts val="2735"/>
              </a:lnSpc>
            </a:pPr>
            <a:r>
              <a:rPr sz="2400" dirty="0">
                <a:latin typeface="Symbol"/>
                <a:cs typeface="Symbol"/>
              </a:rPr>
              <a:t>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Arial MT"/>
                <a:cs typeface="Arial MT"/>
              </a:rPr>
              <a:t>(</a:t>
            </a:r>
            <a:r>
              <a:rPr sz="2400" i="1" spc="-20" dirty="0">
                <a:latin typeface="Arial"/>
                <a:cs typeface="Arial"/>
              </a:rPr>
              <a:t>n</a:t>
            </a:r>
            <a:r>
              <a:rPr sz="2400" spc="-30" baseline="24305" dirty="0">
                <a:latin typeface="Arial MT"/>
                <a:cs typeface="Arial MT"/>
              </a:rPr>
              <a:t>2</a:t>
            </a:r>
            <a:r>
              <a:rPr sz="2400" spc="-20" dirty="0">
                <a:latin typeface="Arial MT"/>
                <a:cs typeface="Arial MT"/>
              </a:rPr>
              <a:t>)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Arial MT"/>
              <a:cs typeface="Arial MT"/>
            </a:endParaRPr>
          </a:p>
          <a:p>
            <a:pPr marL="546100">
              <a:lnSpc>
                <a:spcPct val="100000"/>
              </a:lnSpc>
              <a:tabLst>
                <a:tab pos="3746500" algn="l"/>
              </a:tabLst>
            </a:pPr>
            <a:r>
              <a:rPr sz="2400" dirty="0">
                <a:latin typeface="Arial MT"/>
                <a:cs typeface="Arial MT"/>
              </a:rPr>
              <a:t>–</a:t>
            </a:r>
            <a:r>
              <a:rPr sz="2400" spc="2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f(n)=6*2</a:t>
            </a:r>
            <a:r>
              <a:rPr sz="2400" spc="-15" baseline="24305" dirty="0">
                <a:latin typeface="Arial MT"/>
                <a:cs typeface="Arial MT"/>
              </a:rPr>
              <a:t>n</a:t>
            </a:r>
            <a:r>
              <a:rPr sz="2400" spc="-10" dirty="0">
                <a:latin typeface="Arial MT"/>
                <a:cs typeface="Arial MT"/>
              </a:rPr>
              <a:t>+n</a:t>
            </a:r>
            <a:r>
              <a:rPr sz="2400" spc="-15" baseline="24305" dirty="0">
                <a:latin typeface="Arial MT"/>
                <a:cs typeface="Arial MT"/>
              </a:rPr>
              <a:t>2</a:t>
            </a:r>
            <a:r>
              <a:rPr sz="2400" spc="-10" dirty="0">
                <a:latin typeface="Arial MT"/>
                <a:cs typeface="Arial MT"/>
              </a:rPr>
              <a:t>=O(2</a:t>
            </a:r>
            <a:r>
              <a:rPr sz="2400" i="1" spc="-15" baseline="24305" dirty="0">
                <a:latin typeface="Arial"/>
                <a:cs typeface="Arial"/>
              </a:rPr>
              <a:t>n</a:t>
            </a:r>
            <a:r>
              <a:rPr sz="2400" spc="-10" dirty="0">
                <a:latin typeface="Arial MT"/>
                <a:cs typeface="Arial MT"/>
              </a:rPr>
              <a:t>)</a:t>
            </a:r>
            <a:r>
              <a:rPr sz="2400" dirty="0">
                <a:latin typeface="Arial MT"/>
                <a:cs typeface="Arial MT"/>
              </a:rPr>
              <a:t>	/*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6*2</a:t>
            </a:r>
            <a:r>
              <a:rPr sz="2400" baseline="24305" dirty="0">
                <a:latin typeface="Arial MT"/>
                <a:cs typeface="Arial MT"/>
              </a:rPr>
              <a:t>n</a:t>
            </a:r>
            <a:r>
              <a:rPr sz="2400" dirty="0">
                <a:latin typeface="Arial MT"/>
                <a:cs typeface="Arial MT"/>
              </a:rPr>
              <a:t>+n</a:t>
            </a:r>
            <a:r>
              <a:rPr sz="2400" baseline="24305" dirty="0">
                <a:latin typeface="Arial MT"/>
                <a:cs typeface="Arial MT"/>
              </a:rPr>
              <a:t>2</a:t>
            </a:r>
            <a:r>
              <a:rPr sz="2400" spc="-15" baseline="24305" dirty="0">
                <a:latin typeface="Arial MT"/>
                <a:cs typeface="Arial MT"/>
              </a:rPr>
              <a:t> </a:t>
            </a:r>
            <a:r>
              <a:rPr sz="2400" dirty="0">
                <a:latin typeface="Symbol"/>
                <a:cs typeface="Symbol"/>
              </a:rPr>
              <a:t></a:t>
            </a:r>
            <a:r>
              <a:rPr sz="2400" dirty="0">
                <a:latin typeface="Arial MT"/>
                <a:cs typeface="Arial MT"/>
              </a:rPr>
              <a:t>7*2</a:t>
            </a:r>
            <a:r>
              <a:rPr sz="2400" baseline="24305" dirty="0">
                <a:latin typeface="Arial MT"/>
                <a:cs typeface="Arial MT"/>
              </a:rPr>
              <a:t>n</a:t>
            </a:r>
            <a:r>
              <a:rPr sz="2400" spc="292" baseline="243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</a:t>
            </a:r>
            <a:r>
              <a:rPr sz="2400" dirty="0">
                <a:latin typeface="Symbol"/>
                <a:cs typeface="Symbol"/>
              </a:rPr>
              <a:t></a:t>
            </a:r>
            <a:r>
              <a:rPr sz="2400" dirty="0">
                <a:latin typeface="Arial MT"/>
                <a:cs typeface="Arial MT"/>
              </a:rPr>
              <a:t>4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*/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140" y="1589278"/>
            <a:ext cx="8175625" cy="331787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406400" marR="1156335" indent="-342900">
              <a:lnSpc>
                <a:spcPts val="2590"/>
              </a:lnSpc>
              <a:spcBef>
                <a:spcPts val="425"/>
              </a:spcBef>
              <a:buChar char="•"/>
              <a:tabLst>
                <a:tab pos="406400" algn="l"/>
                <a:tab pos="6300470" algn="l"/>
              </a:tabLst>
            </a:pPr>
            <a:r>
              <a:rPr sz="2400" dirty="0">
                <a:latin typeface="Arial MT"/>
                <a:cs typeface="Arial MT"/>
              </a:rPr>
              <a:t>It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also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possible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write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399"/>
                </a:solidFill>
                <a:latin typeface="Arial MT"/>
                <a:cs typeface="Arial MT"/>
              </a:rPr>
              <a:t>10n</a:t>
            </a:r>
            <a:r>
              <a:rPr sz="2400" baseline="24305" dirty="0">
                <a:solidFill>
                  <a:srgbClr val="FF3399"/>
                </a:solidFill>
                <a:latin typeface="Arial MT"/>
                <a:cs typeface="Arial MT"/>
              </a:rPr>
              <a:t>2</a:t>
            </a:r>
            <a:r>
              <a:rPr sz="2400" dirty="0">
                <a:solidFill>
                  <a:srgbClr val="FF3399"/>
                </a:solidFill>
                <a:latin typeface="Arial MT"/>
                <a:cs typeface="Arial MT"/>
              </a:rPr>
              <a:t>+4n+2</a:t>
            </a:r>
            <a:r>
              <a:rPr sz="2400" spc="-4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399"/>
                </a:solidFill>
                <a:latin typeface="Arial MT"/>
                <a:cs typeface="Arial MT"/>
              </a:rPr>
              <a:t>=</a:t>
            </a:r>
            <a:r>
              <a:rPr sz="2400" spc="-6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3399"/>
                </a:solidFill>
                <a:latin typeface="Arial MT"/>
                <a:cs typeface="Arial MT"/>
              </a:rPr>
              <a:t>O(n</a:t>
            </a:r>
            <a:r>
              <a:rPr sz="2400" spc="-15" baseline="24305" dirty="0">
                <a:solidFill>
                  <a:srgbClr val="FF3399"/>
                </a:solidFill>
                <a:latin typeface="Arial MT"/>
                <a:cs typeface="Arial MT"/>
              </a:rPr>
              <a:t>3</a:t>
            </a:r>
            <a:r>
              <a:rPr sz="2400" spc="-10" dirty="0">
                <a:solidFill>
                  <a:srgbClr val="FF3399"/>
                </a:solidFill>
                <a:latin typeface="Arial MT"/>
                <a:cs typeface="Arial MT"/>
              </a:rPr>
              <a:t>)</a:t>
            </a:r>
            <a:r>
              <a:rPr sz="2400" dirty="0">
                <a:solidFill>
                  <a:srgbClr val="FF3399"/>
                </a:solidFill>
                <a:latin typeface="Arial MT"/>
                <a:cs typeface="Arial MT"/>
              </a:rPr>
              <a:t>	</a:t>
            </a:r>
            <a:r>
              <a:rPr sz="2400" spc="-20" dirty="0">
                <a:latin typeface="Arial MT"/>
                <a:cs typeface="Arial MT"/>
              </a:rPr>
              <a:t>since </a:t>
            </a:r>
            <a:r>
              <a:rPr sz="2400" dirty="0">
                <a:latin typeface="Arial MT"/>
                <a:cs typeface="Arial MT"/>
              </a:rPr>
              <a:t>10n</a:t>
            </a:r>
            <a:r>
              <a:rPr sz="2400" baseline="24305" dirty="0">
                <a:latin typeface="Arial MT"/>
                <a:cs typeface="Arial MT"/>
              </a:rPr>
              <a:t>2</a:t>
            </a:r>
            <a:r>
              <a:rPr sz="2400" dirty="0">
                <a:latin typeface="Arial MT"/>
                <a:cs typeface="Arial MT"/>
              </a:rPr>
              <a:t>+4n+2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&lt;=7n</a:t>
            </a:r>
            <a:r>
              <a:rPr sz="2400" baseline="24305" dirty="0">
                <a:latin typeface="Arial MT"/>
                <a:cs typeface="Arial MT"/>
              </a:rPr>
              <a:t>3</a:t>
            </a:r>
            <a:r>
              <a:rPr sz="2400" spc="-15" baseline="243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n&gt;=2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90"/>
              </a:spcBef>
              <a:buFont typeface="Arial MT"/>
              <a:buChar char="•"/>
            </a:pPr>
            <a:endParaRPr sz="2400">
              <a:latin typeface="Arial MT"/>
              <a:cs typeface="Arial MT"/>
            </a:endParaRPr>
          </a:p>
          <a:p>
            <a:pPr marL="406400" marR="68580" indent="-342900">
              <a:lnSpc>
                <a:spcPts val="2590"/>
              </a:lnSpc>
              <a:spcBef>
                <a:spcPts val="5"/>
              </a:spcBef>
              <a:buChar char="•"/>
              <a:tabLst>
                <a:tab pos="406400" algn="l"/>
              </a:tabLst>
            </a:pPr>
            <a:r>
              <a:rPr sz="2400" dirty="0">
                <a:latin typeface="Arial MT"/>
                <a:cs typeface="Arial MT"/>
              </a:rPr>
              <a:t>Although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399"/>
                </a:solidFill>
                <a:latin typeface="Arial MT"/>
                <a:cs typeface="Arial MT"/>
              </a:rPr>
              <a:t>n</a:t>
            </a:r>
            <a:r>
              <a:rPr sz="2400" baseline="24305" dirty="0">
                <a:solidFill>
                  <a:srgbClr val="FF3399"/>
                </a:solidFill>
                <a:latin typeface="Arial MT"/>
                <a:cs typeface="Arial MT"/>
              </a:rPr>
              <a:t>3</a:t>
            </a:r>
            <a:r>
              <a:rPr sz="2400" spc="247" baseline="2430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upper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bound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10n</a:t>
            </a:r>
            <a:r>
              <a:rPr sz="2400" baseline="24305" dirty="0">
                <a:latin typeface="Arial MT"/>
                <a:cs typeface="Arial MT"/>
              </a:rPr>
              <a:t>2</a:t>
            </a:r>
            <a:r>
              <a:rPr sz="2400" dirty="0">
                <a:latin typeface="Arial MT"/>
                <a:cs typeface="Arial MT"/>
              </a:rPr>
              <a:t>+4n+2,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not</a:t>
            </a:r>
            <a:r>
              <a:rPr sz="2400" spc="-50" dirty="0">
                <a:latin typeface="Arial MT"/>
                <a:cs typeface="Arial MT"/>
              </a:rPr>
              <a:t> a </a:t>
            </a:r>
            <a:r>
              <a:rPr sz="2400" dirty="0">
                <a:latin typeface="Arial MT"/>
                <a:cs typeface="Arial MT"/>
              </a:rPr>
              <a:t>tight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upper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bound;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find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smaller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function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dirty="0">
                <a:solidFill>
                  <a:srgbClr val="FF3399"/>
                </a:solidFill>
                <a:latin typeface="Arial MT"/>
                <a:cs typeface="Arial MT"/>
              </a:rPr>
              <a:t>n</a:t>
            </a:r>
            <a:r>
              <a:rPr sz="2400" baseline="24305" dirty="0">
                <a:solidFill>
                  <a:srgbClr val="FF3399"/>
                </a:solidFill>
                <a:latin typeface="Arial MT"/>
                <a:cs typeface="Arial MT"/>
              </a:rPr>
              <a:t>2</a:t>
            </a:r>
            <a:r>
              <a:rPr sz="2400" baseline="24305" dirty="0">
                <a:latin typeface="Arial MT"/>
                <a:cs typeface="Arial MT"/>
              </a:rPr>
              <a:t>)</a:t>
            </a:r>
            <a:r>
              <a:rPr sz="2400" spc="277" baseline="2430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that </a:t>
            </a:r>
            <a:r>
              <a:rPr sz="2400" dirty="0">
                <a:latin typeface="Arial MT"/>
                <a:cs typeface="Arial MT"/>
              </a:rPr>
              <a:t>satisfies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big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oh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relation.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90"/>
              </a:spcBef>
              <a:buFont typeface="Arial MT"/>
              <a:buChar char="•"/>
            </a:pPr>
            <a:endParaRPr sz="2400">
              <a:latin typeface="Arial MT"/>
              <a:cs typeface="Arial MT"/>
            </a:endParaRPr>
          </a:p>
          <a:p>
            <a:pPr marL="406400" marR="143510" indent="-342900">
              <a:lnSpc>
                <a:spcPts val="2590"/>
              </a:lnSpc>
              <a:buChar char="•"/>
              <a:tabLst>
                <a:tab pos="406400" algn="l"/>
              </a:tabLst>
            </a:pPr>
            <a:r>
              <a:rPr sz="2400" dirty="0">
                <a:latin typeface="Arial MT"/>
                <a:cs typeface="Arial MT"/>
              </a:rPr>
              <a:t>But,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not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write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FF3399"/>
                </a:solidFill>
                <a:latin typeface="Arial MT"/>
                <a:cs typeface="Arial MT"/>
              </a:rPr>
              <a:t>10n</a:t>
            </a:r>
            <a:r>
              <a:rPr sz="2400" spc="-30" baseline="24305" dirty="0">
                <a:solidFill>
                  <a:srgbClr val="FF3399"/>
                </a:solidFill>
                <a:latin typeface="Arial MT"/>
                <a:cs typeface="Arial MT"/>
              </a:rPr>
              <a:t>2</a:t>
            </a:r>
            <a:r>
              <a:rPr sz="2400" spc="-20" dirty="0">
                <a:solidFill>
                  <a:srgbClr val="FF3399"/>
                </a:solidFill>
                <a:latin typeface="Arial MT"/>
                <a:cs typeface="Arial MT"/>
              </a:rPr>
              <a:t>+4n+2</a:t>
            </a:r>
            <a:r>
              <a:rPr sz="2400" spc="-19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399"/>
                </a:solidFill>
                <a:latin typeface="Arial MT"/>
                <a:cs typeface="Arial MT"/>
              </a:rPr>
              <a:t>=O(n),</a:t>
            </a:r>
            <a:r>
              <a:rPr sz="2400" spc="-5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since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does</a:t>
            </a:r>
            <a:r>
              <a:rPr sz="2400" spc="-25" dirty="0">
                <a:latin typeface="Arial MT"/>
                <a:cs typeface="Arial MT"/>
              </a:rPr>
              <a:t> not </a:t>
            </a:r>
            <a:r>
              <a:rPr sz="2400" dirty="0">
                <a:latin typeface="Arial MT"/>
                <a:cs typeface="Arial MT"/>
              </a:rPr>
              <a:t>satisfy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big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oh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relation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sufficiently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large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input.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2214" y="556006"/>
            <a:ext cx="5501640" cy="48736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76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67665" algn="l"/>
              </a:tabLst>
            </a:pPr>
            <a:r>
              <a:rPr sz="3200" b="1" i="1" dirty="0">
                <a:latin typeface="Arial"/>
                <a:cs typeface="Arial"/>
              </a:rPr>
              <a:t>Omega</a:t>
            </a:r>
            <a:r>
              <a:rPr sz="3200" b="1" i="1" spc="-45" dirty="0">
                <a:latin typeface="Arial"/>
                <a:cs typeface="Arial"/>
              </a:rPr>
              <a:t> </a:t>
            </a:r>
            <a:r>
              <a:rPr sz="3200" b="1" i="1" dirty="0">
                <a:latin typeface="Arial"/>
                <a:cs typeface="Arial"/>
              </a:rPr>
              <a:t>(</a:t>
            </a:r>
            <a:r>
              <a:rPr sz="3200" dirty="0">
                <a:latin typeface="Symbol"/>
                <a:cs typeface="Symbol"/>
              </a:rPr>
              <a:t></a:t>
            </a:r>
            <a:r>
              <a:rPr sz="3200" b="1" dirty="0">
                <a:latin typeface="Arial"/>
                <a:cs typeface="Arial"/>
              </a:rPr>
              <a:t>)</a:t>
            </a:r>
            <a:r>
              <a:rPr sz="3200" b="1" spc="-40" dirty="0">
                <a:latin typeface="Arial"/>
                <a:cs typeface="Arial"/>
              </a:rPr>
              <a:t> </a:t>
            </a:r>
            <a:r>
              <a:rPr sz="3200" spc="-10" dirty="0">
                <a:latin typeface="Arial MT"/>
                <a:cs typeface="Arial MT"/>
              </a:rPr>
              <a:t>notation:</a:t>
            </a:r>
            <a:endParaRPr sz="3200">
              <a:latin typeface="Arial MT"/>
              <a:cs typeface="Arial MT"/>
            </a:endParaRPr>
          </a:p>
          <a:p>
            <a:pPr marL="768985" marR="35560" lvl="1" indent="-287020">
              <a:lnSpc>
                <a:spcPct val="150000"/>
              </a:lnSpc>
              <a:spcBef>
                <a:spcPts val="785"/>
              </a:spcBef>
              <a:buChar char="–"/>
              <a:tabLst>
                <a:tab pos="768985" algn="l"/>
              </a:tabLst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omega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notation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describes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3399"/>
                </a:solidFill>
                <a:latin typeface="Arial MT"/>
                <a:cs typeface="Arial MT"/>
              </a:rPr>
              <a:t>lower</a:t>
            </a:r>
            <a:r>
              <a:rPr sz="1800" spc="1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3399"/>
                </a:solidFill>
                <a:latin typeface="Arial MT"/>
                <a:cs typeface="Arial MT"/>
              </a:rPr>
              <a:t>bound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3399"/>
                </a:solidFill>
                <a:latin typeface="Arial MT"/>
                <a:cs typeface="Arial MT"/>
              </a:rPr>
              <a:t>asymptotic</a:t>
            </a:r>
            <a:r>
              <a:rPr sz="1800" spc="1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3399"/>
                </a:solidFill>
                <a:latin typeface="Arial MT"/>
                <a:cs typeface="Arial MT"/>
              </a:rPr>
              <a:t>growth</a:t>
            </a:r>
            <a:r>
              <a:rPr sz="1800" spc="1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3399"/>
                </a:solidFill>
                <a:latin typeface="Arial MT"/>
                <a:cs typeface="Arial MT"/>
              </a:rPr>
              <a:t>rate</a:t>
            </a:r>
            <a:r>
              <a:rPr sz="1800" spc="-1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function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FF3399"/>
                </a:solidFill>
                <a:latin typeface="Arial MT"/>
                <a:cs typeface="Arial MT"/>
              </a:rPr>
              <a:t>f</a:t>
            </a:r>
            <a:r>
              <a:rPr sz="1800" spc="-25" dirty="0"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  <a:p>
            <a:pPr marL="151765">
              <a:lnSpc>
                <a:spcPct val="100000"/>
              </a:lnSpc>
              <a:spcBef>
                <a:spcPts val="2014"/>
              </a:spcBef>
            </a:pPr>
            <a:r>
              <a:rPr sz="2800" b="1" dirty="0">
                <a:latin typeface="Arial"/>
                <a:cs typeface="Arial"/>
              </a:rPr>
              <a:t>Definition:</a:t>
            </a:r>
            <a:r>
              <a:rPr sz="2800" b="1" spc="-105" dirty="0">
                <a:latin typeface="Arial"/>
                <a:cs typeface="Arial"/>
              </a:rPr>
              <a:t> </a:t>
            </a:r>
            <a:r>
              <a:rPr sz="2800" spc="-10" dirty="0">
                <a:latin typeface="Arial MT"/>
                <a:cs typeface="Arial MT"/>
              </a:rPr>
              <a:t>[Omega]</a:t>
            </a:r>
            <a:endParaRPr sz="2800">
              <a:latin typeface="Arial MT"/>
              <a:cs typeface="Arial MT"/>
            </a:endParaRPr>
          </a:p>
          <a:p>
            <a:pPr marL="767715" marR="43180" lvl="1" indent="-285750">
              <a:lnSpc>
                <a:spcPct val="100000"/>
              </a:lnSpc>
              <a:spcBef>
                <a:spcPts val="855"/>
              </a:spcBef>
              <a:buFont typeface="Arial MT"/>
              <a:buChar char="–"/>
              <a:tabLst>
                <a:tab pos="768985" algn="l"/>
              </a:tabLst>
            </a:pPr>
            <a:r>
              <a:rPr sz="2800" i="1" dirty="0">
                <a:latin typeface="Arial"/>
                <a:cs typeface="Arial"/>
              </a:rPr>
              <a:t>f</a:t>
            </a:r>
            <a:r>
              <a:rPr sz="2800" dirty="0">
                <a:latin typeface="Arial MT"/>
                <a:cs typeface="Arial MT"/>
              </a:rPr>
              <a:t>(</a:t>
            </a:r>
            <a:r>
              <a:rPr sz="2800" i="1" dirty="0">
                <a:latin typeface="Arial"/>
                <a:cs typeface="Arial"/>
              </a:rPr>
              <a:t>n</a:t>
            </a:r>
            <a:r>
              <a:rPr sz="2800" dirty="0">
                <a:latin typeface="Arial MT"/>
                <a:cs typeface="Arial MT"/>
              </a:rPr>
              <a:t>)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=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Symbol"/>
                <a:cs typeface="Symbol"/>
              </a:rPr>
              <a:t></a:t>
            </a:r>
            <a:r>
              <a:rPr sz="2800" dirty="0">
                <a:latin typeface="Arial MT"/>
                <a:cs typeface="Arial MT"/>
              </a:rPr>
              <a:t>(</a:t>
            </a:r>
            <a:r>
              <a:rPr sz="2800" i="1" dirty="0">
                <a:latin typeface="Arial"/>
                <a:cs typeface="Arial"/>
              </a:rPr>
              <a:t>g</a:t>
            </a:r>
            <a:r>
              <a:rPr sz="2800" dirty="0">
                <a:latin typeface="Arial MT"/>
                <a:cs typeface="Arial MT"/>
              </a:rPr>
              <a:t>(</a:t>
            </a:r>
            <a:r>
              <a:rPr sz="2800" i="1" dirty="0">
                <a:latin typeface="Arial"/>
                <a:cs typeface="Arial"/>
              </a:rPr>
              <a:t>n</a:t>
            </a:r>
            <a:r>
              <a:rPr sz="2800" dirty="0">
                <a:latin typeface="Arial MT"/>
                <a:cs typeface="Arial MT"/>
              </a:rPr>
              <a:t>))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(read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as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“</a:t>
            </a:r>
            <a:r>
              <a:rPr sz="2800" i="1" dirty="0">
                <a:latin typeface="Arial"/>
                <a:cs typeface="Arial"/>
              </a:rPr>
              <a:t>f</a:t>
            </a:r>
            <a:r>
              <a:rPr sz="2800" i="1" spc="-30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i="1" spc="-50" dirty="0">
                <a:latin typeface="Arial"/>
                <a:cs typeface="Arial"/>
              </a:rPr>
              <a:t>n 	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omega of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i="1" dirty="0">
                <a:latin typeface="Arial"/>
                <a:cs typeface="Arial"/>
              </a:rPr>
              <a:t>g</a:t>
            </a:r>
            <a:r>
              <a:rPr sz="2800" i="1" spc="-25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i="1" dirty="0">
                <a:latin typeface="Arial"/>
                <a:cs typeface="Arial"/>
              </a:rPr>
              <a:t>n</a:t>
            </a:r>
            <a:r>
              <a:rPr sz="2800" dirty="0">
                <a:latin typeface="Arial MT"/>
                <a:cs typeface="Arial MT"/>
              </a:rPr>
              <a:t>”)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iff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there 	</a:t>
            </a:r>
            <a:r>
              <a:rPr sz="2800" dirty="0">
                <a:latin typeface="Arial MT"/>
                <a:cs typeface="Arial MT"/>
              </a:rPr>
              <a:t>exist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positive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constants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i="1" dirty="0">
                <a:latin typeface="Arial"/>
                <a:cs typeface="Arial"/>
              </a:rPr>
              <a:t>c</a:t>
            </a:r>
            <a:r>
              <a:rPr sz="2800" i="1" spc="-70" dirty="0">
                <a:latin typeface="Arial"/>
                <a:cs typeface="Arial"/>
              </a:rPr>
              <a:t> </a:t>
            </a:r>
            <a:r>
              <a:rPr sz="2800" spc="-25" dirty="0">
                <a:latin typeface="Arial MT"/>
                <a:cs typeface="Arial MT"/>
              </a:rPr>
              <a:t>and 	</a:t>
            </a:r>
            <a:r>
              <a:rPr sz="2800" i="1" dirty="0">
                <a:latin typeface="Arial"/>
                <a:cs typeface="Arial"/>
              </a:rPr>
              <a:t>n</a:t>
            </a:r>
            <a:r>
              <a:rPr sz="2775" i="1" baseline="-21021" dirty="0">
                <a:latin typeface="Arial"/>
                <a:cs typeface="Arial"/>
              </a:rPr>
              <a:t>0</a:t>
            </a:r>
            <a:r>
              <a:rPr sz="2775" i="1" spc="322" baseline="-21021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such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that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i="1" dirty="0">
                <a:latin typeface="Arial"/>
                <a:cs typeface="Arial"/>
              </a:rPr>
              <a:t>f</a:t>
            </a:r>
            <a:r>
              <a:rPr sz="2800" dirty="0">
                <a:latin typeface="Arial MT"/>
                <a:cs typeface="Arial MT"/>
              </a:rPr>
              <a:t>(</a:t>
            </a:r>
            <a:r>
              <a:rPr sz="2800" i="1" dirty="0">
                <a:latin typeface="Arial"/>
                <a:cs typeface="Arial"/>
              </a:rPr>
              <a:t>n</a:t>
            </a:r>
            <a:r>
              <a:rPr sz="2800" dirty="0">
                <a:latin typeface="Arial MT"/>
                <a:cs typeface="Arial MT"/>
              </a:rPr>
              <a:t>)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Symbol"/>
                <a:cs typeface="Symbol"/>
              </a:rPr>
              <a:t></a:t>
            </a:r>
            <a:r>
              <a:rPr sz="2800" spc="4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Arial"/>
                <a:cs typeface="Arial"/>
              </a:rPr>
              <a:t>cg</a:t>
            </a:r>
            <a:r>
              <a:rPr sz="2800" dirty="0">
                <a:latin typeface="Arial MT"/>
                <a:cs typeface="Arial MT"/>
              </a:rPr>
              <a:t>(</a:t>
            </a:r>
            <a:r>
              <a:rPr sz="2800" i="1" dirty="0">
                <a:latin typeface="Arial"/>
                <a:cs typeface="Arial"/>
              </a:rPr>
              <a:t>n</a:t>
            </a:r>
            <a:r>
              <a:rPr sz="2800" dirty="0">
                <a:latin typeface="Arial MT"/>
                <a:cs typeface="Arial MT"/>
              </a:rPr>
              <a:t>)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all 	</a:t>
            </a:r>
            <a:r>
              <a:rPr sz="2800" i="1" spc="-25" dirty="0">
                <a:latin typeface="Arial"/>
                <a:cs typeface="Arial"/>
              </a:rPr>
              <a:t>n</a:t>
            </a:r>
            <a:r>
              <a:rPr sz="2800" spc="-25" dirty="0">
                <a:latin typeface="Arial MT"/>
                <a:cs typeface="Arial MT"/>
              </a:rPr>
              <a:t>,</a:t>
            </a:r>
            <a:endParaRPr sz="2800">
              <a:latin typeface="Arial MT"/>
              <a:cs typeface="Arial MT"/>
            </a:endParaRPr>
          </a:p>
          <a:p>
            <a:pPr marL="778510">
              <a:lnSpc>
                <a:spcPct val="100000"/>
              </a:lnSpc>
              <a:spcBef>
                <a:spcPts val="670"/>
              </a:spcBef>
            </a:pPr>
            <a:r>
              <a:rPr sz="2800" i="1" dirty="0">
                <a:latin typeface="Arial"/>
                <a:cs typeface="Arial"/>
              </a:rPr>
              <a:t>n</a:t>
            </a:r>
            <a:r>
              <a:rPr sz="2800" i="1" spc="-15" dirty="0">
                <a:latin typeface="Arial"/>
                <a:cs typeface="Arial"/>
              </a:rPr>
              <a:t> </a:t>
            </a:r>
            <a:r>
              <a:rPr sz="2800" dirty="0">
                <a:latin typeface="Symbol"/>
                <a:cs typeface="Symbol"/>
              </a:rPr>
              <a:t></a:t>
            </a:r>
            <a:r>
              <a:rPr sz="2800" spc="50" dirty="0">
                <a:latin typeface="Times New Roman"/>
                <a:cs typeface="Times New Roman"/>
              </a:rPr>
              <a:t> </a:t>
            </a:r>
            <a:r>
              <a:rPr sz="2800" i="1" spc="-25" dirty="0">
                <a:latin typeface="Arial"/>
                <a:cs typeface="Arial"/>
              </a:rPr>
              <a:t>n</a:t>
            </a:r>
            <a:r>
              <a:rPr sz="2775" i="1" spc="-37" baseline="-21021" dirty="0">
                <a:latin typeface="Arial"/>
                <a:cs typeface="Arial"/>
              </a:rPr>
              <a:t>0</a:t>
            </a:r>
            <a:r>
              <a:rPr sz="2800" spc="-25" dirty="0">
                <a:latin typeface="Arial MT"/>
                <a:cs typeface="Arial MT"/>
              </a:rPr>
              <a:t>.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11011" y="1097280"/>
            <a:ext cx="3148584" cy="332232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1940" y="498094"/>
            <a:ext cx="8143240" cy="546481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457200" marR="645160" indent="-342900">
              <a:lnSpc>
                <a:spcPct val="80000"/>
              </a:lnSpc>
              <a:spcBef>
                <a:spcPts val="585"/>
              </a:spcBef>
              <a:buChar char="•"/>
              <a:tabLst>
                <a:tab pos="457200" algn="l"/>
              </a:tabLst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definition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states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function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f(n)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least</a:t>
            </a:r>
            <a:r>
              <a:rPr sz="2000" spc="-3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times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the </a:t>
            </a:r>
            <a:r>
              <a:rPr sz="2000" dirty="0">
                <a:latin typeface="Arial MT"/>
                <a:cs typeface="Arial MT"/>
              </a:rPr>
              <a:t>function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g(n)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except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when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smaller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n</a:t>
            </a:r>
            <a:r>
              <a:rPr sz="1950" spc="-37" baseline="-21367" dirty="0">
                <a:latin typeface="Arial MT"/>
                <a:cs typeface="Arial MT"/>
              </a:rPr>
              <a:t>0</a:t>
            </a:r>
            <a:r>
              <a:rPr sz="2000" spc="-25" dirty="0">
                <a:latin typeface="Arial MT"/>
                <a:cs typeface="Arial MT"/>
              </a:rPr>
              <a:t>.</a:t>
            </a:r>
            <a:endParaRPr sz="2000">
              <a:latin typeface="Arial MT"/>
              <a:cs typeface="Arial MT"/>
            </a:endParaRPr>
          </a:p>
          <a:p>
            <a:pPr marL="456565" indent="-342265">
              <a:lnSpc>
                <a:spcPts val="2390"/>
              </a:lnSpc>
              <a:buFont typeface="Arial MT"/>
              <a:buChar char="•"/>
              <a:tabLst>
                <a:tab pos="456565" algn="l"/>
              </a:tabLst>
            </a:pPr>
            <a:r>
              <a:rPr sz="2000" i="1" dirty="0">
                <a:latin typeface="Arial"/>
                <a:cs typeface="Arial"/>
              </a:rPr>
              <a:t>In</a:t>
            </a:r>
            <a:r>
              <a:rPr sz="2000" i="1" spc="-3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other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words,</a:t>
            </a:r>
            <a:r>
              <a:rPr sz="2000" i="1" dirty="0">
                <a:solidFill>
                  <a:srgbClr val="FF3399"/>
                </a:solidFill>
                <a:latin typeface="Arial"/>
                <a:cs typeface="Arial"/>
              </a:rPr>
              <a:t>f(n)</a:t>
            </a:r>
            <a:r>
              <a:rPr sz="2000" i="1" spc="-60" dirty="0">
                <a:solidFill>
                  <a:srgbClr val="FF339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grows</a:t>
            </a:r>
            <a:r>
              <a:rPr sz="2000" spc="-4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faster</a:t>
            </a:r>
            <a:r>
              <a:rPr sz="2000" spc="-3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than</a:t>
            </a:r>
            <a:r>
              <a:rPr sz="2000" spc="-2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or</a:t>
            </a:r>
            <a:r>
              <a:rPr sz="2000" spc="-3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same</a:t>
            </a:r>
            <a:r>
              <a:rPr sz="2000" spc="-2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rate</a:t>
            </a:r>
            <a:r>
              <a:rPr sz="2000" spc="-4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as”</a:t>
            </a:r>
            <a:r>
              <a:rPr sz="2000" spc="-3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FF3399"/>
                </a:solidFill>
                <a:latin typeface="Arial MT"/>
                <a:cs typeface="Arial MT"/>
              </a:rPr>
              <a:t>g(n).</a:t>
            </a:r>
            <a:endParaRPr sz="2000">
              <a:latin typeface="Arial MT"/>
              <a:cs typeface="Arial MT"/>
            </a:endParaRPr>
          </a:p>
          <a:p>
            <a:pPr marL="456565" indent="-342265">
              <a:lnSpc>
                <a:spcPts val="3350"/>
              </a:lnSpc>
              <a:buFont typeface="Arial MT"/>
              <a:buChar char="•"/>
              <a:tabLst>
                <a:tab pos="456565" algn="l"/>
              </a:tabLst>
            </a:pPr>
            <a:r>
              <a:rPr sz="2800" b="1" spc="-10" dirty="0">
                <a:latin typeface="Arial"/>
                <a:cs typeface="Arial"/>
              </a:rPr>
              <a:t>Examples</a:t>
            </a:r>
            <a:endParaRPr sz="2800">
              <a:latin typeface="Arial"/>
              <a:cs typeface="Arial"/>
            </a:endParaRPr>
          </a:p>
          <a:p>
            <a:pPr marL="571500">
              <a:lnSpc>
                <a:spcPct val="100000"/>
              </a:lnSpc>
              <a:spcBef>
                <a:spcPts val="25"/>
              </a:spcBef>
              <a:tabLst>
                <a:tab pos="857885" algn="l"/>
              </a:tabLst>
            </a:pPr>
            <a:r>
              <a:rPr sz="1800" spc="-50" dirty="0">
                <a:latin typeface="Arial MT"/>
                <a:cs typeface="Arial MT"/>
              </a:rPr>
              <a:t>–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i="1" dirty="0">
                <a:latin typeface="Arial"/>
                <a:cs typeface="Arial"/>
              </a:rPr>
              <a:t>f</a:t>
            </a:r>
            <a:r>
              <a:rPr sz="1800" dirty="0">
                <a:latin typeface="Arial MT"/>
                <a:cs typeface="Arial MT"/>
              </a:rPr>
              <a:t>(</a:t>
            </a:r>
            <a:r>
              <a:rPr sz="1800" i="1" dirty="0">
                <a:latin typeface="Arial"/>
                <a:cs typeface="Arial"/>
              </a:rPr>
              <a:t>n</a:t>
            </a:r>
            <a:r>
              <a:rPr sz="1800" dirty="0">
                <a:latin typeface="Arial MT"/>
                <a:cs typeface="Arial MT"/>
              </a:rPr>
              <a:t>)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3n+2</a:t>
            </a:r>
            <a:endParaRPr sz="1800">
              <a:latin typeface="Arial MT"/>
              <a:cs typeface="Arial MT"/>
            </a:endParaRPr>
          </a:p>
          <a:p>
            <a:pPr marL="1257300" lvl="1" indent="-228600">
              <a:lnSpc>
                <a:spcPct val="100000"/>
              </a:lnSpc>
              <a:spcBef>
                <a:spcPts val="5"/>
              </a:spcBef>
              <a:buChar char="•"/>
              <a:tabLst>
                <a:tab pos="1257300" algn="l"/>
              </a:tabLst>
            </a:pPr>
            <a:r>
              <a:rPr sz="1800" dirty="0">
                <a:latin typeface="Arial MT"/>
                <a:cs typeface="Arial MT"/>
              </a:rPr>
              <a:t>3n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+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2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&gt;=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3n, for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all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&gt;=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1,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Symbol"/>
                <a:cs typeface="Symbol"/>
              </a:rPr>
              <a:t></a:t>
            </a:r>
            <a:r>
              <a:rPr sz="1800" dirty="0">
                <a:latin typeface="Arial MT"/>
                <a:cs typeface="Arial MT"/>
              </a:rPr>
              <a:t>3n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+ 2 =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Symbol"/>
                <a:cs typeface="Symbol"/>
              </a:rPr>
              <a:t>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Arial MT"/>
                <a:cs typeface="Arial MT"/>
              </a:rPr>
              <a:t>(</a:t>
            </a:r>
            <a:r>
              <a:rPr sz="1800" i="1" spc="-25" dirty="0">
                <a:latin typeface="Arial"/>
                <a:cs typeface="Arial"/>
              </a:rPr>
              <a:t>n</a:t>
            </a:r>
            <a:r>
              <a:rPr sz="1800" spc="-25" dirty="0">
                <a:latin typeface="Arial MT"/>
                <a:cs typeface="Arial MT"/>
              </a:rPr>
              <a:t>)</a:t>
            </a:r>
            <a:endParaRPr sz="1800">
              <a:latin typeface="Arial MT"/>
              <a:cs typeface="Arial MT"/>
            </a:endParaRPr>
          </a:p>
          <a:p>
            <a:pPr marL="571500">
              <a:lnSpc>
                <a:spcPct val="100000"/>
              </a:lnSpc>
              <a:spcBef>
                <a:spcPts val="1725"/>
              </a:spcBef>
              <a:tabLst>
                <a:tab pos="857885" algn="l"/>
              </a:tabLst>
            </a:pPr>
            <a:r>
              <a:rPr sz="1800" spc="-50" dirty="0">
                <a:latin typeface="Arial MT"/>
                <a:cs typeface="Arial MT"/>
              </a:rPr>
              <a:t>–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i="1" dirty="0">
                <a:latin typeface="Arial"/>
                <a:cs typeface="Arial"/>
              </a:rPr>
              <a:t>f</a:t>
            </a:r>
            <a:r>
              <a:rPr sz="1800" dirty="0">
                <a:latin typeface="Arial MT"/>
                <a:cs typeface="Arial MT"/>
              </a:rPr>
              <a:t>(</a:t>
            </a:r>
            <a:r>
              <a:rPr sz="1800" i="1" dirty="0">
                <a:latin typeface="Arial"/>
                <a:cs typeface="Arial"/>
              </a:rPr>
              <a:t>n</a:t>
            </a:r>
            <a:r>
              <a:rPr sz="1800" dirty="0">
                <a:latin typeface="Arial MT"/>
                <a:cs typeface="Arial MT"/>
              </a:rPr>
              <a:t>)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10n</a:t>
            </a:r>
            <a:r>
              <a:rPr sz="1800" spc="-15" baseline="25462" dirty="0">
                <a:latin typeface="Arial MT"/>
                <a:cs typeface="Arial MT"/>
              </a:rPr>
              <a:t>2</a:t>
            </a:r>
            <a:r>
              <a:rPr sz="1800" spc="-10" dirty="0">
                <a:latin typeface="Arial MT"/>
                <a:cs typeface="Arial MT"/>
              </a:rPr>
              <a:t>+4n+2</a:t>
            </a:r>
            <a:endParaRPr sz="1800">
              <a:latin typeface="Arial MT"/>
              <a:cs typeface="Arial MT"/>
            </a:endParaRPr>
          </a:p>
          <a:p>
            <a:pPr marL="1257300" lvl="1" indent="-228600">
              <a:lnSpc>
                <a:spcPct val="100000"/>
              </a:lnSpc>
              <a:buChar char="•"/>
              <a:tabLst>
                <a:tab pos="1257300" algn="l"/>
              </a:tabLst>
            </a:pPr>
            <a:r>
              <a:rPr sz="1800" dirty="0">
                <a:latin typeface="Arial MT"/>
                <a:cs typeface="Arial MT"/>
              </a:rPr>
              <a:t>10n</a:t>
            </a:r>
            <a:r>
              <a:rPr sz="1800" baseline="25462" dirty="0">
                <a:latin typeface="Arial MT"/>
                <a:cs typeface="Arial MT"/>
              </a:rPr>
              <a:t>2</a:t>
            </a:r>
            <a:r>
              <a:rPr sz="1800" dirty="0">
                <a:latin typeface="Arial MT"/>
                <a:cs typeface="Arial MT"/>
              </a:rPr>
              <a:t>+4n+2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&gt;=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</a:t>
            </a:r>
            <a:r>
              <a:rPr sz="1800" baseline="25462" dirty="0">
                <a:latin typeface="Arial MT"/>
                <a:cs typeface="Arial MT"/>
              </a:rPr>
              <a:t>2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all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&gt;=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1,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Symbol"/>
                <a:cs typeface="Symbol"/>
              </a:rPr>
              <a:t>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 MT"/>
                <a:cs typeface="Arial MT"/>
              </a:rPr>
              <a:t>10n</a:t>
            </a:r>
            <a:r>
              <a:rPr sz="1800" baseline="25462" dirty="0">
                <a:latin typeface="Arial MT"/>
                <a:cs typeface="Arial MT"/>
              </a:rPr>
              <a:t>2</a:t>
            </a:r>
            <a:r>
              <a:rPr sz="1800" dirty="0">
                <a:latin typeface="Arial MT"/>
                <a:cs typeface="Arial MT"/>
              </a:rPr>
              <a:t>+4n+2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480" dirty="0">
                <a:latin typeface="Arial MT"/>
                <a:cs typeface="Arial MT"/>
              </a:rPr>
              <a:t> </a:t>
            </a:r>
            <a:r>
              <a:rPr sz="1800" dirty="0">
                <a:latin typeface="Symbol"/>
                <a:cs typeface="Symbol"/>
              </a:rPr>
              <a:t>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Arial MT"/>
                <a:cs typeface="Arial MT"/>
              </a:rPr>
              <a:t>(</a:t>
            </a:r>
            <a:r>
              <a:rPr sz="1800" i="1" spc="-20" dirty="0">
                <a:latin typeface="Arial"/>
                <a:cs typeface="Arial"/>
              </a:rPr>
              <a:t>n</a:t>
            </a:r>
            <a:r>
              <a:rPr sz="1800" spc="-30" baseline="25462" dirty="0">
                <a:latin typeface="Arial MT"/>
                <a:cs typeface="Arial MT"/>
              </a:rPr>
              <a:t>2</a:t>
            </a:r>
            <a:r>
              <a:rPr sz="1800" spc="-20" dirty="0">
                <a:latin typeface="Arial MT"/>
                <a:cs typeface="Arial MT"/>
              </a:rPr>
              <a:t>)</a:t>
            </a:r>
            <a:endParaRPr sz="18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250"/>
              </a:spcBef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marL="457200" marR="81280" indent="-342900">
              <a:lnSpc>
                <a:spcPct val="79900"/>
              </a:lnSpc>
              <a:buChar char="•"/>
              <a:tabLst>
                <a:tab pos="457200" algn="l"/>
                <a:tab pos="5300980" algn="l"/>
              </a:tabLst>
            </a:pPr>
            <a:r>
              <a:rPr sz="2000" dirty="0">
                <a:latin typeface="Arial MT"/>
                <a:cs typeface="Arial MT"/>
              </a:rPr>
              <a:t>It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also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possible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write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10n</a:t>
            </a:r>
            <a:r>
              <a:rPr sz="1950" baseline="25641" dirty="0">
                <a:solidFill>
                  <a:srgbClr val="FF3399"/>
                </a:solidFill>
                <a:latin typeface="Arial MT"/>
                <a:cs typeface="Arial MT"/>
              </a:rPr>
              <a:t>2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+4n+2</a:t>
            </a:r>
            <a:r>
              <a:rPr sz="2000" spc="-5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=</a:t>
            </a:r>
            <a:r>
              <a:rPr sz="2000" spc="-3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latin typeface="Symbol"/>
                <a:cs typeface="Symbol"/>
              </a:rPr>
              <a:t></a:t>
            </a:r>
            <a:r>
              <a:rPr sz="2000" spc="-20" dirty="0">
                <a:solidFill>
                  <a:srgbClr val="FF3399"/>
                </a:solidFill>
                <a:latin typeface="Arial MT"/>
                <a:cs typeface="Arial MT"/>
              </a:rPr>
              <a:t>(n)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	</a:t>
            </a:r>
            <a:r>
              <a:rPr sz="2000" dirty="0">
                <a:latin typeface="Arial MT"/>
                <a:cs typeface="Arial MT"/>
              </a:rPr>
              <a:t>since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10n</a:t>
            </a:r>
            <a:r>
              <a:rPr sz="1950" baseline="25641" dirty="0">
                <a:latin typeface="Arial MT"/>
                <a:cs typeface="Arial MT"/>
              </a:rPr>
              <a:t>2</a:t>
            </a:r>
            <a:r>
              <a:rPr sz="2000" dirty="0">
                <a:latin typeface="Arial MT"/>
                <a:cs typeface="Arial MT"/>
              </a:rPr>
              <a:t>+4n+2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&gt;=n</a:t>
            </a:r>
            <a:r>
              <a:rPr sz="2000" spc="-21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for </a:t>
            </a:r>
            <a:r>
              <a:rPr sz="2000" spc="-20" dirty="0">
                <a:latin typeface="Arial MT"/>
                <a:cs typeface="Arial MT"/>
              </a:rPr>
              <a:t>n&gt;=0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80"/>
              </a:spcBef>
              <a:buFont typeface="Arial MT"/>
              <a:buChar char="•"/>
            </a:pPr>
            <a:endParaRPr sz="2000">
              <a:latin typeface="Arial MT"/>
              <a:cs typeface="Arial MT"/>
            </a:endParaRPr>
          </a:p>
          <a:p>
            <a:pPr marL="457200" marR="488315" indent="-342900">
              <a:lnSpc>
                <a:spcPct val="80000"/>
              </a:lnSpc>
              <a:buChar char="•"/>
              <a:tabLst>
                <a:tab pos="457200" algn="l"/>
              </a:tabLst>
            </a:pPr>
            <a:r>
              <a:rPr sz="2000" dirty="0">
                <a:latin typeface="Arial MT"/>
                <a:cs typeface="Arial MT"/>
              </a:rPr>
              <a:t>Although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n</a:t>
            </a:r>
            <a:r>
              <a:rPr sz="2000" spc="-1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lower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bound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10n</a:t>
            </a:r>
            <a:r>
              <a:rPr sz="1950" baseline="25641" dirty="0">
                <a:solidFill>
                  <a:srgbClr val="FF3399"/>
                </a:solidFill>
                <a:latin typeface="Arial MT"/>
                <a:cs typeface="Arial MT"/>
              </a:rPr>
              <a:t>2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+4n+2</a:t>
            </a:r>
            <a:r>
              <a:rPr sz="2000" dirty="0">
                <a:latin typeface="Arial MT"/>
                <a:cs typeface="Arial MT"/>
              </a:rPr>
              <a:t>,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not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tight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lower </a:t>
            </a:r>
            <a:r>
              <a:rPr sz="2000" dirty="0">
                <a:latin typeface="Arial MT"/>
                <a:cs typeface="Arial MT"/>
              </a:rPr>
              <a:t>bound;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we can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find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larger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function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n</a:t>
            </a:r>
            <a:r>
              <a:rPr sz="1950" baseline="25641" dirty="0">
                <a:solidFill>
                  <a:srgbClr val="FF3399"/>
                </a:solidFill>
                <a:latin typeface="Arial MT"/>
                <a:cs typeface="Arial MT"/>
              </a:rPr>
              <a:t>2</a:t>
            </a:r>
            <a:r>
              <a:rPr sz="1950" baseline="25641" dirty="0">
                <a:latin typeface="Arial MT"/>
                <a:cs typeface="Arial MT"/>
              </a:rPr>
              <a:t>)</a:t>
            </a:r>
            <a:r>
              <a:rPr sz="1950" spc="254" baseline="25641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satisfies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omega relation.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05"/>
              </a:spcBef>
              <a:buFont typeface="Arial MT"/>
              <a:buChar char="•"/>
            </a:pPr>
            <a:endParaRPr sz="2000">
              <a:latin typeface="Arial MT"/>
              <a:cs typeface="Arial MT"/>
            </a:endParaRPr>
          </a:p>
          <a:p>
            <a:pPr marL="457200" marR="349250" indent="-342900">
              <a:lnSpc>
                <a:spcPct val="79800"/>
              </a:lnSpc>
              <a:buChar char="•"/>
              <a:tabLst>
                <a:tab pos="457200" algn="l"/>
              </a:tabLst>
            </a:pPr>
            <a:r>
              <a:rPr sz="2000" dirty="0">
                <a:latin typeface="Arial MT"/>
                <a:cs typeface="Arial MT"/>
              </a:rPr>
              <a:t>But,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not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write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FF3399"/>
                </a:solidFill>
                <a:latin typeface="Arial MT"/>
                <a:cs typeface="Arial MT"/>
              </a:rPr>
              <a:t>10n</a:t>
            </a:r>
            <a:r>
              <a:rPr sz="1950" spc="-15" baseline="25641" dirty="0">
                <a:solidFill>
                  <a:srgbClr val="FF3399"/>
                </a:solidFill>
                <a:latin typeface="Arial MT"/>
                <a:cs typeface="Arial MT"/>
              </a:rPr>
              <a:t>2</a:t>
            </a:r>
            <a:r>
              <a:rPr sz="2000" spc="-10" dirty="0">
                <a:solidFill>
                  <a:srgbClr val="FF3399"/>
                </a:solidFill>
                <a:latin typeface="Arial MT"/>
                <a:cs typeface="Arial MT"/>
              </a:rPr>
              <a:t>+4n+2</a:t>
            </a:r>
            <a:r>
              <a:rPr sz="2000" spc="-22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=</a:t>
            </a:r>
            <a:r>
              <a:rPr sz="2000" spc="-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Symbol"/>
                <a:cs typeface="Symbol"/>
              </a:rPr>
              <a:t>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(n</a:t>
            </a:r>
            <a:r>
              <a:rPr sz="1950" baseline="25641" dirty="0">
                <a:solidFill>
                  <a:srgbClr val="FF3399"/>
                </a:solidFill>
                <a:latin typeface="Arial MT"/>
                <a:cs typeface="Arial MT"/>
              </a:rPr>
              <a:t>3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),</a:t>
            </a:r>
            <a:r>
              <a:rPr sz="2000" spc="-6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since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does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not</a:t>
            </a:r>
            <a:r>
              <a:rPr sz="2000" spc="-10" dirty="0">
                <a:latin typeface="Arial MT"/>
                <a:cs typeface="Arial MT"/>
              </a:rPr>
              <a:t> satisfy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omega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relation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sufficiently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large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input.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8440" y="1774901"/>
            <a:ext cx="4658360" cy="35667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76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67665" algn="l"/>
              </a:tabLst>
            </a:pPr>
            <a:r>
              <a:rPr sz="3200" b="1" i="1" dirty="0">
                <a:latin typeface="Arial"/>
                <a:cs typeface="Arial"/>
              </a:rPr>
              <a:t>Theta</a:t>
            </a:r>
            <a:r>
              <a:rPr sz="3200" b="1" i="1" spc="-50" dirty="0">
                <a:latin typeface="Arial"/>
                <a:cs typeface="Arial"/>
              </a:rPr>
              <a:t> </a:t>
            </a:r>
            <a:r>
              <a:rPr sz="3200" b="1" i="1" dirty="0">
                <a:latin typeface="Arial"/>
                <a:cs typeface="Arial"/>
              </a:rPr>
              <a:t>(</a:t>
            </a:r>
            <a:r>
              <a:rPr sz="3200" dirty="0">
                <a:latin typeface="Symbol"/>
                <a:cs typeface="Symbol"/>
              </a:rPr>
              <a:t></a:t>
            </a:r>
            <a:r>
              <a:rPr sz="3200" b="1" dirty="0">
                <a:latin typeface="Arial"/>
                <a:cs typeface="Arial"/>
              </a:rPr>
              <a:t>)</a:t>
            </a:r>
            <a:r>
              <a:rPr sz="3200" b="1" spc="-30" dirty="0">
                <a:latin typeface="Arial"/>
                <a:cs typeface="Arial"/>
              </a:rPr>
              <a:t> </a:t>
            </a:r>
            <a:r>
              <a:rPr sz="3200" spc="-10" dirty="0">
                <a:latin typeface="Arial MT"/>
                <a:cs typeface="Arial MT"/>
              </a:rPr>
              <a:t>notation:</a:t>
            </a:r>
            <a:endParaRPr sz="3200">
              <a:latin typeface="Arial MT"/>
              <a:cs typeface="Arial MT"/>
            </a:endParaRPr>
          </a:p>
          <a:p>
            <a:pPr marL="768985" marR="17780" lvl="1" indent="-287020">
              <a:lnSpc>
                <a:spcPct val="150000"/>
              </a:lnSpc>
              <a:spcBef>
                <a:spcPts val="785"/>
              </a:spcBef>
              <a:buChar char="–"/>
              <a:tabLst>
                <a:tab pos="768985" algn="l"/>
              </a:tabLst>
            </a:pP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Theta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notation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describes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3399"/>
                </a:solidFill>
                <a:latin typeface="Arial MT"/>
                <a:cs typeface="Arial MT"/>
              </a:rPr>
              <a:t>tight</a:t>
            </a:r>
            <a:r>
              <a:rPr sz="1600" spc="-3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F3399"/>
                </a:solidFill>
                <a:latin typeface="Arial MT"/>
                <a:cs typeface="Arial MT"/>
              </a:rPr>
              <a:t>bound </a:t>
            </a:r>
            <a:r>
              <a:rPr sz="1600" dirty="0">
                <a:latin typeface="Arial MT"/>
                <a:cs typeface="Arial MT"/>
              </a:rPr>
              <a:t>on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3399"/>
                </a:solidFill>
                <a:latin typeface="Arial MT"/>
                <a:cs typeface="Arial MT"/>
              </a:rPr>
              <a:t>asymptotic</a:t>
            </a:r>
            <a:r>
              <a:rPr sz="1600" spc="-2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3399"/>
                </a:solidFill>
                <a:latin typeface="Arial MT"/>
                <a:cs typeface="Arial MT"/>
              </a:rPr>
              <a:t>growth</a:t>
            </a:r>
            <a:r>
              <a:rPr sz="1600" spc="-1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3399"/>
                </a:solidFill>
                <a:latin typeface="Arial MT"/>
                <a:cs typeface="Arial MT"/>
              </a:rPr>
              <a:t>rate</a:t>
            </a:r>
            <a:r>
              <a:rPr sz="1600" spc="-1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the </a:t>
            </a:r>
            <a:r>
              <a:rPr sz="1600" dirty="0">
                <a:latin typeface="Arial MT"/>
                <a:cs typeface="Arial MT"/>
              </a:rPr>
              <a:t>function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FF3399"/>
                </a:solidFill>
                <a:latin typeface="Arial MT"/>
                <a:cs typeface="Arial MT"/>
              </a:rPr>
              <a:t>f</a:t>
            </a:r>
            <a:r>
              <a:rPr sz="1600" spc="-25" dirty="0">
                <a:latin typeface="Arial MT"/>
                <a:cs typeface="Arial MT"/>
              </a:rPr>
              <a:t>.</a:t>
            </a:r>
            <a:endParaRPr sz="16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130"/>
              </a:spcBef>
              <a:buFont typeface="Arial MT"/>
              <a:buChar char="–"/>
            </a:pPr>
            <a:endParaRPr sz="1600">
              <a:latin typeface="Arial MT"/>
              <a:cs typeface="Arial MT"/>
            </a:endParaRPr>
          </a:p>
          <a:p>
            <a:pPr marL="151765">
              <a:lnSpc>
                <a:spcPct val="100000"/>
              </a:lnSpc>
            </a:pPr>
            <a:r>
              <a:rPr sz="2800" b="1" dirty="0">
                <a:latin typeface="Arial"/>
                <a:cs typeface="Arial"/>
              </a:rPr>
              <a:t>Definition:</a:t>
            </a:r>
            <a:r>
              <a:rPr sz="2800" b="1" spc="-105" dirty="0">
                <a:latin typeface="Arial"/>
                <a:cs typeface="Arial"/>
              </a:rPr>
              <a:t> </a:t>
            </a:r>
            <a:r>
              <a:rPr sz="2800" spc="-10" dirty="0">
                <a:latin typeface="Arial MT"/>
                <a:cs typeface="Arial MT"/>
              </a:rPr>
              <a:t>[Theta]</a:t>
            </a:r>
            <a:endParaRPr sz="2800">
              <a:latin typeface="Arial MT"/>
              <a:cs typeface="Arial MT"/>
            </a:endParaRPr>
          </a:p>
          <a:p>
            <a:pPr marL="768985" marR="199390" lvl="1" indent="-287020">
              <a:lnSpc>
                <a:spcPct val="100000"/>
              </a:lnSpc>
              <a:spcBef>
                <a:spcPts val="640"/>
              </a:spcBef>
              <a:buFont typeface="Arial MT"/>
              <a:buChar char="–"/>
              <a:tabLst>
                <a:tab pos="768985" algn="l"/>
              </a:tabLst>
            </a:pPr>
            <a:r>
              <a:rPr sz="1800" i="1" dirty="0">
                <a:latin typeface="Arial"/>
                <a:cs typeface="Arial"/>
              </a:rPr>
              <a:t>f</a:t>
            </a:r>
            <a:r>
              <a:rPr sz="1800" dirty="0">
                <a:latin typeface="Arial MT"/>
                <a:cs typeface="Arial MT"/>
              </a:rPr>
              <a:t>(</a:t>
            </a:r>
            <a:r>
              <a:rPr sz="1800" i="1" dirty="0">
                <a:latin typeface="Arial"/>
                <a:cs typeface="Arial"/>
              </a:rPr>
              <a:t>n</a:t>
            </a:r>
            <a:r>
              <a:rPr sz="1800" dirty="0">
                <a:latin typeface="Arial MT"/>
                <a:cs typeface="Arial MT"/>
              </a:rPr>
              <a:t>)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Symbol"/>
                <a:cs typeface="Symbol"/>
              </a:rPr>
              <a:t></a:t>
            </a:r>
            <a:r>
              <a:rPr sz="1800" dirty="0">
                <a:latin typeface="Arial MT"/>
                <a:cs typeface="Arial MT"/>
              </a:rPr>
              <a:t>(</a:t>
            </a:r>
            <a:r>
              <a:rPr sz="1800" i="1" dirty="0">
                <a:latin typeface="Arial"/>
                <a:cs typeface="Arial"/>
              </a:rPr>
              <a:t>g</a:t>
            </a:r>
            <a:r>
              <a:rPr sz="1800" dirty="0">
                <a:latin typeface="Arial MT"/>
                <a:cs typeface="Arial MT"/>
              </a:rPr>
              <a:t>(</a:t>
            </a:r>
            <a:r>
              <a:rPr sz="1800" i="1" dirty="0">
                <a:latin typeface="Arial"/>
                <a:cs typeface="Arial"/>
              </a:rPr>
              <a:t>n</a:t>
            </a:r>
            <a:r>
              <a:rPr sz="1800" dirty="0">
                <a:latin typeface="Arial MT"/>
                <a:cs typeface="Arial MT"/>
              </a:rPr>
              <a:t>)) (read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“</a:t>
            </a:r>
            <a:r>
              <a:rPr sz="1800" i="1" dirty="0">
                <a:latin typeface="Arial"/>
                <a:cs typeface="Arial"/>
              </a:rPr>
              <a:t>f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i="1" dirty="0">
                <a:latin typeface="Arial"/>
                <a:cs typeface="Arial"/>
              </a:rPr>
              <a:t>n</a:t>
            </a:r>
            <a:r>
              <a:rPr sz="1800" i="1" spc="-2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theta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i="1" dirty="0">
                <a:latin typeface="Arial"/>
                <a:cs typeface="Arial"/>
              </a:rPr>
              <a:t>g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i="1" dirty="0">
                <a:latin typeface="Arial"/>
                <a:cs typeface="Arial"/>
              </a:rPr>
              <a:t>n</a:t>
            </a:r>
            <a:r>
              <a:rPr sz="1800" dirty="0">
                <a:latin typeface="Arial MT"/>
                <a:cs typeface="Arial MT"/>
              </a:rPr>
              <a:t>”)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iff there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exist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positive </a:t>
            </a:r>
            <a:r>
              <a:rPr sz="1800" dirty="0">
                <a:latin typeface="Arial MT"/>
                <a:cs typeface="Arial MT"/>
              </a:rPr>
              <a:t>constants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i="1" dirty="0">
                <a:latin typeface="Arial"/>
                <a:cs typeface="Arial"/>
              </a:rPr>
              <a:t>c</a:t>
            </a:r>
            <a:r>
              <a:rPr sz="1800" i="1" baseline="-20833" dirty="0">
                <a:latin typeface="Arial"/>
                <a:cs typeface="Arial"/>
              </a:rPr>
              <a:t>1</a:t>
            </a:r>
            <a:r>
              <a:rPr sz="1800" i="1" dirty="0">
                <a:latin typeface="Arial"/>
                <a:cs typeface="Arial"/>
              </a:rPr>
              <a:t>,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c</a:t>
            </a:r>
            <a:r>
              <a:rPr sz="1800" i="1" baseline="-20833" dirty="0">
                <a:latin typeface="Arial"/>
                <a:cs typeface="Arial"/>
              </a:rPr>
              <a:t>2</a:t>
            </a:r>
            <a:r>
              <a:rPr sz="1800" i="1" dirty="0">
                <a:latin typeface="Arial"/>
                <a:cs typeface="Arial"/>
              </a:rPr>
              <a:t>,</a:t>
            </a:r>
            <a:r>
              <a:rPr sz="1800" i="1" spc="-3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i="1" dirty="0">
                <a:latin typeface="Arial"/>
                <a:cs typeface="Arial"/>
              </a:rPr>
              <a:t>n</a:t>
            </a:r>
            <a:r>
              <a:rPr sz="1800" i="1" baseline="-20833" dirty="0">
                <a:latin typeface="Arial"/>
                <a:cs typeface="Arial"/>
              </a:rPr>
              <a:t>0</a:t>
            </a:r>
            <a:r>
              <a:rPr sz="1800" i="1" spc="217" baseline="-20833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such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that </a:t>
            </a:r>
            <a:r>
              <a:rPr sz="1800" i="1" dirty="0">
                <a:solidFill>
                  <a:srgbClr val="FF3399"/>
                </a:solidFill>
                <a:latin typeface="Arial"/>
                <a:cs typeface="Arial"/>
              </a:rPr>
              <a:t>c</a:t>
            </a:r>
            <a:r>
              <a:rPr sz="1800" i="1" baseline="-20833" dirty="0">
                <a:solidFill>
                  <a:srgbClr val="FF3399"/>
                </a:solidFill>
                <a:latin typeface="Arial"/>
                <a:cs typeface="Arial"/>
              </a:rPr>
              <a:t>1</a:t>
            </a:r>
            <a:r>
              <a:rPr sz="1800" i="1" dirty="0">
                <a:solidFill>
                  <a:srgbClr val="FF3399"/>
                </a:solidFill>
                <a:latin typeface="Arial"/>
                <a:cs typeface="Arial"/>
              </a:rPr>
              <a:t>g</a:t>
            </a:r>
            <a:r>
              <a:rPr sz="1800" dirty="0">
                <a:solidFill>
                  <a:srgbClr val="FF3399"/>
                </a:solidFill>
                <a:latin typeface="Arial MT"/>
                <a:cs typeface="Arial MT"/>
              </a:rPr>
              <a:t>(</a:t>
            </a:r>
            <a:r>
              <a:rPr sz="1800" i="1" dirty="0">
                <a:solidFill>
                  <a:srgbClr val="FF3399"/>
                </a:solidFill>
                <a:latin typeface="Arial"/>
                <a:cs typeface="Arial"/>
              </a:rPr>
              <a:t>n</a:t>
            </a:r>
            <a:r>
              <a:rPr sz="1800" dirty="0">
                <a:solidFill>
                  <a:srgbClr val="FF3399"/>
                </a:solidFill>
                <a:latin typeface="Arial MT"/>
                <a:cs typeface="Arial MT"/>
              </a:rPr>
              <a:t>)</a:t>
            </a:r>
            <a:r>
              <a:rPr sz="1800" spc="-2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3399"/>
                </a:solidFill>
                <a:latin typeface="Symbol"/>
                <a:cs typeface="Symbol"/>
              </a:rPr>
              <a:t></a:t>
            </a:r>
            <a:r>
              <a:rPr sz="1800" spc="30" dirty="0">
                <a:solidFill>
                  <a:srgbClr val="FF3399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FF3399"/>
                </a:solidFill>
                <a:latin typeface="Arial"/>
                <a:cs typeface="Arial"/>
              </a:rPr>
              <a:t>f</a:t>
            </a:r>
            <a:r>
              <a:rPr sz="1800" dirty="0">
                <a:solidFill>
                  <a:srgbClr val="FF3399"/>
                </a:solidFill>
                <a:latin typeface="Arial MT"/>
                <a:cs typeface="Arial MT"/>
              </a:rPr>
              <a:t>(</a:t>
            </a:r>
            <a:r>
              <a:rPr sz="1800" i="1" dirty="0">
                <a:solidFill>
                  <a:srgbClr val="FF3399"/>
                </a:solidFill>
                <a:latin typeface="Arial"/>
                <a:cs typeface="Arial"/>
              </a:rPr>
              <a:t>n</a:t>
            </a:r>
            <a:r>
              <a:rPr sz="1800" dirty="0">
                <a:solidFill>
                  <a:srgbClr val="FF3399"/>
                </a:solidFill>
                <a:latin typeface="Arial MT"/>
                <a:cs typeface="Arial MT"/>
              </a:rPr>
              <a:t>)</a:t>
            </a:r>
            <a:r>
              <a:rPr sz="1800" spc="-1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3399"/>
                </a:solidFill>
                <a:latin typeface="Symbol"/>
                <a:cs typeface="Symbol"/>
              </a:rPr>
              <a:t></a:t>
            </a:r>
            <a:r>
              <a:rPr sz="1800" spc="35" dirty="0">
                <a:solidFill>
                  <a:srgbClr val="FF3399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FF3399"/>
                </a:solidFill>
                <a:latin typeface="Arial"/>
                <a:cs typeface="Arial"/>
              </a:rPr>
              <a:t>c</a:t>
            </a:r>
            <a:r>
              <a:rPr sz="1800" i="1" baseline="-20833" dirty="0">
                <a:solidFill>
                  <a:srgbClr val="FF3399"/>
                </a:solidFill>
                <a:latin typeface="Arial"/>
                <a:cs typeface="Arial"/>
              </a:rPr>
              <a:t>2</a:t>
            </a:r>
            <a:r>
              <a:rPr sz="1800" i="1" dirty="0">
                <a:solidFill>
                  <a:srgbClr val="FF3399"/>
                </a:solidFill>
                <a:latin typeface="Arial"/>
                <a:cs typeface="Arial"/>
              </a:rPr>
              <a:t>g</a:t>
            </a:r>
            <a:r>
              <a:rPr sz="1800" dirty="0">
                <a:solidFill>
                  <a:srgbClr val="FF3399"/>
                </a:solidFill>
                <a:latin typeface="Arial MT"/>
                <a:cs typeface="Arial MT"/>
              </a:rPr>
              <a:t>(</a:t>
            </a:r>
            <a:r>
              <a:rPr sz="1800" i="1" dirty="0">
                <a:solidFill>
                  <a:srgbClr val="FF3399"/>
                </a:solidFill>
                <a:latin typeface="Arial"/>
                <a:cs typeface="Arial"/>
              </a:rPr>
              <a:t>n</a:t>
            </a:r>
            <a:r>
              <a:rPr sz="1800" dirty="0">
                <a:solidFill>
                  <a:srgbClr val="FF3399"/>
                </a:solidFill>
                <a:latin typeface="Arial MT"/>
                <a:cs typeface="Arial MT"/>
              </a:rPr>
              <a:t>)</a:t>
            </a:r>
            <a:r>
              <a:rPr sz="1800" spc="-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all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i="1" dirty="0">
                <a:latin typeface="Arial"/>
                <a:cs typeface="Arial"/>
              </a:rPr>
              <a:t>n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i="1" dirty="0">
                <a:latin typeface="Arial"/>
                <a:cs typeface="Arial"/>
              </a:rPr>
              <a:t>n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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i="1" spc="-25" dirty="0">
                <a:latin typeface="Arial"/>
                <a:cs typeface="Arial"/>
              </a:rPr>
              <a:t>n</a:t>
            </a:r>
            <a:r>
              <a:rPr sz="1800" i="1" spc="-37" baseline="-20833" dirty="0">
                <a:latin typeface="Arial"/>
                <a:cs typeface="Arial"/>
              </a:rPr>
              <a:t>0</a:t>
            </a:r>
            <a:r>
              <a:rPr sz="1800" spc="-25" dirty="0"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41391" y="1386839"/>
            <a:ext cx="4030979" cy="4180332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2440" y="1016253"/>
            <a:ext cx="8254365" cy="43916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9100" marR="8128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419100" algn="l"/>
                <a:tab pos="6200775" algn="l"/>
              </a:tabLst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definition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states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function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f(n)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lies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between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c1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times</a:t>
            </a:r>
            <a:r>
              <a:rPr sz="2000" spc="-25" dirty="0">
                <a:latin typeface="Arial MT"/>
                <a:cs typeface="Arial MT"/>
              </a:rPr>
              <a:t> the </a:t>
            </a:r>
            <a:r>
              <a:rPr sz="2000" dirty="0">
                <a:latin typeface="Arial MT"/>
                <a:cs typeface="Arial MT"/>
              </a:rPr>
              <a:t>function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g(n)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c2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times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function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g(n)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except</a:t>
            </a:r>
            <a:r>
              <a:rPr sz="2000" dirty="0">
                <a:latin typeface="Arial MT"/>
                <a:cs typeface="Arial MT"/>
              </a:rPr>
              <a:t>	when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smaller </a:t>
            </a:r>
            <a:r>
              <a:rPr sz="2000" dirty="0">
                <a:latin typeface="Arial MT"/>
                <a:cs typeface="Arial MT"/>
              </a:rPr>
              <a:t>than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n</a:t>
            </a:r>
            <a:r>
              <a:rPr sz="1950" spc="-37" baseline="-21367" dirty="0">
                <a:latin typeface="Arial MT"/>
                <a:cs typeface="Arial MT"/>
              </a:rPr>
              <a:t>0</a:t>
            </a:r>
            <a:r>
              <a:rPr sz="2000" spc="-25" dirty="0">
                <a:latin typeface="Arial MT"/>
                <a:cs typeface="Arial MT"/>
              </a:rPr>
              <a:t>.</a:t>
            </a:r>
            <a:endParaRPr sz="2000">
              <a:latin typeface="Arial MT"/>
              <a:cs typeface="Arial MT"/>
            </a:endParaRPr>
          </a:p>
          <a:p>
            <a:pPr marL="418465" indent="-342265">
              <a:lnSpc>
                <a:spcPct val="100000"/>
              </a:lnSpc>
              <a:spcBef>
                <a:spcPts val="475"/>
              </a:spcBef>
              <a:buFont typeface="Arial MT"/>
              <a:buChar char="•"/>
              <a:tabLst>
                <a:tab pos="418465" algn="l"/>
              </a:tabLst>
            </a:pPr>
            <a:r>
              <a:rPr sz="2000" i="1" dirty="0">
                <a:latin typeface="Arial"/>
                <a:cs typeface="Arial"/>
              </a:rPr>
              <a:t>In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other</a:t>
            </a:r>
            <a:r>
              <a:rPr sz="2000" i="1" spc="-3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words,</a:t>
            </a:r>
            <a:r>
              <a:rPr sz="2000" i="1" dirty="0">
                <a:solidFill>
                  <a:srgbClr val="FF3399"/>
                </a:solidFill>
                <a:latin typeface="Arial"/>
                <a:cs typeface="Arial"/>
              </a:rPr>
              <a:t>f(n)</a:t>
            </a:r>
            <a:r>
              <a:rPr sz="2000" i="1" spc="-55" dirty="0">
                <a:solidFill>
                  <a:srgbClr val="FF339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grows</a:t>
            </a:r>
            <a:r>
              <a:rPr sz="2000" spc="-4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same</a:t>
            </a:r>
            <a:r>
              <a:rPr sz="2000" spc="-2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rate</a:t>
            </a:r>
            <a:r>
              <a:rPr sz="2000" spc="-4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as”</a:t>
            </a:r>
            <a:r>
              <a:rPr sz="2000" spc="-2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FF3399"/>
                </a:solidFill>
                <a:latin typeface="Arial MT"/>
                <a:cs typeface="Arial MT"/>
              </a:rPr>
              <a:t>g(n).</a:t>
            </a:r>
            <a:endParaRPr sz="2000">
              <a:latin typeface="Arial MT"/>
              <a:cs typeface="Arial MT"/>
            </a:endParaRPr>
          </a:p>
          <a:p>
            <a:pPr marL="418465" indent="-342265">
              <a:lnSpc>
                <a:spcPct val="100000"/>
              </a:lnSpc>
              <a:spcBef>
                <a:spcPts val="735"/>
              </a:spcBef>
              <a:buFont typeface="Arial MT"/>
              <a:buChar char="•"/>
              <a:tabLst>
                <a:tab pos="418465" algn="l"/>
              </a:tabLst>
            </a:pPr>
            <a:r>
              <a:rPr sz="3200" i="1" spc="-10" dirty="0">
                <a:latin typeface="Arial"/>
                <a:cs typeface="Arial"/>
              </a:rPr>
              <a:t>Examples:-</a:t>
            </a:r>
            <a:endParaRPr sz="3200">
              <a:latin typeface="Arial"/>
              <a:cs typeface="Arial"/>
            </a:endParaRPr>
          </a:p>
          <a:p>
            <a:pPr marL="533400">
              <a:lnSpc>
                <a:spcPct val="100000"/>
              </a:lnSpc>
              <a:spcBef>
                <a:spcPts val="520"/>
              </a:spcBef>
              <a:tabLst>
                <a:tab pos="819785" algn="l"/>
              </a:tabLst>
            </a:pPr>
            <a:r>
              <a:rPr sz="2000" spc="-50" dirty="0">
                <a:latin typeface="Arial MT"/>
                <a:cs typeface="Arial MT"/>
              </a:rPr>
              <a:t>–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i="1" dirty="0">
                <a:latin typeface="Arial"/>
                <a:cs typeface="Arial"/>
              </a:rPr>
              <a:t>f</a:t>
            </a:r>
            <a:r>
              <a:rPr sz="2000" dirty="0">
                <a:latin typeface="Arial MT"/>
                <a:cs typeface="Arial MT"/>
              </a:rPr>
              <a:t>(</a:t>
            </a:r>
            <a:r>
              <a:rPr sz="2000" i="1" dirty="0">
                <a:latin typeface="Arial"/>
                <a:cs typeface="Arial"/>
              </a:rPr>
              <a:t>n</a:t>
            </a:r>
            <a:r>
              <a:rPr sz="2000" dirty="0">
                <a:latin typeface="Arial MT"/>
                <a:cs typeface="Arial MT"/>
              </a:rPr>
              <a:t>)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=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3n+2</a:t>
            </a:r>
            <a:endParaRPr sz="2000">
              <a:latin typeface="Arial MT"/>
              <a:cs typeface="Arial MT"/>
            </a:endParaRPr>
          </a:p>
          <a:p>
            <a:pPr marL="1219200" lvl="1" indent="-228600">
              <a:lnSpc>
                <a:spcPct val="100000"/>
              </a:lnSpc>
              <a:spcBef>
                <a:spcPts val="480"/>
              </a:spcBef>
              <a:buChar char="•"/>
              <a:tabLst>
                <a:tab pos="1219200" algn="l"/>
                <a:tab pos="6410325" algn="l"/>
              </a:tabLst>
            </a:pPr>
            <a:r>
              <a:rPr sz="2000" dirty="0">
                <a:latin typeface="Arial MT"/>
                <a:cs typeface="Arial MT"/>
              </a:rPr>
              <a:t>3n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&lt;=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3n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+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2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&lt;=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4n,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all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&gt;=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2,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Symbol"/>
                <a:cs typeface="Symbol"/>
              </a:rPr>
              <a:t>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 MT"/>
                <a:cs typeface="Arial MT"/>
              </a:rPr>
              <a:t>3n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+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2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spc="-50" dirty="0">
                <a:latin typeface="Arial MT"/>
                <a:cs typeface="Arial MT"/>
              </a:rPr>
              <a:t>=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dirty="0">
                <a:latin typeface="Symbol"/>
                <a:cs typeface="Symbol"/>
              </a:rPr>
              <a:t>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Arial MT"/>
                <a:cs typeface="Arial MT"/>
              </a:rPr>
              <a:t>(</a:t>
            </a:r>
            <a:r>
              <a:rPr sz="2000" i="1" spc="-25" dirty="0">
                <a:latin typeface="Arial"/>
                <a:cs typeface="Arial"/>
              </a:rPr>
              <a:t>n</a:t>
            </a:r>
            <a:r>
              <a:rPr sz="2000" spc="-25" dirty="0">
                <a:latin typeface="Arial MT"/>
                <a:cs typeface="Arial MT"/>
              </a:rPr>
              <a:t>)</a:t>
            </a:r>
            <a:endParaRPr sz="20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1060"/>
              </a:spcBef>
              <a:buFont typeface="Arial MT"/>
              <a:buChar char="•"/>
            </a:pPr>
            <a:endParaRPr sz="2000">
              <a:latin typeface="Arial MT"/>
              <a:cs typeface="Arial MT"/>
            </a:endParaRPr>
          </a:p>
          <a:p>
            <a:pPr marL="533400">
              <a:lnSpc>
                <a:spcPct val="100000"/>
              </a:lnSpc>
              <a:tabLst>
                <a:tab pos="819785" algn="l"/>
              </a:tabLst>
            </a:pPr>
            <a:r>
              <a:rPr sz="2000" spc="-50" dirty="0">
                <a:latin typeface="Arial MT"/>
                <a:cs typeface="Arial MT"/>
              </a:rPr>
              <a:t>–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i="1" dirty="0">
                <a:latin typeface="Arial"/>
                <a:cs typeface="Arial"/>
              </a:rPr>
              <a:t>f</a:t>
            </a:r>
            <a:r>
              <a:rPr sz="2000" dirty="0">
                <a:latin typeface="Arial MT"/>
                <a:cs typeface="Arial MT"/>
              </a:rPr>
              <a:t>(</a:t>
            </a:r>
            <a:r>
              <a:rPr sz="2000" i="1" dirty="0">
                <a:latin typeface="Arial"/>
                <a:cs typeface="Arial"/>
              </a:rPr>
              <a:t>n</a:t>
            </a:r>
            <a:r>
              <a:rPr sz="2000" dirty="0">
                <a:latin typeface="Arial MT"/>
                <a:cs typeface="Arial MT"/>
              </a:rPr>
              <a:t>)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=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10n</a:t>
            </a:r>
            <a:r>
              <a:rPr sz="1950" spc="-15" baseline="25641" dirty="0">
                <a:latin typeface="Arial MT"/>
                <a:cs typeface="Arial MT"/>
              </a:rPr>
              <a:t>2</a:t>
            </a:r>
            <a:r>
              <a:rPr sz="2000" spc="-10" dirty="0">
                <a:latin typeface="Arial MT"/>
                <a:cs typeface="Arial MT"/>
              </a:rPr>
              <a:t>+4n+2</a:t>
            </a:r>
            <a:endParaRPr sz="2000">
              <a:latin typeface="Arial MT"/>
              <a:cs typeface="Arial MT"/>
            </a:endParaRPr>
          </a:p>
          <a:p>
            <a:pPr marL="1219200" lvl="1" indent="-228600">
              <a:lnSpc>
                <a:spcPct val="100000"/>
              </a:lnSpc>
              <a:spcBef>
                <a:spcPts val="480"/>
              </a:spcBef>
              <a:buChar char="•"/>
              <a:tabLst>
                <a:tab pos="1219200" algn="l"/>
              </a:tabLst>
            </a:pPr>
            <a:r>
              <a:rPr sz="2000" dirty="0">
                <a:latin typeface="Arial MT"/>
                <a:cs typeface="Arial MT"/>
              </a:rPr>
              <a:t>n</a:t>
            </a:r>
            <a:r>
              <a:rPr sz="1950" baseline="25641" dirty="0">
                <a:latin typeface="Arial MT"/>
                <a:cs typeface="Arial MT"/>
              </a:rPr>
              <a:t>2</a:t>
            </a:r>
            <a:r>
              <a:rPr sz="2000" dirty="0">
                <a:latin typeface="Arial MT"/>
                <a:cs typeface="Arial MT"/>
              </a:rPr>
              <a:t>&lt;=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10n</a:t>
            </a:r>
            <a:r>
              <a:rPr sz="1950" baseline="25641" dirty="0">
                <a:latin typeface="Arial MT"/>
                <a:cs typeface="Arial MT"/>
              </a:rPr>
              <a:t>2</a:t>
            </a:r>
            <a:r>
              <a:rPr sz="2000" dirty="0">
                <a:latin typeface="Arial MT"/>
                <a:cs typeface="Arial MT"/>
              </a:rPr>
              <a:t>+4n+2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&lt;=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11n</a:t>
            </a:r>
            <a:r>
              <a:rPr sz="1950" baseline="25641" dirty="0">
                <a:latin typeface="Arial MT"/>
                <a:cs typeface="Arial MT"/>
              </a:rPr>
              <a:t>2</a:t>
            </a:r>
            <a:r>
              <a:rPr sz="2000" dirty="0">
                <a:latin typeface="Arial MT"/>
                <a:cs typeface="Arial MT"/>
              </a:rPr>
              <a:t>,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all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 &gt;=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5,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Symbol"/>
                <a:cs typeface="Symbol"/>
              </a:rPr>
              <a:t>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 MT"/>
                <a:cs typeface="Arial MT"/>
              </a:rPr>
              <a:t>10n</a:t>
            </a:r>
            <a:r>
              <a:rPr sz="1950" baseline="25641" dirty="0">
                <a:latin typeface="Arial MT"/>
                <a:cs typeface="Arial MT"/>
              </a:rPr>
              <a:t>2</a:t>
            </a:r>
            <a:r>
              <a:rPr sz="2000" dirty="0">
                <a:latin typeface="Arial MT"/>
                <a:cs typeface="Arial MT"/>
              </a:rPr>
              <a:t>+4n+2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=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Symbol"/>
                <a:cs typeface="Symbol"/>
              </a:rPr>
              <a:t>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Arial MT"/>
                <a:cs typeface="Arial MT"/>
              </a:rPr>
              <a:t>(</a:t>
            </a:r>
            <a:r>
              <a:rPr sz="2000" i="1" spc="-20" dirty="0">
                <a:latin typeface="Arial"/>
                <a:cs typeface="Arial"/>
              </a:rPr>
              <a:t>n</a:t>
            </a:r>
            <a:r>
              <a:rPr sz="1950" spc="-30" baseline="25641" dirty="0">
                <a:latin typeface="Arial MT"/>
                <a:cs typeface="Arial MT"/>
              </a:rPr>
              <a:t>2</a:t>
            </a:r>
            <a:r>
              <a:rPr sz="2000" spc="-20" dirty="0">
                <a:latin typeface="Arial MT"/>
                <a:cs typeface="Arial MT"/>
              </a:rPr>
              <a:t>)</a:t>
            </a:r>
            <a:endParaRPr sz="2000">
              <a:latin typeface="Arial MT"/>
              <a:cs typeface="Arial MT"/>
            </a:endParaRPr>
          </a:p>
          <a:p>
            <a:pPr marL="418465" indent="-342265">
              <a:lnSpc>
                <a:spcPct val="100000"/>
              </a:lnSpc>
              <a:spcBef>
                <a:spcPts val="480"/>
              </a:spcBef>
              <a:buChar char="•"/>
              <a:tabLst>
                <a:tab pos="418465" algn="l"/>
              </a:tabLst>
            </a:pP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But,</a:t>
            </a:r>
            <a:r>
              <a:rPr sz="2000" spc="-2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we</a:t>
            </a:r>
            <a:r>
              <a:rPr sz="2000" spc="-2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can</a:t>
            </a:r>
            <a:r>
              <a:rPr sz="2000" spc="-2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not</a:t>
            </a:r>
            <a:r>
              <a:rPr sz="2000" spc="-3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write</a:t>
            </a:r>
            <a:r>
              <a:rPr sz="2000" spc="-2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either</a:t>
            </a:r>
            <a:r>
              <a:rPr sz="2000" spc="-4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10n</a:t>
            </a:r>
            <a:r>
              <a:rPr sz="1950" baseline="25641" dirty="0">
                <a:solidFill>
                  <a:srgbClr val="FF3399"/>
                </a:solidFill>
                <a:latin typeface="Arial MT"/>
                <a:cs typeface="Arial MT"/>
              </a:rPr>
              <a:t>2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+4n+2=</a:t>
            </a:r>
            <a:r>
              <a:rPr sz="2000" spc="-5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Symbol"/>
                <a:cs typeface="Symbol"/>
              </a:rPr>
              <a:t>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(n)</a:t>
            </a:r>
            <a:r>
              <a:rPr sz="2000" spc="-3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or</a:t>
            </a:r>
            <a:r>
              <a:rPr sz="2000" spc="-2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10n</a:t>
            </a:r>
            <a:r>
              <a:rPr sz="1950" baseline="25641" dirty="0">
                <a:solidFill>
                  <a:srgbClr val="FF3399"/>
                </a:solidFill>
                <a:latin typeface="Arial MT"/>
                <a:cs typeface="Arial MT"/>
              </a:rPr>
              <a:t>2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+4n+2=</a:t>
            </a:r>
            <a:r>
              <a:rPr sz="2000" spc="-5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FF3399"/>
                </a:solidFill>
                <a:latin typeface="Symbol"/>
                <a:cs typeface="Symbol"/>
              </a:rPr>
              <a:t></a:t>
            </a:r>
            <a:r>
              <a:rPr sz="2000" spc="-10" dirty="0">
                <a:solidFill>
                  <a:srgbClr val="FF3399"/>
                </a:solidFill>
                <a:latin typeface="Arial MT"/>
                <a:cs typeface="Arial MT"/>
              </a:rPr>
              <a:t>(n</a:t>
            </a:r>
            <a:r>
              <a:rPr sz="1950" spc="-15" baseline="25641" dirty="0">
                <a:solidFill>
                  <a:srgbClr val="FF3399"/>
                </a:solidFill>
                <a:latin typeface="Arial MT"/>
                <a:cs typeface="Arial MT"/>
              </a:rPr>
              <a:t>3</a:t>
            </a:r>
            <a:r>
              <a:rPr sz="2000" spc="-10" dirty="0">
                <a:solidFill>
                  <a:srgbClr val="FF3399"/>
                </a:solidFill>
                <a:latin typeface="Arial MT"/>
                <a:cs typeface="Arial MT"/>
              </a:rPr>
              <a:t>),</a:t>
            </a:r>
            <a:endParaRPr sz="2000">
              <a:latin typeface="Arial MT"/>
              <a:cs typeface="Arial MT"/>
            </a:endParaRPr>
          </a:p>
          <a:p>
            <a:pPr marL="419100">
              <a:lnSpc>
                <a:spcPct val="100000"/>
              </a:lnSpc>
            </a:pP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since</a:t>
            </a:r>
            <a:r>
              <a:rPr sz="2000" spc="-4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neither</a:t>
            </a:r>
            <a:r>
              <a:rPr sz="2000" spc="-2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of</a:t>
            </a:r>
            <a:r>
              <a:rPr sz="2000" spc="-3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these</a:t>
            </a:r>
            <a:r>
              <a:rPr sz="2000" spc="-4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will</a:t>
            </a:r>
            <a:r>
              <a:rPr sz="2000" spc="-1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satisfy</a:t>
            </a:r>
            <a:r>
              <a:rPr sz="2000" spc="-4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the</a:t>
            </a:r>
            <a:r>
              <a:rPr sz="2000" spc="-3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theta</a:t>
            </a:r>
            <a:r>
              <a:rPr sz="2000" spc="-3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FF3399"/>
                </a:solidFill>
                <a:latin typeface="Arial MT"/>
                <a:cs typeface="Arial MT"/>
              </a:rPr>
              <a:t>relation.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9740" y="860806"/>
            <a:ext cx="4688840" cy="3501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b="1" dirty="0">
                <a:latin typeface="Arial"/>
                <a:cs typeface="Arial"/>
              </a:rPr>
              <a:t>Little</a:t>
            </a:r>
            <a:r>
              <a:rPr sz="3200" b="1" spc="-5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O</a:t>
            </a:r>
            <a:r>
              <a:rPr sz="3200" b="1" dirty="0">
                <a:latin typeface="Arial"/>
                <a:cs typeface="Arial"/>
              </a:rPr>
              <a:t>h(</a:t>
            </a:r>
            <a:r>
              <a:rPr sz="2000" i="1" dirty="0">
                <a:latin typeface="Arial"/>
                <a:cs typeface="Arial"/>
              </a:rPr>
              <a:t>O</a:t>
            </a:r>
            <a:r>
              <a:rPr sz="3200" i="1" dirty="0">
                <a:latin typeface="Arial"/>
                <a:cs typeface="Arial"/>
              </a:rPr>
              <a:t>)</a:t>
            </a:r>
            <a:r>
              <a:rPr sz="3200" i="1" spc="-40" dirty="0">
                <a:latin typeface="Arial"/>
                <a:cs typeface="Arial"/>
              </a:rPr>
              <a:t> </a:t>
            </a:r>
            <a:r>
              <a:rPr sz="3200" spc="-10" dirty="0">
                <a:latin typeface="Arial MT"/>
                <a:cs typeface="Arial MT"/>
              </a:rPr>
              <a:t>notation:</a:t>
            </a:r>
            <a:endParaRPr sz="3200">
              <a:latin typeface="Arial MT"/>
              <a:cs typeface="Arial MT"/>
            </a:endParaRPr>
          </a:p>
          <a:p>
            <a:pPr marL="756285" marR="43815" lvl="1" indent="-287020">
              <a:lnSpc>
                <a:spcPct val="150100"/>
              </a:lnSpc>
              <a:spcBef>
                <a:spcPts val="785"/>
              </a:spcBef>
              <a:buChar char="–"/>
              <a:tabLst>
                <a:tab pos="756285" algn="l"/>
              </a:tabLst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big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oh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notation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describes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3399"/>
                </a:solidFill>
                <a:latin typeface="Arial MT"/>
                <a:cs typeface="Arial MT"/>
              </a:rPr>
              <a:t>strict </a:t>
            </a:r>
            <a:r>
              <a:rPr sz="1800" dirty="0">
                <a:solidFill>
                  <a:srgbClr val="FF3399"/>
                </a:solidFill>
                <a:latin typeface="Arial MT"/>
                <a:cs typeface="Arial MT"/>
              </a:rPr>
              <a:t>upper</a:t>
            </a:r>
            <a:r>
              <a:rPr sz="1800" spc="-3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3399"/>
                </a:solidFill>
                <a:latin typeface="Arial MT"/>
                <a:cs typeface="Arial MT"/>
              </a:rPr>
              <a:t>bound</a:t>
            </a:r>
            <a:r>
              <a:rPr sz="1800" spc="-2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3399"/>
                </a:solidFill>
                <a:latin typeface="Arial MT"/>
                <a:cs typeface="Arial MT"/>
              </a:rPr>
              <a:t>asymptotic</a:t>
            </a:r>
            <a:r>
              <a:rPr sz="1800" spc="-10" dirty="0">
                <a:solidFill>
                  <a:srgbClr val="FF3399"/>
                </a:solidFill>
                <a:latin typeface="Arial MT"/>
                <a:cs typeface="Arial MT"/>
              </a:rPr>
              <a:t> growth </a:t>
            </a:r>
            <a:r>
              <a:rPr sz="1800" dirty="0">
                <a:solidFill>
                  <a:srgbClr val="FF3399"/>
                </a:solidFill>
                <a:latin typeface="Arial MT"/>
                <a:cs typeface="Arial MT"/>
              </a:rPr>
              <a:t>rate</a:t>
            </a:r>
            <a:r>
              <a:rPr sz="1800" spc="-2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function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FF3399"/>
                </a:solidFill>
                <a:latin typeface="Arial MT"/>
                <a:cs typeface="Arial MT"/>
              </a:rPr>
              <a:t>f</a:t>
            </a:r>
            <a:r>
              <a:rPr sz="1800" spc="-25" dirty="0"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buFont typeface="Arial MT"/>
              <a:buChar char="–"/>
            </a:pPr>
            <a:endParaRPr sz="18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Font typeface="Arial MT"/>
              <a:buChar char="–"/>
            </a:pPr>
            <a:endParaRPr sz="1800">
              <a:latin typeface="Arial MT"/>
              <a:cs typeface="Arial MT"/>
            </a:endParaRPr>
          </a:p>
          <a:p>
            <a:pPr marL="774700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Definition</a:t>
            </a:r>
            <a:r>
              <a:rPr sz="2000" dirty="0">
                <a:latin typeface="Arial MT"/>
                <a:cs typeface="Arial MT"/>
              </a:rPr>
              <a:t>: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[Little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“oh’’]</a:t>
            </a:r>
            <a:endParaRPr sz="2000">
              <a:latin typeface="Arial MT"/>
              <a:cs typeface="Arial MT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165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Arial MT"/>
                <a:cs typeface="Arial MT"/>
              </a:rPr>
              <a:t>f(</a:t>
            </a:r>
            <a:r>
              <a:rPr sz="2000" i="1" dirty="0">
                <a:latin typeface="Arial"/>
                <a:cs typeface="Arial"/>
              </a:rPr>
              <a:t>n</a:t>
            </a:r>
            <a:r>
              <a:rPr sz="2000" dirty="0">
                <a:latin typeface="Arial MT"/>
                <a:cs typeface="Arial MT"/>
              </a:rPr>
              <a:t>)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=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o(g(</a:t>
            </a:r>
            <a:r>
              <a:rPr sz="2000" i="1" dirty="0">
                <a:latin typeface="Arial"/>
                <a:cs typeface="Arial"/>
              </a:rPr>
              <a:t>n</a:t>
            </a:r>
            <a:r>
              <a:rPr sz="2000" dirty="0">
                <a:latin typeface="Arial MT"/>
                <a:cs typeface="Arial MT"/>
              </a:rPr>
              <a:t>))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(read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“</a:t>
            </a:r>
            <a:r>
              <a:rPr sz="2000" i="1" dirty="0">
                <a:latin typeface="Arial"/>
                <a:cs typeface="Arial"/>
              </a:rPr>
              <a:t>f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i="1" dirty="0">
                <a:latin typeface="Arial"/>
                <a:cs typeface="Arial"/>
              </a:rPr>
              <a:t>n</a:t>
            </a:r>
            <a:r>
              <a:rPr sz="2000" i="1" spc="-15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is </a:t>
            </a:r>
            <a:r>
              <a:rPr sz="2000" spc="-10" dirty="0">
                <a:latin typeface="Arial MT"/>
                <a:cs typeface="Arial MT"/>
              </a:rPr>
              <a:t>little </a:t>
            </a:r>
            <a:r>
              <a:rPr sz="2000" dirty="0">
                <a:latin typeface="Arial MT"/>
                <a:cs typeface="Arial MT"/>
              </a:rPr>
              <a:t>oh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i="1" dirty="0">
                <a:latin typeface="Arial"/>
                <a:cs typeface="Arial"/>
              </a:rPr>
              <a:t>g</a:t>
            </a:r>
            <a:r>
              <a:rPr sz="2000" i="1" spc="-15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i="1" dirty="0">
                <a:latin typeface="Arial"/>
                <a:cs typeface="Arial"/>
              </a:rPr>
              <a:t>n</a:t>
            </a:r>
            <a:r>
              <a:rPr sz="2000" dirty="0">
                <a:latin typeface="Arial MT"/>
                <a:cs typeface="Arial MT"/>
              </a:rPr>
              <a:t>”)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iff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18029" y="4660772"/>
            <a:ext cx="5257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6675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Lim </a:t>
            </a:r>
            <a:r>
              <a:rPr sz="1800" spc="-10" dirty="0">
                <a:latin typeface="Arial MT"/>
                <a:cs typeface="Arial MT"/>
              </a:rPr>
              <a:t>n-</a:t>
            </a:r>
            <a:r>
              <a:rPr sz="1800" spc="-25" dirty="0">
                <a:latin typeface="Arial MT"/>
                <a:cs typeface="Arial MT"/>
              </a:rPr>
              <a:t>&gt;∞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124200" y="4953000"/>
            <a:ext cx="685800" cy="0"/>
          </a:xfrm>
          <a:custGeom>
            <a:avLst/>
            <a:gdLst/>
            <a:ahLst/>
            <a:cxnLst/>
            <a:rect l="l" t="t" r="r" b="b"/>
            <a:pathLst>
              <a:path w="685800">
                <a:moveTo>
                  <a:pt x="0" y="0"/>
                </a:moveTo>
                <a:lnTo>
                  <a:pt x="68580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283458" y="4607432"/>
            <a:ext cx="368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 MT"/>
                <a:cs typeface="Arial MT"/>
              </a:rPr>
              <a:t>f(n)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03575" y="4950332"/>
            <a:ext cx="4311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 MT"/>
                <a:cs typeface="Arial MT"/>
              </a:rPr>
              <a:t>g(n)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02202" y="4759832"/>
            <a:ext cx="3498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= </a:t>
            </a:r>
            <a:r>
              <a:rPr sz="1800" spc="-50" dirty="0">
                <a:latin typeface="Arial MT"/>
                <a:cs typeface="Arial MT"/>
              </a:rPr>
              <a:t>0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7840" y="528955"/>
            <a:ext cx="7694930" cy="1733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3700" marR="5588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93700" algn="l"/>
              </a:tabLst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definition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states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function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f(n)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less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times</a:t>
            </a:r>
            <a:r>
              <a:rPr sz="2000" spc="-25" dirty="0">
                <a:latin typeface="Arial MT"/>
                <a:cs typeface="Arial MT"/>
              </a:rPr>
              <a:t> the </a:t>
            </a:r>
            <a:r>
              <a:rPr sz="2000" dirty="0">
                <a:latin typeface="Arial MT"/>
                <a:cs typeface="Arial MT"/>
              </a:rPr>
              <a:t>function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g(n)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except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when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smaller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than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n</a:t>
            </a:r>
            <a:r>
              <a:rPr sz="1950" spc="-37" baseline="-21367" dirty="0">
                <a:latin typeface="Arial MT"/>
                <a:cs typeface="Arial MT"/>
              </a:rPr>
              <a:t>0</a:t>
            </a:r>
            <a:r>
              <a:rPr sz="2000" spc="-25" dirty="0">
                <a:latin typeface="Arial MT"/>
                <a:cs typeface="Arial MT"/>
              </a:rPr>
              <a:t>.</a:t>
            </a:r>
            <a:endParaRPr sz="2000">
              <a:latin typeface="Arial MT"/>
              <a:cs typeface="Arial MT"/>
            </a:endParaRPr>
          </a:p>
          <a:p>
            <a:pPr marL="393065" indent="-342265">
              <a:lnSpc>
                <a:spcPct val="100000"/>
              </a:lnSpc>
              <a:spcBef>
                <a:spcPts val="475"/>
              </a:spcBef>
              <a:buFont typeface="Arial MT"/>
              <a:buChar char="•"/>
              <a:tabLst>
                <a:tab pos="393065" algn="l"/>
              </a:tabLst>
            </a:pPr>
            <a:r>
              <a:rPr sz="2000" i="1" dirty="0">
                <a:latin typeface="Arial"/>
                <a:cs typeface="Arial"/>
              </a:rPr>
              <a:t>In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other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words,</a:t>
            </a:r>
            <a:r>
              <a:rPr sz="2000" i="1" spc="-50" dirty="0">
                <a:latin typeface="Arial"/>
                <a:cs typeface="Arial"/>
              </a:rPr>
              <a:t> </a:t>
            </a:r>
            <a:r>
              <a:rPr sz="2000" i="1" dirty="0">
                <a:solidFill>
                  <a:srgbClr val="FF3399"/>
                </a:solidFill>
                <a:latin typeface="Arial"/>
                <a:cs typeface="Arial"/>
              </a:rPr>
              <a:t>f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(</a:t>
            </a:r>
            <a:r>
              <a:rPr sz="2000" i="1" dirty="0">
                <a:solidFill>
                  <a:srgbClr val="FF3399"/>
                </a:solidFill>
                <a:latin typeface="Arial"/>
                <a:cs typeface="Arial"/>
              </a:rPr>
              <a:t>n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)</a:t>
            </a:r>
            <a:r>
              <a:rPr sz="2000" spc="-4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grows</a:t>
            </a:r>
            <a:r>
              <a:rPr sz="2000" spc="-4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slower</a:t>
            </a:r>
            <a:r>
              <a:rPr sz="2000" spc="-3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than”</a:t>
            </a:r>
            <a:r>
              <a:rPr sz="2000" spc="-3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FF3399"/>
                </a:solidFill>
                <a:latin typeface="Arial MT"/>
                <a:cs typeface="Arial MT"/>
              </a:rPr>
              <a:t>g(n).</a:t>
            </a:r>
            <a:endParaRPr sz="2000">
              <a:latin typeface="Arial MT"/>
              <a:cs typeface="Arial MT"/>
            </a:endParaRPr>
          </a:p>
          <a:p>
            <a:pPr marL="393065" indent="-342265">
              <a:lnSpc>
                <a:spcPct val="100000"/>
              </a:lnSpc>
              <a:spcBef>
                <a:spcPts val="484"/>
              </a:spcBef>
              <a:buFont typeface="Arial MT"/>
              <a:buChar char="•"/>
              <a:tabLst>
                <a:tab pos="393065" algn="l"/>
              </a:tabLst>
            </a:pPr>
            <a:r>
              <a:rPr sz="2000" b="1" spc="-10" dirty="0">
                <a:latin typeface="Arial"/>
                <a:cs typeface="Arial"/>
              </a:rPr>
              <a:t>Examples</a:t>
            </a:r>
            <a:endParaRPr sz="2000">
              <a:latin typeface="Arial"/>
              <a:cs typeface="Arial"/>
            </a:endParaRPr>
          </a:p>
          <a:p>
            <a:pPr marL="508000">
              <a:lnSpc>
                <a:spcPct val="100000"/>
              </a:lnSpc>
              <a:spcBef>
                <a:spcPts val="475"/>
              </a:spcBef>
              <a:tabLst>
                <a:tab pos="794385" algn="l"/>
              </a:tabLst>
            </a:pPr>
            <a:r>
              <a:rPr sz="2000" spc="-50" dirty="0">
                <a:latin typeface="Arial MT"/>
                <a:cs typeface="Arial MT"/>
              </a:rPr>
              <a:t>–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i="1" dirty="0">
                <a:latin typeface="Arial"/>
                <a:cs typeface="Arial"/>
              </a:rPr>
              <a:t>f</a:t>
            </a:r>
            <a:r>
              <a:rPr sz="2000" dirty="0">
                <a:latin typeface="Arial MT"/>
                <a:cs typeface="Arial MT"/>
              </a:rPr>
              <a:t>(</a:t>
            </a:r>
            <a:r>
              <a:rPr sz="2000" i="1" dirty="0">
                <a:latin typeface="Arial"/>
                <a:cs typeface="Arial"/>
              </a:rPr>
              <a:t>n</a:t>
            </a:r>
            <a:r>
              <a:rPr sz="2000" dirty="0">
                <a:latin typeface="Arial MT"/>
                <a:cs typeface="Arial MT"/>
              </a:rPr>
              <a:t>)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=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3n+2=o(n</a:t>
            </a:r>
            <a:r>
              <a:rPr sz="1950" spc="-15" baseline="25641" dirty="0">
                <a:latin typeface="Arial MT"/>
                <a:cs typeface="Arial MT"/>
              </a:rPr>
              <a:t>2</a:t>
            </a:r>
            <a:r>
              <a:rPr sz="2000" spc="-10" dirty="0">
                <a:latin typeface="Arial MT"/>
                <a:cs typeface="Arial MT"/>
              </a:rPr>
              <a:t>)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50594" y="2297049"/>
            <a:ext cx="8909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Char char="•"/>
              <a:tabLst>
                <a:tab pos="240665" algn="l"/>
              </a:tabLst>
            </a:pPr>
            <a:r>
              <a:rPr sz="2000" spc="-10" dirty="0">
                <a:latin typeface="Arial MT"/>
                <a:cs typeface="Arial MT"/>
              </a:rPr>
              <a:t>Since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3444" y="3333064"/>
            <a:ext cx="7491730" cy="24047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 MT"/>
              <a:buChar char="–"/>
              <a:tabLst>
                <a:tab pos="299085" algn="l"/>
              </a:tabLst>
            </a:pPr>
            <a:r>
              <a:rPr sz="2000" i="1" dirty="0">
                <a:solidFill>
                  <a:srgbClr val="FF3399"/>
                </a:solidFill>
                <a:latin typeface="Arial"/>
                <a:cs typeface="Arial"/>
              </a:rPr>
              <a:t>However,</a:t>
            </a:r>
            <a:r>
              <a:rPr sz="2000" i="1" spc="-45" dirty="0">
                <a:solidFill>
                  <a:srgbClr val="FF3399"/>
                </a:solidFill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3n+2</a:t>
            </a:r>
            <a:r>
              <a:rPr sz="2000" i="1" spc="-2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≠</a:t>
            </a:r>
            <a:r>
              <a:rPr sz="2000" i="1" spc="-10" dirty="0">
                <a:latin typeface="Arial"/>
                <a:cs typeface="Arial"/>
              </a:rPr>
              <a:t> </a:t>
            </a:r>
            <a:r>
              <a:rPr sz="2000" i="1" spc="-20" dirty="0">
                <a:latin typeface="Arial"/>
                <a:cs typeface="Arial"/>
              </a:rPr>
              <a:t>o(n)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60"/>
              </a:spcBef>
              <a:buFont typeface="Arial MT"/>
              <a:buChar char="–"/>
            </a:pPr>
            <a:endParaRPr sz="20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–"/>
              <a:tabLst>
                <a:tab pos="299085" algn="l"/>
              </a:tabLst>
            </a:pPr>
            <a:r>
              <a:rPr sz="2000" i="1" dirty="0">
                <a:latin typeface="Arial"/>
                <a:cs typeface="Arial"/>
              </a:rPr>
              <a:t>The</a:t>
            </a:r>
            <a:r>
              <a:rPr sz="2000" i="1" spc="-2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little</a:t>
            </a:r>
            <a:r>
              <a:rPr sz="2000" i="1" spc="-1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oh</a:t>
            </a:r>
            <a:r>
              <a:rPr sz="2000" i="1" spc="-2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notation</a:t>
            </a:r>
            <a:r>
              <a:rPr sz="2000" i="1" spc="-3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is</a:t>
            </a:r>
            <a:r>
              <a:rPr sz="2000" i="1" spc="-1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often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used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in</a:t>
            </a:r>
            <a:r>
              <a:rPr sz="2000" i="1" spc="-10" dirty="0">
                <a:latin typeface="Arial"/>
                <a:cs typeface="Arial"/>
              </a:rPr>
              <a:t> step-</a:t>
            </a:r>
            <a:r>
              <a:rPr sz="2000" i="1" dirty="0">
                <a:latin typeface="Arial"/>
                <a:cs typeface="Arial"/>
              </a:rPr>
              <a:t>count</a:t>
            </a:r>
            <a:r>
              <a:rPr sz="2000" i="1" spc="-60" dirty="0">
                <a:latin typeface="Arial"/>
                <a:cs typeface="Arial"/>
              </a:rPr>
              <a:t> </a:t>
            </a:r>
            <a:r>
              <a:rPr sz="2000" i="1" spc="-10" dirty="0">
                <a:latin typeface="Arial"/>
                <a:cs typeface="Arial"/>
              </a:rPr>
              <a:t>analyses.</a:t>
            </a:r>
            <a:endParaRPr sz="2000">
              <a:latin typeface="Arial"/>
              <a:cs typeface="Arial"/>
            </a:endParaRPr>
          </a:p>
          <a:p>
            <a:pPr marL="299085" marR="5080" indent="-287020">
              <a:lnSpc>
                <a:spcPct val="100000"/>
              </a:lnSpc>
              <a:spcBef>
                <a:spcPts val="480"/>
              </a:spcBef>
              <a:buFont typeface="Arial MT"/>
              <a:buChar char="–"/>
              <a:tabLst>
                <a:tab pos="299085" algn="l"/>
              </a:tabLst>
            </a:pPr>
            <a:r>
              <a:rPr sz="2000" i="1" dirty="0">
                <a:latin typeface="Arial"/>
                <a:cs typeface="Arial"/>
              </a:rPr>
              <a:t>The</a:t>
            </a:r>
            <a:r>
              <a:rPr sz="2000" i="1" spc="-3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step</a:t>
            </a:r>
            <a:r>
              <a:rPr sz="2000" i="1" spc="-2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count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of</a:t>
            </a:r>
            <a:r>
              <a:rPr sz="2000" i="1" spc="-3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3n+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o(n)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would</a:t>
            </a:r>
            <a:r>
              <a:rPr sz="2000" i="1" spc="-2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mean</a:t>
            </a:r>
            <a:r>
              <a:rPr sz="2000" i="1" spc="-1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that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the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step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count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is</a:t>
            </a:r>
            <a:r>
              <a:rPr sz="2000" i="1" spc="-15" dirty="0">
                <a:latin typeface="Arial"/>
                <a:cs typeface="Arial"/>
              </a:rPr>
              <a:t> </a:t>
            </a:r>
            <a:r>
              <a:rPr sz="2000" i="1" spc="-25" dirty="0">
                <a:latin typeface="Arial"/>
                <a:cs typeface="Arial"/>
              </a:rPr>
              <a:t>3n </a:t>
            </a:r>
            <a:r>
              <a:rPr sz="2000" i="1" dirty="0">
                <a:latin typeface="Arial"/>
                <a:cs typeface="Arial"/>
              </a:rPr>
              <a:t>plus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terms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that</a:t>
            </a:r>
            <a:r>
              <a:rPr sz="2000" i="1" spc="-5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are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asymptotically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smaller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than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i="1" spc="-25" dirty="0">
                <a:latin typeface="Arial"/>
                <a:cs typeface="Arial"/>
              </a:rPr>
              <a:t>n.</a:t>
            </a:r>
            <a:endParaRPr sz="2000">
              <a:latin typeface="Arial"/>
              <a:cs typeface="Arial"/>
            </a:endParaRPr>
          </a:p>
          <a:p>
            <a:pPr marL="299085" marR="213995" indent="-287020">
              <a:lnSpc>
                <a:spcPct val="100000"/>
              </a:lnSpc>
              <a:spcBef>
                <a:spcPts val="480"/>
              </a:spcBef>
              <a:buFont typeface="Arial MT"/>
              <a:buChar char="–"/>
              <a:tabLst>
                <a:tab pos="299085" algn="l"/>
              </a:tabLst>
            </a:pPr>
            <a:r>
              <a:rPr sz="2000" i="1" dirty="0">
                <a:latin typeface="Arial"/>
                <a:cs typeface="Arial"/>
              </a:rPr>
              <a:t>When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performing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such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an</a:t>
            </a:r>
            <a:r>
              <a:rPr sz="2000" i="1" spc="-2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analysis</a:t>
            </a:r>
            <a:r>
              <a:rPr sz="2000" i="1" spc="-3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,</a:t>
            </a:r>
            <a:r>
              <a:rPr sz="2000" i="1" spc="-1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one</a:t>
            </a:r>
            <a:r>
              <a:rPr sz="2000" i="1" spc="-2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can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ignore</a:t>
            </a:r>
            <a:r>
              <a:rPr sz="2000" i="1" spc="-2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portion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spc="-25" dirty="0">
                <a:latin typeface="Arial"/>
                <a:cs typeface="Arial"/>
              </a:rPr>
              <a:t>of </a:t>
            </a:r>
            <a:r>
              <a:rPr sz="2000" i="1" dirty="0">
                <a:latin typeface="Arial"/>
                <a:cs typeface="Arial"/>
              </a:rPr>
              <a:t>the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program</a:t>
            </a:r>
            <a:r>
              <a:rPr sz="2000" i="1" spc="-6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that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are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known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to</a:t>
            </a:r>
            <a:r>
              <a:rPr sz="2000" i="1" spc="-2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contribute</a:t>
            </a:r>
            <a:r>
              <a:rPr sz="2000" i="1" spc="-5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less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than</a:t>
            </a:r>
            <a:r>
              <a:rPr sz="2000" i="1" spc="-10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</a:t>
            </a:r>
            <a:r>
              <a:rPr sz="2000" dirty="0">
                <a:latin typeface="Arial MT"/>
                <a:cs typeface="Arial MT"/>
              </a:rPr>
              <a:t>(n)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steps.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56609" y="2488819"/>
            <a:ext cx="5257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6675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Lim </a:t>
            </a:r>
            <a:r>
              <a:rPr sz="1800" spc="-10" dirty="0">
                <a:latin typeface="Arial MT"/>
                <a:cs typeface="Arial MT"/>
              </a:rPr>
              <a:t>n-</a:t>
            </a:r>
            <a:r>
              <a:rPr sz="1800" spc="-25" dirty="0">
                <a:latin typeface="Arial MT"/>
                <a:cs typeface="Arial MT"/>
              </a:rPr>
              <a:t>&gt;∞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114800" y="2743200"/>
            <a:ext cx="685800" cy="0"/>
          </a:xfrm>
          <a:custGeom>
            <a:avLst/>
            <a:gdLst/>
            <a:ahLst/>
            <a:cxnLst/>
            <a:rect l="l" t="t" r="r" b="b"/>
            <a:pathLst>
              <a:path w="685800">
                <a:moveTo>
                  <a:pt x="0" y="0"/>
                </a:moveTo>
                <a:lnTo>
                  <a:pt x="68580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112514" y="2397378"/>
            <a:ext cx="5391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 MT"/>
                <a:cs typeface="Arial MT"/>
              </a:rPr>
              <a:t>3n+2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44975" y="2709798"/>
            <a:ext cx="2876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-16975" dirty="0">
                <a:latin typeface="Arial MT"/>
                <a:cs typeface="Arial MT"/>
              </a:rPr>
              <a:t>n</a:t>
            </a:r>
            <a:r>
              <a:rPr sz="1200" spc="-25" dirty="0">
                <a:latin typeface="Arial MT"/>
                <a:cs typeface="Arial MT"/>
              </a:rPr>
              <a:t>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21655" y="2549778"/>
            <a:ext cx="3498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= </a:t>
            </a:r>
            <a:r>
              <a:rPr sz="1800" spc="-50" dirty="0">
                <a:latin typeface="Arial MT"/>
                <a:cs typeface="Arial MT"/>
              </a:rPr>
              <a:t>0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9292" y="397510"/>
            <a:ext cx="56680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0" spc="-15" dirty="0">
                <a:solidFill>
                  <a:srgbClr val="000000"/>
                </a:solidFill>
                <a:latin typeface="Arial MT"/>
                <a:cs typeface="Arial MT"/>
              </a:rPr>
              <a:t>Big-</a:t>
            </a:r>
            <a:r>
              <a:rPr sz="2800" b="0" dirty="0">
                <a:solidFill>
                  <a:srgbClr val="000000"/>
                </a:solidFill>
                <a:latin typeface="Arial MT"/>
                <a:cs typeface="Arial MT"/>
              </a:rPr>
              <a:t>Oh,</a:t>
            </a:r>
            <a:r>
              <a:rPr sz="2800" b="0" spc="-6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 MT"/>
                <a:cs typeface="Arial MT"/>
              </a:rPr>
              <a:t>Theta,</a:t>
            </a:r>
            <a:r>
              <a:rPr sz="2800" b="0" spc="-6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 MT"/>
                <a:cs typeface="Arial MT"/>
              </a:rPr>
              <a:t>Omega</a:t>
            </a:r>
            <a:r>
              <a:rPr sz="2800" b="0" spc="-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 MT"/>
                <a:cs typeface="Arial MT"/>
              </a:rPr>
              <a:t>and</a:t>
            </a:r>
            <a:r>
              <a:rPr sz="2800" b="0" spc="-6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800" b="0" spc="-10" dirty="0">
                <a:solidFill>
                  <a:srgbClr val="000000"/>
                </a:solidFill>
                <a:latin typeface="Arial MT"/>
                <a:cs typeface="Arial MT"/>
              </a:rPr>
              <a:t>Little-</a:t>
            </a:r>
            <a:r>
              <a:rPr sz="2800" b="0" spc="-25" dirty="0">
                <a:solidFill>
                  <a:srgbClr val="000000"/>
                </a:solidFill>
                <a:latin typeface="Arial MT"/>
                <a:cs typeface="Arial MT"/>
              </a:rPr>
              <a:t>oh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8040" y="1125056"/>
            <a:ext cx="6942455" cy="499110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2800" dirty="0">
                <a:solidFill>
                  <a:srgbClr val="0000FF"/>
                </a:solidFill>
                <a:latin typeface="Arial MT"/>
                <a:cs typeface="Arial MT"/>
              </a:rPr>
              <a:t>Tips</a:t>
            </a:r>
            <a:r>
              <a:rPr sz="2800" spc="-4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800" spc="-50" dirty="0">
                <a:latin typeface="Arial MT"/>
                <a:cs typeface="Arial MT"/>
              </a:rPr>
              <a:t>:</a:t>
            </a:r>
            <a:endParaRPr sz="2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259"/>
              </a:spcBef>
              <a:buChar char="•"/>
              <a:tabLst>
                <a:tab pos="354965" algn="l"/>
              </a:tabLst>
            </a:pPr>
            <a:r>
              <a:rPr sz="2000" dirty="0">
                <a:latin typeface="Arial MT"/>
                <a:cs typeface="Arial MT"/>
              </a:rPr>
              <a:t>Think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FF"/>
                </a:solidFill>
                <a:latin typeface="Arial MT"/>
                <a:cs typeface="Arial MT"/>
              </a:rPr>
              <a:t>O(g(n))</a:t>
            </a:r>
            <a:r>
              <a:rPr sz="2000" spc="-5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“</a:t>
            </a:r>
            <a:r>
              <a:rPr sz="2000" dirty="0">
                <a:solidFill>
                  <a:srgbClr val="0000FF"/>
                </a:solidFill>
                <a:latin typeface="Arial MT"/>
                <a:cs typeface="Arial MT"/>
              </a:rPr>
              <a:t>less</a:t>
            </a:r>
            <a:r>
              <a:rPr sz="2000" spc="-3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FF"/>
                </a:solidFill>
                <a:latin typeface="Arial MT"/>
                <a:cs typeface="Arial MT"/>
              </a:rPr>
              <a:t>than</a:t>
            </a:r>
            <a:r>
              <a:rPr sz="2000" spc="-3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FF"/>
                </a:solidFill>
                <a:latin typeface="Arial MT"/>
                <a:cs typeface="Arial MT"/>
              </a:rPr>
              <a:t>or</a:t>
            </a:r>
            <a:r>
              <a:rPr sz="2000" spc="-2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FF"/>
                </a:solidFill>
                <a:latin typeface="Arial MT"/>
                <a:cs typeface="Arial MT"/>
              </a:rPr>
              <a:t>equal</a:t>
            </a:r>
            <a:r>
              <a:rPr sz="2000" spc="-3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FF"/>
                </a:solidFill>
                <a:latin typeface="Arial MT"/>
                <a:cs typeface="Arial MT"/>
              </a:rPr>
              <a:t>to</a:t>
            </a:r>
            <a:r>
              <a:rPr sz="2000" dirty="0">
                <a:latin typeface="Arial MT"/>
                <a:cs typeface="Arial MT"/>
              </a:rPr>
              <a:t>”</a:t>
            </a:r>
            <a:r>
              <a:rPr sz="2000" spc="-20" dirty="0">
                <a:latin typeface="Arial MT"/>
                <a:cs typeface="Arial MT"/>
              </a:rPr>
              <a:t> g(n)</a:t>
            </a:r>
            <a:endParaRPr sz="20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240"/>
              </a:spcBef>
              <a:buChar char="–"/>
              <a:tabLst>
                <a:tab pos="756285" algn="l"/>
              </a:tabLst>
            </a:pP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Upper</a:t>
            </a:r>
            <a:r>
              <a:rPr sz="2000" spc="-4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bound:</a:t>
            </a:r>
            <a:r>
              <a:rPr sz="2000" spc="-5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“grows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slower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same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rate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as”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g(n)</a:t>
            </a:r>
            <a:endParaRPr sz="20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580"/>
              </a:spcBef>
              <a:buFont typeface="Arial MT"/>
              <a:buChar char="–"/>
            </a:pP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000" dirty="0">
                <a:latin typeface="Arial MT"/>
                <a:cs typeface="Arial MT"/>
              </a:rPr>
              <a:t>Think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spc="-80" dirty="0">
                <a:solidFill>
                  <a:srgbClr val="0000FF"/>
                </a:solidFill>
                <a:latin typeface="Arial MT"/>
                <a:cs typeface="Arial MT"/>
              </a:rPr>
              <a:t>Ω(g(n))</a:t>
            </a:r>
            <a:r>
              <a:rPr sz="2000" spc="-4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“</a:t>
            </a:r>
            <a:r>
              <a:rPr sz="2000" dirty="0">
                <a:solidFill>
                  <a:srgbClr val="0000FF"/>
                </a:solidFill>
                <a:latin typeface="Arial MT"/>
                <a:cs typeface="Arial MT"/>
              </a:rPr>
              <a:t>greater</a:t>
            </a:r>
            <a:r>
              <a:rPr sz="2000" spc="-5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FF"/>
                </a:solidFill>
                <a:latin typeface="Arial MT"/>
                <a:cs typeface="Arial MT"/>
              </a:rPr>
              <a:t>than</a:t>
            </a:r>
            <a:r>
              <a:rPr sz="2000" spc="-3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FF"/>
                </a:solidFill>
                <a:latin typeface="Arial MT"/>
                <a:cs typeface="Arial MT"/>
              </a:rPr>
              <a:t>or</a:t>
            </a:r>
            <a:r>
              <a:rPr sz="2000" spc="-2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FF"/>
                </a:solidFill>
                <a:latin typeface="Arial MT"/>
                <a:cs typeface="Arial MT"/>
              </a:rPr>
              <a:t>equal</a:t>
            </a:r>
            <a:r>
              <a:rPr sz="2000" spc="-2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FF"/>
                </a:solidFill>
                <a:latin typeface="Arial MT"/>
                <a:cs typeface="Arial MT"/>
              </a:rPr>
              <a:t>to</a:t>
            </a:r>
            <a:r>
              <a:rPr sz="2000" dirty="0">
                <a:latin typeface="Arial MT"/>
                <a:cs typeface="Arial MT"/>
              </a:rPr>
              <a:t>”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g(n)</a:t>
            </a:r>
            <a:endParaRPr sz="2000">
              <a:latin typeface="Arial MT"/>
              <a:cs typeface="Arial MT"/>
            </a:endParaRPr>
          </a:p>
          <a:p>
            <a:pPr marL="826135" lvl="1" indent="-356870">
              <a:lnSpc>
                <a:spcPct val="100000"/>
              </a:lnSpc>
              <a:spcBef>
                <a:spcPts val="240"/>
              </a:spcBef>
              <a:buClr>
                <a:srgbClr val="000000"/>
              </a:buClr>
              <a:buChar char="–"/>
              <a:tabLst>
                <a:tab pos="826135" algn="l"/>
              </a:tabLst>
            </a:pP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Lower</a:t>
            </a:r>
            <a:r>
              <a:rPr sz="2000" spc="-3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bound:</a:t>
            </a:r>
            <a:r>
              <a:rPr sz="2000" spc="-5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“grows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faster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same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rate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as”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g(n)</a:t>
            </a:r>
            <a:endParaRPr sz="20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580"/>
              </a:spcBef>
              <a:buFont typeface="Arial MT"/>
              <a:buChar char="–"/>
            </a:pP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Char char="•"/>
              <a:tabLst>
                <a:tab pos="354965" algn="l"/>
              </a:tabLst>
            </a:pPr>
            <a:r>
              <a:rPr sz="2000" dirty="0">
                <a:latin typeface="Arial MT"/>
                <a:cs typeface="Arial MT"/>
              </a:rPr>
              <a:t>Think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spc="-70" dirty="0">
                <a:solidFill>
                  <a:srgbClr val="0000FF"/>
                </a:solidFill>
                <a:latin typeface="Arial MT"/>
                <a:cs typeface="Arial MT"/>
              </a:rPr>
              <a:t>Θ(g(n))</a:t>
            </a:r>
            <a:r>
              <a:rPr sz="2000" spc="-4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“</a:t>
            </a:r>
            <a:r>
              <a:rPr sz="2000" dirty="0">
                <a:solidFill>
                  <a:srgbClr val="0000FF"/>
                </a:solidFill>
                <a:latin typeface="Arial MT"/>
                <a:cs typeface="Arial MT"/>
              </a:rPr>
              <a:t>equal</a:t>
            </a:r>
            <a:r>
              <a:rPr sz="2000" spc="-3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FF"/>
                </a:solidFill>
                <a:latin typeface="Arial MT"/>
                <a:cs typeface="Arial MT"/>
              </a:rPr>
              <a:t>to</a:t>
            </a:r>
            <a:r>
              <a:rPr sz="2000" dirty="0">
                <a:latin typeface="Arial MT"/>
                <a:cs typeface="Arial MT"/>
              </a:rPr>
              <a:t>”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g(n)</a:t>
            </a:r>
            <a:endParaRPr sz="20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240"/>
              </a:spcBef>
              <a:buChar char="–"/>
              <a:tabLst>
                <a:tab pos="756285" algn="l"/>
              </a:tabLst>
            </a:pP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“Tight”</a:t>
            </a:r>
            <a:r>
              <a:rPr sz="2000" spc="-5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bound:</a:t>
            </a:r>
            <a:r>
              <a:rPr sz="2000" spc="-6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same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growth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rate</a:t>
            </a:r>
            <a:endParaRPr sz="20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575"/>
              </a:spcBef>
              <a:buFont typeface="Arial MT"/>
              <a:buChar char="–"/>
            </a:pP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Char char="•"/>
              <a:tabLst>
                <a:tab pos="354965" algn="l"/>
              </a:tabLst>
            </a:pPr>
            <a:r>
              <a:rPr sz="2000" dirty="0">
                <a:latin typeface="Arial MT"/>
                <a:cs typeface="Arial MT"/>
              </a:rPr>
              <a:t>Think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FF"/>
                </a:solidFill>
                <a:latin typeface="Arial MT"/>
                <a:cs typeface="Arial MT"/>
              </a:rPr>
              <a:t>o(g(n))</a:t>
            </a:r>
            <a:r>
              <a:rPr sz="2000" spc="-5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“</a:t>
            </a:r>
            <a:r>
              <a:rPr sz="2000" dirty="0">
                <a:solidFill>
                  <a:srgbClr val="0000FF"/>
                </a:solidFill>
                <a:latin typeface="Arial MT"/>
                <a:cs typeface="Arial MT"/>
              </a:rPr>
              <a:t>less</a:t>
            </a:r>
            <a:r>
              <a:rPr sz="2000" spc="-3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FF"/>
                </a:solidFill>
                <a:latin typeface="Arial MT"/>
                <a:cs typeface="Arial MT"/>
              </a:rPr>
              <a:t>than</a:t>
            </a:r>
            <a:r>
              <a:rPr sz="2000" spc="-2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FF"/>
                </a:solidFill>
                <a:latin typeface="Arial MT"/>
                <a:cs typeface="Arial MT"/>
              </a:rPr>
              <a:t>to</a:t>
            </a:r>
            <a:r>
              <a:rPr sz="2000" dirty="0">
                <a:latin typeface="Arial MT"/>
                <a:cs typeface="Arial MT"/>
              </a:rPr>
              <a:t>”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g(n)</a:t>
            </a:r>
            <a:endParaRPr sz="20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240"/>
              </a:spcBef>
              <a:buChar char="–"/>
              <a:tabLst>
                <a:tab pos="756285" algn="l"/>
              </a:tabLst>
            </a:pP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Strict</a:t>
            </a:r>
            <a:r>
              <a:rPr sz="2000" spc="-3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Upper</a:t>
            </a:r>
            <a:r>
              <a:rPr sz="2000" spc="-2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bound:</a:t>
            </a:r>
            <a:r>
              <a:rPr sz="2000" spc="-4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“grows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slower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”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g(n)</a:t>
            </a:r>
            <a:endParaRPr sz="20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655"/>
              </a:spcBef>
              <a:buFont typeface="Arial MT"/>
              <a:buChar char="–"/>
            </a:pP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800" dirty="0">
                <a:latin typeface="Arial MT"/>
                <a:cs typeface="Arial MT"/>
              </a:rPr>
              <a:t>(</a:t>
            </a:r>
            <a:r>
              <a:rPr sz="2800" i="1" dirty="0">
                <a:latin typeface="Arial"/>
                <a:cs typeface="Arial"/>
              </a:rPr>
              <a:t>True</a:t>
            </a:r>
            <a:r>
              <a:rPr sz="2800" i="1" spc="-45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for</a:t>
            </a:r>
            <a:r>
              <a:rPr sz="2800" i="1" spc="-60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large</a:t>
            </a:r>
            <a:r>
              <a:rPr sz="2800" i="1" spc="-45" dirty="0">
                <a:latin typeface="Arial"/>
                <a:cs typeface="Arial"/>
              </a:rPr>
              <a:t> </a:t>
            </a:r>
            <a:r>
              <a:rPr sz="2800" i="1" spc="-25" dirty="0">
                <a:latin typeface="Arial"/>
                <a:cs typeface="Arial"/>
              </a:rPr>
              <a:t>N</a:t>
            </a:r>
            <a:r>
              <a:rPr sz="2800" spc="-25" dirty="0">
                <a:latin typeface="Arial MT"/>
                <a:cs typeface="Arial MT"/>
              </a:rPr>
              <a:t>)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943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0" dirty="0">
                <a:solidFill>
                  <a:srgbClr val="DD0011"/>
                </a:solidFill>
                <a:latin typeface="Arial MT"/>
                <a:cs typeface="Arial MT"/>
              </a:rPr>
              <a:t>Functions</a:t>
            </a:r>
            <a:r>
              <a:rPr sz="2800" b="0" spc="-80" dirty="0">
                <a:solidFill>
                  <a:srgbClr val="DD0011"/>
                </a:solidFill>
                <a:latin typeface="Arial MT"/>
                <a:cs typeface="Arial MT"/>
              </a:rPr>
              <a:t> </a:t>
            </a:r>
            <a:r>
              <a:rPr sz="2800" b="0" dirty="0">
                <a:solidFill>
                  <a:srgbClr val="DD0011"/>
                </a:solidFill>
                <a:latin typeface="Arial MT"/>
                <a:cs typeface="Arial MT"/>
              </a:rPr>
              <a:t>ordered</a:t>
            </a:r>
            <a:r>
              <a:rPr sz="2800" b="0" spc="-70" dirty="0">
                <a:solidFill>
                  <a:srgbClr val="DD0011"/>
                </a:solidFill>
                <a:latin typeface="Arial MT"/>
                <a:cs typeface="Arial MT"/>
              </a:rPr>
              <a:t> </a:t>
            </a:r>
            <a:r>
              <a:rPr sz="2800" b="0" dirty="0">
                <a:solidFill>
                  <a:srgbClr val="DD0011"/>
                </a:solidFill>
                <a:latin typeface="Arial MT"/>
                <a:cs typeface="Arial MT"/>
              </a:rPr>
              <a:t>by</a:t>
            </a:r>
            <a:r>
              <a:rPr sz="2800" b="0" spc="-85" dirty="0">
                <a:solidFill>
                  <a:srgbClr val="DD0011"/>
                </a:solidFill>
                <a:latin typeface="Arial MT"/>
                <a:cs typeface="Arial MT"/>
              </a:rPr>
              <a:t> </a:t>
            </a:r>
            <a:r>
              <a:rPr sz="2800" b="0" dirty="0">
                <a:solidFill>
                  <a:srgbClr val="DD0011"/>
                </a:solidFill>
                <a:latin typeface="Arial MT"/>
                <a:cs typeface="Arial MT"/>
              </a:rPr>
              <a:t>growth</a:t>
            </a:r>
            <a:r>
              <a:rPr sz="2800" b="0" spc="-70" dirty="0">
                <a:solidFill>
                  <a:srgbClr val="DD0011"/>
                </a:solidFill>
                <a:latin typeface="Arial MT"/>
                <a:cs typeface="Arial MT"/>
              </a:rPr>
              <a:t> </a:t>
            </a:r>
            <a:r>
              <a:rPr sz="2800" b="0" spc="-20" dirty="0">
                <a:solidFill>
                  <a:srgbClr val="DD0011"/>
                </a:solidFill>
                <a:latin typeface="Arial MT"/>
                <a:cs typeface="Arial MT"/>
              </a:rPr>
              <a:t>rate</a:t>
            </a:r>
            <a:endParaRPr sz="2800">
              <a:latin typeface="Arial MT"/>
              <a:cs typeface="Arial MT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42912" y="1585912"/>
          <a:ext cx="8229600" cy="3200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6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Function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b="1" spc="-20" dirty="0">
                          <a:latin typeface="Arial"/>
                          <a:cs typeface="Arial"/>
                        </a:rPr>
                        <a:t>Name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50" dirty="0">
                          <a:latin typeface="Arial MT"/>
                          <a:cs typeface="Arial MT"/>
                        </a:rPr>
                        <a:t>1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Growth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is</a:t>
                      </a:r>
                      <a:r>
                        <a:rPr sz="16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solidFill>
                            <a:srgbClr val="FF3399"/>
                          </a:solidFill>
                          <a:latin typeface="Arial MT"/>
                          <a:cs typeface="Arial MT"/>
                        </a:rPr>
                        <a:t>constant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20" dirty="0">
                          <a:latin typeface="Arial MT"/>
                          <a:cs typeface="Arial MT"/>
                        </a:rPr>
                        <a:t>logn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Growth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is</a:t>
                      </a:r>
                      <a:r>
                        <a:rPr sz="16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solidFill>
                            <a:srgbClr val="FF3399"/>
                          </a:solidFill>
                          <a:latin typeface="Arial MT"/>
                          <a:cs typeface="Arial MT"/>
                        </a:rPr>
                        <a:t>logarithmic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0" dirty="0">
                          <a:latin typeface="Arial MT"/>
                          <a:cs typeface="Arial MT"/>
                        </a:rPr>
                        <a:t>n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Growth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is</a:t>
                      </a:r>
                      <a:r>
                        <a:rPr sz="16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solidFill>
                            <a:srgbClr val="FF3399"/>
                          </a:solidFill>
                          <a:latin typeface="Arial MT"/>
                          <a:cs typeface="Arial MT"/>
                        </a:rPr>
                        <a:t>linear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nlogn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Growth</a:t>
                      </a:r>
                      <a:r>
                        <a:rPr sz="16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is</a:t>
                      </a:r>
                      <a:r>
                        <a:rPr sz="16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solidFill>
                            <a:srgbClr val="FF3399"/>
                          </a:solidFill>
                          <a:latin typeface="Arial MT"/>
                          <a:cs typeface="Arial MT"/>
                        </a:rPr>
                        <a:t>n-log-</a:t>
                      </a:r>
                      <a:r>
                        <a:rPr sz="1600" spc="-50" dirty="0">
                          <a:solidFill>
                            <a:srgbClr val="FF3399"/>
                          </a:solidFill>
                          <a:latin typeface="Arial MT"/>
                          <a:cs typeface="Arial MT"/>
                        </a:rPr>
                        <a:t>n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91440">
                        <a:lnSpc>
                          <a:spcPts val="1764"/>
                        </a:lnSpc>
                      </a:pPr>
                      <a:r>
                        <a:rPr sz="2400" spc="-37" baseline="-17361" dirty="0">
                          <a:latin typeface="Arial MT"/>
                          <a:cs typeface="Arial MT"/>
                        </a:rPr>
                        <a:t>n</a:t>
                      </a:r>
                      <a:r>
                        <a:rPr sz="1050" spc="-25" dirty="0">
                          <a:latin typeface="Arial MT"/>
                          <a:cs typeface="Arial MT"/>
                        </a:rPr>
                        <a:t>2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Growth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is</a:t>
                      </a:r>
                      <a:r>
                        <a:rPr sz="16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solidFill>
                            <a:srgbClr val="FF3399"/>
                          </a:solidFill>
                          <a:latin typeface="Arial MT"/>
                          <a:cs typeface="Arial MT"/>
                        </a:rPr>
                        <a:t>quadratic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91440">
                        <a:lnSpc>
                          <a:spcPts val="1764"/>
                        </a:lnSpc>
                      </a:pPr>
                      <a:r>
                        <a:rPr sz="2400" spc="-37" baseline="-17361" dirty="0">
                          <a:latin typeface="Arial MT"/>
                          <a:cs typeface="Arial MT"/>
                        </a:rPr>
                        <a:t>n</a:t>
                      </a:r>
                      <a:r>
                        <a:rPr sz="1050" spc="-25" dirty="0">
                          <a:latin typeface="Arial MT"/>
                          <a:cs typeface="Arial MT"/>
                        </a:rPr>
                        <a:t>3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Growth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is</a:t>
                      </a:r>
                      <a:r>
                        <a:rPr sz="16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0" dirty="0">
                          <a:solidFill>
                            <a:srgbClr val="FF3399"/>
                          </a:solidFill>
                          <a:latin typeface="Arial MT"/>
                          <a:cs typeface="Arial MT"/>
                        </a:rPr>
                        <a:t>cubic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91440">
                        <a:lnSpc>
                          <a:spcPts val="1764"/>
                        </a:lnSpc>
                      </a:pPr>
                      <a:r>
                        <a:rPr sz="2400" spc="-37" baseline="-17361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1050" spc="-25" dirty="0">
                          <a:latin typeface="Arial MT"/>
                          <a:cs typeface="Arial MT"/>
                        </a:rPr>
                        <a:t>n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Growth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is</a:t>
                      </a:r>
                      <a:r>
                        <a:rPr sz="16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solidFill>
                            <a:srgbClr val="FF3399"/>
                          </a:solidFill>
                          <a:latin typeface="Arial MT"/>
                          <a:cs typeface="Arial MT"/>
                        </a:rPr>
                        <a:t>exponential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5" dirty="0">
                          <a:latin typeface="Arial MT"/>
                          <a:cs typeface="Arial MT"/>
                        </a:rPr>
                        <a:t>n!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Growth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is</a:t>
                      </a:r>
                      <a:r>
                        <a:rPr sz="16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solidFill>
                            <a:srgbClr val="FF3399"/>
                          </a:solidFill>
                          <a:latin typeface="Arial MT"/>
                          <a:cs typeface="Arial MT"/>
                        </a:rPr>
                        <a:t>factorial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586740" y="5522163"/>
            <a:ext cx="390715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1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&lt;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logn &lt;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&lt;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nlogn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&lt;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</a:t>
            </a:r>
            <a:r>
              <a:rPr sz="1800" baseline="25462" dirty="0">
                <a:latin typeface="Arial MT"/>
                <a:cs typeface="Arial MT"/>
              </a:rPr>
              <a:t>2 </a:t>
            </a:r>
            <a:r>
              <a:rPr sz="1800" dirty="0">
                <a:latin typeface="Arial MT"/>
                <a:cs typeface="Arial MT"/>
              </a:rPr>
              <a:t>&lt;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</a:t>
            </a:r>
            <a:r>
              <a:rPr sz="1800" baseline="25462" dirty="0">
                <a:latin typeface="Arial MT"/>
                <a:cs typeface="Arial MT"/>
              </a:rPr>
              <a:t>3 </a:t>
            </a:r>
            <a:r>
              <a:rPr sz="1800" dirty="0">
                <a:latin typeface="Arial MT"/>
                <a:cs typeface="Arial MT"/>
              </a:rPr>
              <a:t>&lt;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2</a:t>
            </a:r>
            <a:r>
              <a:rPr sz="1800" baseline="25462" dirty="0">
                <a:latin typeface="Arial MT"/>
                <a:cs typeface="Arial MT"/>
              </a:rPr>
              <a:t>n</a:t>
            </a:r>
            <a:r>
              <a:rPr sz="1800" spc="-15" baseline="25462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&lt; </a:t>
            </a:r>
            <a:r>
              <a:rPr sz="1800" spc="-25" dirty="0">
                <a:latin typeface="Arial MT"/>
                <a:cs typeface="Arial MT"/>
              </a:rPr>
              <a:t>n!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9968" y="1100454"/>
            <a:ext cx="8125459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Arial MT"/>
                <a:cs typeface="Arial MT"/>
              </a:rPr>
              <a:t>–</a:t>
            </a:r>
            <a:r>
              <a:rPr sz="2800" spc="-1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get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feel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how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various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functions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grow </a:t>
            </a:r>
            <a:r>
              <a:rPr sz="2800" dirty="0">
                <a:latin typeface="Arial MT"/>
                <a:cs typeface="Arial MT"/>
              </a:rPr>
              <a:t>with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n,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you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are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advised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study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following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figs: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138427" y="2281427"/>
            <a:ext cx="6791325" cy="3352800"/>
            <a:chOff x="1138427" y="2281427"/>
            <a:chExt cx="6791325" cy="33528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21542" y="2354681"/>
              <a:ext cx="6491439" cy="327954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42999" y="2285999"/>
              <a:ext cx="6781800" cy="152400"/>
            </a:xfrm>
            <a:custGeom>
              <a:avLst/>
              <a:gdLst/>
              <a:ahLst/>
              <a:cxnLst/>
              <a:rect l="l" t="t" r="r" b="b"/>
              <a:pathLst>
                <a:path w="6781800" h="152400">
                  <a:moveTo>
                    <a:pt x="67818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6781800" y="152400"/>
                  </a:lnTo>
                  <a:lnTo>
                    <a:pt x="6781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42999" y="2285999"/>
              <a:ext cx="6781800" cy="152400"/>
            </a:xfrm>
            <a:custGeom>
              <a:avLst/>
              <a:gdLst/>
              <a:ahLst/>
              <a:cxnLst/>
              <a:rect l="l" t="t" r="r" b="b"/>
              <a:pathLst>
                <a:path w="6781800" h="152400">
                  <a:moveTo>
                    <a:pt x="0" y="152400"/>
                  </a:moveTo>
                  <a:lnTo>
                    <a:pt x="6781800" y="152400"/>
                  </a:lnTo>
                  <a:lnTo>
                    <a:pt x="67818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905000" y="54102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905000" y="54102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19199" y="5257800"/>
              <a:ext cx="6553200" cy="152400"/>
            </a:xfrm>
            <a:custGeom>
              <a:avLst/>
              <a:gdLst/>
              <a:ahLst/>
              <a:cxnLst/>
              <a:rect l="l" t="t" r="r" b="b"/>
              <a:pathLst>
                <a:path w="6553200" h="152400">
                  <a:moveTo>
                    <a:pt x="65532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6553200" y="152400"/>
                  </a:lnTo>
                  <a:lnTo>
                    <a:pt x="6553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219199" y="5257800"/>
              <a:ext cx="6553200" cy="152400"/>
            </a:xfrm>
            <a:custGeom>
              <a:avLst/>
              <a:gdLst/>
              <a:ahLst/>
              <a:cxnLst/>
              <a:rect l="l" t="t" r="r" b="b"/>
              <a:pathLst>
                <a:path w="6553200" h="152400">
                  <a:moveTo>
                    <a:pt x="0" y="152400"/>
                  </a:moveTo>
                  <a:lnTo>
                    <a:pt x="6553200" y="152400"/>
                  </a:lnTo>
                  <a:lnTo>
                    <a:pt x="65532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47837" y="452437"/>
            <a:ext cx="5669915" cy="5977890"/>
            <a:chOff x="1747837" y="452437"/>
            <a:chExt cx="5669915" cy="59778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64354" y="744717"/>
              <a:ext cx="5552953" cy="568554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752600" y="457200"/>
              <a:ext cx="5638800" cy="381000"/>
            </a:xfrm>
            <a:custGeom>
              <a:avLst/>
              <a:gdLst/>
              <a:ahLst/>
              <a:cxnLst/>
              <a:rect l="l" t="t" r="r" b="b"/>
              <a:pathLst>
                <a:path w="5638800" h="381000">
                  <a:moveTo>
                    <a:pt x="563880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5638800" y="381000"/>
                  </a:lnTo>
                  <a:lnTo>
                    <a:pt x="5638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752600" y="457200"/>
              <a:ext cx="5638800" cy="381000"/>
            </a:xfrm>
            <a:custGeom>
              <a:avLst/>
              <a:gdLst/>
              <a:ahLst/>
              <a:cxnLst/>
              <a:rect l="l" t="t" r="r" b="b"/>
              <a:pathLst>
                <a:path w="5638800" h="381000">
                  <a:moveTo>
                    <a:pt x="0" y="381000"/>
                  </a:moveTo>
                  <a:lnTo>
                    <a:pt x="5638800" y="381000"/>
                  </a:lnTo>
                  <a:lnTo>
                    <a:pt x="5638800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86000" y="6248400"/>
              <a:ext cx="228600" cy="152400"/>
            </a:xfrm>
            <a:custGeom>
              <a:avLst/>
              <a:gdLst/>
              <a:ahLst/>
              <a:cxnLst/>
              <a:rect l="l" t="t" r="r" b="b"/>
              <a:pathLst>
                <a:path w="228600" h="152400">
                  <a:moveTo>
                    <a:pt x="2286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228600" y="1524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86000" y="6248400"/>
              <a:ext cx="228600" cy="152400"/>
            </a:xfrm>
            <a:custGeom>
              <a:avLst/>
              <a:gdLst/>
              <a:ahLst/>
              <a:cxnLst/>
              <a:rect l="l" t="t" r="r" b="b"/>
              <a:pathLst>
                <a:path w="228600" h="152400">
                  <a:moveTo>
                    <a:pt x="0" y="152400"/>
                  </a:moveTo>
                  <a:lnTo>
                    <a:pt x="228600" y="1524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345817" y="621710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Arial MT"/>
                <a:cs typeface="Arial MT"/>
              </a:rPr>
              <a:t>2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824227" y="6015228"/>
            <a:ext cx="5572125" cy="238125"/>
            <a:chOff x="1824227" y="6015228"/>
            <a:chExt cx="5572125" cy="238125"/>
          </a:xfrm>
        </p:grpSpPr>
        <p:sp>
          <p:nvSpPr>
            <p:cNvPr id="10" name="object 10"/>
            <p:cNvSpPr/>
            <p:nvPr/>
          </p:nvSpPr>
          <p:spPr>
            <a:xfrm>
              <a:off x="1828799" y="6019800"/>
              <a:ext cx="5562600" cy="228600"/>
            </a:xfrm>
            <a:custGeom>
              <a:avLst/>
              <a:gdLst/>
              <a:ahLst/>
              <a:cxnLst/>
              <a:rect l="l" t="t" r="r" b="b"/>
              <a:pathLst>
                <a:path w="5562600" h="228600">
                  <a:moveTo>
                    <a:pt x="5562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5562600" y="228600"/>
                  </a:lnTo>
                  <a:lnTo>
                    <a:pt x="5562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828799" y="6019800"/>
              <a:ext cx="5562600" cy="228600"/>
            </a:xfrm>
            <a:custGeom>
              <a:avLst/>
              <a:gdLst/>
              <a:ahLst/>
              <a:cxnLst/>
              <a:rect l="l" t="t" r="r" b="b"/>
              <a:pathLst>
                <a:path w="5562600" h="228600">
                  <a:moveTo>
                    <a:pt x="0" y="228600"/>
                  </a:moveTo>
                  <a:lnTo>
                    <a:pt x="5562600" y="228600"/>
                  </a:lnTo>
                  <a:lnTo>
                    <a:pt x="5562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6021" y="1828800"/>
            <a:ext cx="7906854" cy="424891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90168" y="898652"/>
            <a:ext cx="7416165" cy="105029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54965" marR="5080" indent="-342900">
              <a:lnSpc>
                <a:spcPct val="90000"/>
              </a:lnSpc>
              <a:spcBef>
                <a:spcPts val="385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following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fig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gives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time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needed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billion </a:t>
            </a:r>
            <a:r>
              <a:rPr sz="2400" dirty="0">
                <a:latin typeface="Arial MT"/>
                <a:cs typeface="Arial MT"/>
              </a:rPr>
              <a:t>instructions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second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computer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execute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a </a:t>
            </a:r>
            <a:r>
              <a:rPr sz="2400" dirty="0">
                <a:latin typeface="Arial MT"/>
                <a:cs typeface="Arial MT"/>
              </a:rPr>
              <a:t>program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complexity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f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i="1" dirty="0">
                <a:latin typeface="Arial"/>
                <a:cs typeface="Arial"/>
              </a:rPr>
              <a:t>n</a:t>
            </a:r>
            <a:r>
              <a:rPr sz="2400" dirty="0">
                <a:latin typeface="Arial MT"/>
                <a:cs typeface="Arial MT"/>
              </a:rPr>
              <a:t>)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instructions.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05027" y="1748027"/>
            <a:ext cx="8086725" cy="4352925"/>
            <a:chOff x="605027" y="1748027"/>
            <a:chExt cx="8086725" cy="4352925"/>
          </a:xfrm>
        </p:grpSpPr>
        <p:sp>
          <p:nvSpPr>
            <p:cNvPr id="5" name="object 5"/>
            <p:cNvSpPr/>
            <p:nvPr/>
          </p:nvSpPr>
          <p:spPr>
            <a:xfrm>
              <a:off x="8305799" y="1752599"/>
              <a:ext cx="381000" cy="4343400"/>
            </a:xfrm>
            <a:custGeom>
              <a:avLst/>
              <a:gdLst/>
              <a:ahLst/>
              <a:cxnLst/>
              <a:rect l="l" t="t" r="r" b="b"/>
              <a:pathLst>
                <a:path w="381000" h="4343400">
                  <a:moveTo>
                    <a:pt x="381000" y="0"/>
                  </a:moveTo>
                  <a:lnTo>
                    <a:pt x="0" y="0"/>
                  </a:lnTo>
                  <a:lnTo>
                    <a:pt x="0" y="4343400"/>
                  </a:lnTo>
                  <a:lnTo>
                    <a:pt x="381000" y="434340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305799" y="1752599"/>
              <a:ext cx="381000" cy="4343400"/>
            </a:xfrm>
            <a:custGeom>
              <a:avLst/>
              <a:gdLst/>
              <a:ahLst/>
              <a:cxnLst/>
              <a:rect l="l" t="t" r="r" b="b"/>
              <a:pathLst>
                <a:path w="381000" h="4343400">
                  <a:moveTo>
                    <a:pt x="0" y="4343400"/>
                  </a:moveTo>
                  <a:lnTo>
                    <a:pt x="381000" y="434340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4343400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38200" y="1828799"/>
              <a:ext cx="76200" cy="4267200"/>
            </a:xfrm>
            <a:custGeom>
              <a:avLst/>
              <a:gdLst/>
              <a:ahLst/>
              <a:cxnLst/>
              <a:rect l="l" t="t" r="r" b="b"/>
              <a:pathLst>
                <a:path w="76200" h="4267200">
                  <a:moveTo>
                    <a:pt x="76200" y="0"/>
                  </a:moveTo>
                  <a:lnTo>
                    <a:pt x="0" y="0"/>
                  </a:lnTo>
                  <a:lnTo>
                    <a:pt x="0" y="4267200"/>
                  </a:lnTo>
                  <a:lnTo>
                    <a:pt x="76200" y="4267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38200" y="1828799"/>
              <a:ext cx="76200" cy="4267200"/>
            </a:xfrm>
            <a:custGeom>
              <a:avLst/>
              <a:gdLst/>
              <a:ahLst/>
              <a:cxnLst/>
              <a:rect l="l" t="t" r="r" b="b"/>
              <a:pathLst>
                <a:path w="76200" h="4267200">
                  <a:moveTo>
                    <a:pt x="0" y="4267200"/>
                  </a:moveTo>
                  <a:lnTo>
                    <a:pt x="76200" y="4267200"/>
                  </a:lnTo>
                  <a:lnTo>
                    <a:pt x="76200" y="0"/>
                  </a:lnTo>
                  <a:lnTo>
                    <a:pt x="0" y="0"/>
                  </a:lnTo>
                  <a:lnTo>
                    <a:pt x="0" y="4267200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9599" y="1752599"/>
              <a:ext cx="228600" cy="304800"/>
            </a:xfrm>
            <a:custGeom>
              <a:avLst/>
              <a:gdLst/>
              <a:ahLst/>
              <a:cxnLst/>
              <a:rect l="l" t="t" r="r" b="b"/>
              <a:pathLst>
                <a:path w="228600" h="304800">
                  <a:moveTo>
                    <a:pt x="2286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228600" y="3048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09599" y="1752599"/>
              <a:ext cx="228600" cy="304800"/>
            </a:xfrm>
            <a:custGeom>
              <a:avLst/>
              <a:gdLst/>
              <a:ahLst/>
              <a:cxnLst/>
              <a:rect l="l" t="t" r="r" b="b"/>
              <a:pathLst>
                <a:path w="228600" h="304800">
                  <a:moveTo>
                    <a:pt x="0" y="304800"/>
                  </a:moveTo>
                  <a:lnTo>
                    <a:pt x="228600" y="3048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528355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3292" y="3028010"/>
            <a:ext cx="52152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solidFill>
                  <a:srgbClr val="000000"/>
                </a:solidFill>
                <a:latin typeface="Arial MT"/>
                <a:cs typeface="Arial MT"/>
              </a:rPr>
              <a:t>Probabilistic</a:t>
            </a:r>
            <a:r>
              <a:rPr sz="4400" b="0" spc="-10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4400" b="0" spc="-10" dirty="0">
                <a:solidFill>
                  <a:srgbClr val="000000"/>
                </a:solidFill>
                <a:latin typeface="Arial MT"/>
                <a:cs typeface="Arial MT"/>
              </a:rPr>
              <a:t>analysis</a:t>
            </a:r>
            <a:endParaRPr sz="4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0745" y="483234"/>
            <a:ext cx="484314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solidFill>
                  <a:srgbClr val="000000"/>
                </a:solidFill>
                <a:latin typeface="Arial MT"/>
                <a:cs typeface="Arial MT"/>
              </a:rPr>
              <a:t>The</a:t>
            </a:r>
            <a:r>
              <a:rPr sz="4400" b="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4400" b="0" dirty="0">
                <a:solidFill>
                  <a:srgbClr val="000000"/>
                </a:solidFill>
                <a:latin typeface="Arial MT"/>
                <a:cs typeface="Arial MT"/>
              </a:rPr>
              <a:t>Hiring</a:t>
            </a:r>
            <a:r>
              <a:rPr sz="4400" b="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4400" b="0" spc="-10" dirty="0">
                <a:solidFill>
                  <a:srgbClr val="000000"/>
                </a:solidFill>
                <a:latin typeface="Arial MT"/>
                <a:cs typeface="Arial MT"/>
              </a:rPr>
              <a:t>Problem</a:t>
            </a:r>
            <a:endParaRPr sz="4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0840" y="1260703"/>
            <a:ext cx="8140065" cy="386651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65125" indent="-339725" algn="just">
              <a:lnSpc>
                <a:spcPct val="100000"/>
              </a:lnSpc>
              <a:spcBef>
                <a:spcPts val="340"/>
              </a:spcBef>
              <a:buChar char="•"/>
              <a:tabLst>
                <a:tab pos="365125" algn="l"/>
              </a:tabLst>
            </a:pPr>
            <a:r>
              <a:rPr sz="2000" dirty="0">
                <a:latin typeface="Arial MT"/>
                <a:cs typeface="Arial MT"/>
              </a:rPr>
              <a:t>You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using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employment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agency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hire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new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assistant.</a:t>
            </a:r>
            <a:endParaRPr sz="2000">
              <a:latin typeface="Arial MT"/>
              <a:cs typeface="Arial MT"/>
            </a:endParaRPr>
          </a:p>
          <a:p>
            <a:pPr marL="365125" indent="-339725" algn="just">
              <a:lnSpc>
                <a:spcPct val="100000"/>
              </a:lnSpc>
              <a:spcBef>
                <a:spcPts val="240"/>
              </a:spcBef>
              <a:buChar char="•"/>
              <a:tabLst>
                <a:tab pos="365125" algn="l"/>
              </a:tabLst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agency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sends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you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candidate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each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day.</a:t>
            </a:r>
            <a:endParaRPr sz="2000">
              <a:latin typeface="Arial MT"/>
              <a:cs typeface="Arial MT"/>
            </a:endParaRPr>
          </a:p>
          <a:p>
            <a:pPr marL="364490" marR="17780" indent="-339090" algn="just">
              <a:lnSpc>
                <a:spcPct val="90100"/>
              </a:lnSpc>
              <a:spcBef>
                <a:spcPts val="475"/>
              </a:spcBef>
              <a:buChar char="•"/>
              <a:tabLst>
                <a:tab pos="368300" algn="l"/>
              </a:tabLst>
            </a:pPr>
            <a:r>
              <a:rPr sz="2000" dirty="0">
                <a:latin typeface="Arial MT"/>
                <a:cs typeface="Arial MT"/>
              </a:rPr>
              <a:t>You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interview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candidate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must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immediately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decide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whether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or 	</a:t>
            </a:r>
            <a:r>
              <a:rPr sz="2000" dirty="0">
                <a:latin typeface="Arial MT"/>
                <a:cs typeface="Arial MT"/>
              </a:rPr>
              <a:t>not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hire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person.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But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if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you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hire,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you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must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also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fire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your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current 	</a:t>
            </a:r>
            <a:r>
              <a:rPr sz="2000" dirty="0">
                <a:latin typeface="Arial MT"/>
                <a:cs typeface="Arial MT"/>
              </a:rPr>
              <a:t>office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assistant—</a:t>
            </a:r>
            <a:r>
              <a:rPr sz="2000" dirty="0">
                <a:latin typeface="Arial MT"/>
                <a:cs typeface="Arial MT"/>
              </a:rPr>
              <a:t>even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if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it’s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someone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you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have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recently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hired.</a:t>
            </a:r>
            <a:endParaRPr sz="2000">
              <a:latin typeface="Arial MT"/>
              <a:cs typeface="Arial MT"/>
            </a:endParaRPr>
          </a:p>
          <a:p>
            <a:pPr marL="367665" indent="-342265">
              <a:lnSpc>
                <a:spcPct val="100000"/>
              </a:lnSpc>
              <a:spcBef>
                <a:spcPts val="240"/>
              </a:spcBef>
              <a:buChar char="•"/>
              <a:tabLst>
                <a:tab pos="367665" algn="l"/>
              </a:tabLst>
            </a:pPr>
            <a:r>
              <a:rPr sz="2000" dirty="0">
                <a:solidFill>
                  <a:srgbClr val="CC0000"/>
                </a:solidFill>
                <a:latin typeface="Arial MT"/>
                <a:cs typeface="Arial MT"/>
              </a:rPr>
              <a:t>Cost</a:t>
            </a:r>
            <a:r>
              <a:rPr sz="2000" spc="-30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CC0000"/>
                </a:solidFill>
                <a:latin typeface="Arial MT"/>
                <a:cs typeface="Arial MT"/>
              </a:rPr>
              <a:t>to</a:t>
            </a:r>
            <a:r>
              <a:rPr sz="2000" spc="-35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CC0000"/>
                </a:solidFill>
                <a:latin typeface="Arial MT"/>
                <a:cs typeface="Arial MT"/>
              </a:rPr>
              <a:t>interview</a:t>
            </a:r>
            <a:r>
              <a:rPr sz="2000" spc="-25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CC0000"/>
                </a:solidFill>
                <a:latin typeface="Arial MT"/>
                <a:cs typeface="Arial MT"/>
              </a:rPr>
              <a:t>is</a:t>
            </a:r>
            <a:r>
              <a:rPr sz="2000" spc="-10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2000" i="1" dirty="0">
                <a:solidFill>
                  <a:srgbClr val="009999"/>
                </a:solidFill>
                <a:latin typeface="Arial"/>
                <a:cs typeface="Arial"/>
              </a:rPr>
              <a:t>c</a:t>
            </a:r>
            <a:r>
              <a:rPr sz="1950" i="1" baseline="-21367" dirty="0">
                <a:solidFill>
                  <a:srgbClr val="009999"/>
                </a:solidFill>
                <a:latin typeface="Arial"/>
                <a:cs typeface="Arial"/>
              </a:rPr>
              <a:t>i</a:t>
            </a:r>
            <a:r>
              <a:rPr sz="1950" i="1" spc="247" baseline="-21367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per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candidate.</a:t>
            </a:r>
            <a:endParaRPr sz="2000">
              <a:latin typeface="Arial MT"/>
              <a:cs typeface="Arial MT"/>
            </a:endParaRPr>
          </a:p>
          <a:p>
            <a:pPr marL="367665" indent="-342265">
              <a:lnSpc>
                <a:spcPct val="100000"/>
              </a:lnSpc>
              <a:spcBef>
                <a:spcPts val="240"/>
              </a:spcBef>
              <a:buChar char="•"/>
              <a:tabLst>
                <a:tab pos="367665" algn="l"/>
              </a:tabLst>
            </a:pPr>
            <a:r>
              <a:rPr sz="2000" dirty="0">
                <a:solidFill>
                  <a:srgbClr val="CC0000"/>
                </a:solidFill>
                <a:latin typeface="Arial MT"/>
                <a:cs typeface="Arial MT"/>
              </a:rPr>
              <a:t>Cost</a:t>
            </a:r>
            <a:r>
              <a:rPr sz="2000" spc="-25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CC0000"/>
                </a:solidFill>
                <a:latin typeface="Arial MT"/>
                <a:cs typeface="Arial MT"/>
              </a:rPr>
              <a:t>to</a:t>
            </a:r>
            <a:r>
              <a:rPr sz="2000" spc="-30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CC0000"/>
                </a:solidFill>
                <a:latin typeface="Arial MT"/>
                <a:cs typeface="Arial MT"/>
              </a:rPr>
              <a:t>hire</a:t>
            </a:r>
            <a:r>
              <a:rPr sz="2000" spc="-20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CC0000"/>
                </a:solidFill>
                <a:latin typeface="Arial MT"/>
                <a:cs typeface="Arial MT"/>
              </a:rPr>
              <a:t>is</a:t>
            </a:r>
            <a:r>
              <a:rPr sz="2000" spc="-5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2000" i="1" dirty="0">
                <a:solidFill>
                  <a:srgbClr val="009999"/>
                </a:solidFill>
                <a:latin typeface="Arial"/>
                <a:cs typeface="Arial"/>
              </a:rPr>
              <a:t>c</a:t>
            </a:r>
            <a:r>
              <a:rPr sz="1950" i="1" baseline="-21367" dirty="0">
                <a:solidFill>
                  <a:srgbClr val="009999"/>
                </a:solidFill>
                <a:latin typeface="Arial"/>
                <a:cs typeface="Arial"/>
              </a:rPr>
              <a:t>h</a:t>
            </a:r>
            <a:r>
              <a:rPr sz="1950" i="1" spc="247" baseline="-21367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per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candidate.</a:t>
            </a:r>
            <a:endParaRPr sz="2000">
              <a:latin typeface="Arial MT"/>
              <a:cs typeface="Arial MT"/>
            </a:endParaRPr>
          </a:p>
          <a:p>
            <a:pPr marL="367665" indent="-342265">
              <a:lnSpc>
                <a:spcPct val="100000"/>
              </a:lnSpc>
              <a:spcBef>
                <a:spcPts val="240"/>
              </a:spcBef>
              <a:buChar char="•"/>
              <a:tabLst>
                <a:tab pos="367665" algn="l"/>
              </a:tabLst>
            </a:pPr>
            <a:r>
              <a:rPr sz="2000" dirty="0">
                <a:latin typeface="Arial MT"/>
                <a:cs typeface="Arial MT"/>
              </a:rPr>
              <a:t>You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want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have,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at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all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times,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best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candidate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seen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far.</a:t>
            </a:r>
            <a:endParaRPr sz="2000">
              <a:latin typeface="Arial MT"/>
              <a:cs typeface="Arial MT"/>
            </a:endParaRPr>
          </a:p>
          <a:p>
            <a:pPr marL="368300" marR="668020" indent="-342900">
              <a:lnSpc>
                <a:spcPts val="2160"/>
              </a:lnSpc>
              <a:spcBef>
                <a:spcPts val="515"/>
              </a:spcBef>
              <a:buChar char="•"/>
              <a:tabLst>
                <a:tab pos="368300" algn="l"/>
              </a:tabLst>
            </a:pPr>
            <a:r>
              <a:rPr sz="2000" dirty="0">
                <a:latin typeface="Arial MT"/>
                <a:cs typeface="Arial MT"/>
              </a:rPr>
              <a:t>When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you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interview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candidate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who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better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your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current </a:t>
            </a:r>
            <a:r>
              <a:rPr sz="2000" dirty="0">
                <a:latin typeface="Arial MT"/>
                <a:cs typeface="Arial MT"/>
              </a:rPr>
              <a:t>assistant,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you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fire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current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assistant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hire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candidate.</a:t>
            </a:r>
            <a:endParaRPr sz="2000">
              <a:latin typeface="Arial MT"/>
              <a:cs typeface="Arial MT"/>
            </a:endParaRPr>
          </a:p>
          <a:p>
            <a:pPr marL="367665" indent="-342265">
              <a:lnSpc>
                <a:spcPct val="100000"/>
              </a:lnSpc>
              <a:spcBef>
                <a:spcPts val="204"/>
              </a:spcBef>
              <a:buChar char="•"/>
              <a:tabLst>
                <a:tab pos="367665" algn="l"/>
              </a:tabLst>
            </a:pPr>
            <a:r>
              <a:rPr sz="2000" dirty="0">
                <a:latin typeface="Arial MT"/>
                <a:cs typeface="Arial MT"/>
              </a:rPr>
              <a:t>You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will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always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hire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first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candidate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you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interview.</a:t>
            </a:r>
            <a:endParaRPr sz="2000">
              <a:latin typeface="Arial MT"/>
              <a:cs typeface="Arial MT"/>
            </a:endParaRPr>
          </a:p>
          <a:p>
            <a:pPr marL="367665" indent="-342265">
              <a:lnSpc>
                <a:spcPct val="100000"/>
              </a:lnSpc>
              <a:spcBef>
                <a:spcPts val="240"/>
              </a:spcBef>
              <a:buChar char="•"/>
              <a:tabLst>
                <a:tab pos="367665" algn="l"/>
              </a:tabLst>
            </a:pPr>
            <a:r>
              <a:rPr sz="2000" u="sng" dirty="0">
                <a:solidFill>
                  <a:srgbClr val="CC0000"/>
                </a:solidFill>
                <a:uFill>
                  <a:solidFill>
                    <a:srgbClr val="CC0000"/>
                  </a:solidFill>
                </a:uFill>
                <a:latin typeface="Arial MT"/>
                <a:cs typeface="Arial MT"/>
              </a:rPr>
              <a:t>Problem:</a:t>
            </a:r>
            <a:r>
              <a:rPr sz="2000" spc="-35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9999"/>
                </a:solidFill>
                <a:latin typeface="Arial MT"/>
                <a:cs typeface="Arial MT"/>
              </a:rPr>
              <a:t>What</a:t>
            </a:r>
            <a:r>
              <a:rPr sz="2000" spc="-30" dirty="0">
                <a:solidFill>
                  <a:srgbClr val="0099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9999"/>
                </a:solidFill>
                <a:latin typeface="Arial MT"/>
                <a:cs typeface="Arial MT"/>
              </a:rPr>
              <a:t>is</a:t>
            </a:r>
            <a:r>
              <a:rPr sz="2000" spc="-5" dirty="0">
                <a:solidFill>
                  <a:srgbClr val="0099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9999"/>
                </a:solidFill>
                <a:latin typeface="Arial MT"/>
                <a:cs typeface="Arial MT"/>
              </a:rPr>
              <a:t>the</a:t>
            </a:r>
            <a:r>
              <a:rPr sz="2000" spc="-20" dirty="0">
                <a:solidFill>
                  <a:srgbClr val="0099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9999"/>
                </a:solidFill>
                <a:latin typeface="Arial MT"/>
                <a:cs typeface="Arial MT"/>
              </a:rPr>
              <a:t>cost</a:t>
            </a:r>
            <a:r>
              <a:rPr sz="2000" spc="-35" dirty="0">
                <a:solidFill>
                  <a:srgbClr val="0099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9999"/>
                </a:solidFill>
                <a:latin typeface="Arial MT"/>
                <a:cs typeface="Arial MT"/>
              </a:rPr>
              <a:t>of</a:t>
            </a:r>
            <a:r>
              <a:rPr sz="2000" spc="-25" dirty="0">
                <a:solidFill>
                  <a:srgbClr val="0099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9999"/>
                </a:solidFill>
                <a:latin typeface="Arial MT"/>
                <a:cs typeface="Arial MT"/>
              </a:rPr>
              <a:t>this</a:t>
            </a:r>
            <a:r>
              <a:rPr sz="2000" spc="-15" dirty="0">
                <a:solidFill>
                  <a:srgbClr val="00999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9999"/>
                </a:solidFill>
                <a:latin typeface="Arial MT"/>
                <a:cs typeface="Arial MT"/>
              </a:rPr>
              <a:t>strategy?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9274" y="211328"/>
            <a:ext cx="72910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spc="-10" dirty="0">
                <a:solidFill>
                  <a:srgbClr val="000000"/>
                </a:solidFill>
                <a:latin typeface="Arial MT"/>
                <a:cs typeface="Arial MT"/>
              </a:rPr>
              <a:t>Pseudo-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code</a:t>
            </a:r>
            <a:r>
              <a:rPr b="0" spc="-3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to</a:t>
            </a:r>
            <a:r>
              <a:rPr b="0" spc="-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Model</a:t>
            </a:r>
            <a:r>
              <a:rPr b="0" spc="-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the</a:t>
            </a:r>
            <a:r>
              <a:rPr b="0" spc="-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 MT"/>
                <a:cs typeface="Arial MT"/>
              </a:rPr>
              <a:t>Scenario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1104" y="832103"/>
            <a:ext cx="8095615" cy="2749550"/>
            <a:chOff x="451104" y="832103"/>
            <a:chExt cx="8095615" cy="2749550"/>
          </a:xfrm>
        </p:grpSpPr>
        <p:sp>
          <p:nvSpPr>
            <p:cNvPr id="4" name="object 4"/>
            <p:cNvSpPr/>
            <p:nvPr/>
          </p:nvSpPr>
          <p:spPr>
            <a:xfrm>
              <a:off x="527304" y="908049"/>
              <a:ext cx="8019415" cy="2673350"/>
            </a:xfrm>
            <a:custGeom>
              <a:avLst/>
              <a:gdLst/>
              <a:ahLst/>
              <a:cxnLst/>
              <a:rect l="l" t="t" r="r" b="b"/>
              <a:pathLst>
                <a:path w="8019415" h="2673350">
                  <a:moveTo>
                    <a:pt x="8019288" y="0"/>
                  </a:moveTo>
                  <a:lnTo>
                    <a:pt x="7936992" y="0"/>
                  </a:lnTo>
                  <a:lnTo>
                    <a:pt x="7936992" y="6350"/>
                  </a:lnTo>
                  <a:lnTo>
                    <a:pt x="7936992" y="12700"/>
                  </a:lnTo>
                  <a:lnTo>
                    <a:pt x="7936992" y="2590800"/>
                  </a:lnTo>
                  <a:lnTo>
                    <a:pt x="12192" y="2590800"/>
                  </a:lnTo>
                  <a:lnTo>
                    <a:pt x="6096" y="2590800"/>
                  </a:lnTo>
                  <a:lnTo>
                    <a:pt x="0" y="2590800"/>
                  </a:lnTo>
                  <a:lnTo>
                    <a:pt x="0" y="2660650"/>
                  </a:lnTo>
                  <a:lnTo>
                    <a:pt x="0" y="2673350"/>
                  </a:lnTo>
                  <a:lnTo>
                    <a:pt x="8019288" y="2673350"/>
                  </a:lnTo>
                  <a:lnTo>
                    <a:pt x="8019288" y="2660650"/>
                  </a:lnTo>
                  <a:lnTo>
                    <a:pt x="8019288" y="12700"/>
                  </a:lnTo>
                  <a:lnTo>
                    <a:pt x="8019288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7200" y="838199"/>
              <a:ext cx="8007350" cy="2661285"/>
            </a:xfrm>
            <a:custGeom>
              <a:avLst/>
              <a:gdLst/>
              <a:ahLst/>
              <a:cxnLst/>
              <a:rect l="l" t="t" r="r" b="b"/>
              <a:pathLst>
                <a:path w="8007350" h="2661285">
                  <a:moveTo>
                    <a:pt x="8007096" y="0"/>
                  </a:moveTo>
                  <a:lnTo>
                    <a:pt x="0" y="0"/>
                  </a:lnTo>
                  <a:lnTo>
                    <a:pt x="0" y="2660904"/>
                  </a:lnTo>
                  <a:lnTo>
                    <a:pt x="8007096" y="2660904"/>
                  </a:lnTo>
                  <a:lnTo>
                    <a:pt x="8007096" y="0"/>
                  </a:lnTo>
                  <a:close/>
                </a:path>
              </a:pathLst>
            </a:custGeom>
            <a:solidFill>
              <a:srgbClr val="CCE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838199"/>
              <a:ext cx="8007350" cy="2661285"/>
            </a:xfrm>
            <a:custGeom>
              <a:avLst/>
              <a:gdLst/>
              <a:ahLst/>
              <a:cxnLst/>
              <a:rect l="l" t="t" r="r" b="b"/>
              <a:pathLst>
                <a:path w="8007350" h="2661285">
                  <a:moveTo>
                    <a:pt x="0" y="2660904"/>
                  </a:moveTo>
                  <a:lnTo>
                    <a:pt x="8007096" y="2660904"/>
                  </a:lnTo>
                  <a:lnTo>
                    <a:pt x="8007096" y="0"/>
                  </a:lnTo>
                  <a:lnTo>
                    <a:pt x="0" y="0"/>
                  </a:lnTo>
                  <a:lnTo>
                    <a:pt x="0" y="2660904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81990" y="860805"/>
            <a:ext cx="7982584" cy="5371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6040">
              <a:lnSpc>
                <a:spcPct val="100000"/>
              </a:lnSpc>
              <a:spcBef>
                <a:spcPts val="100"/>
              </a:spcBef>
            </a:pPr>
            <a:r>
              <a:rPr sz="2400" i="1" u="sng" spc="-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Hire-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Assistant</a:t>
            </a:r>
            <a:r>
              <a:rPr sz="2400" i="1" u="sng" spc="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(</a:t>
            </a:r>
            <a:r>
              <a:rPr sz="2400" i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2400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 marL="66040">
              <a:lnSpc>
                <a:spcPct val="100000"/>
              </a:lnSpc>
              <a:spcBef>
                <a:spcPts val="10"/>
              </a:spcBef>
              <a:tabLst>
                <a:tab pos="1314450" algn="l"/>
              </a:tabLst>
            </a:pPr>
            <a:r>
              <a:rPr sz="2400" i="1" dirty="0">
                <a:latin typeface="Times New Roman"/>
                <a:cs typeface="Times New Roman"/>
              </a:rPr>
              <a:t>best </a:t>
            </a:r>
            <a:r>
              <a:rPr sz="2400" dirty="0">
                <a:latin typeface="Symbol"/>
                <a:cs typeface="Symbol"/>
              </a:rPr>
              <a:t>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0</a:t>
            </a:r>
            <a:r>
              <a:rPr sz="2400" dirty="0">
                <a:latin typeface="Times New Roman"/>
                <a:cs typeface="Times New Roman"/>
              </a:rPr>
              <a:t>	;;Candidate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0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 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least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qualified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candidate</a:t>
            </a:r>
            <a:endParaRPr sz="2400">
              <a:latin typeface="Times New Roman"/>
              <a:cs typeface="Times New Roman"/>
            </a:endParaRPr>
          </a:p>
          <a:p>
            <a:pPr marL="66040">
              <a:lnSpc>
                <a:spcPts val="2875"/>
              </a:lnSpc>
            </a:pPr>
            <a:r>
              <a:rPr sz="2400" b="1" dirty="0">
                <a:latin typeface="Times New Roman"/>
                <a:cs typeface="Times New Roman"/>
              </a:rPr>
              <a:t>for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i="1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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to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i="1" spc="-50" dirty="0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  <a:p>
            <a:pPr marL="370840">
              <a:lnSpc>
                <a:spcPts val="2875"/>
              </a:lnSpc>
            </a:pPr>
            <a:r>
              <a:rPr sz="2400" b="1" dirty="0">
                <a:latin typeface="Times New Roman"/>
                <a:cs typeface="Times New Roman"/>
              </a:rPr>
              <a:t>do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interview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candidate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i="1" spc="-50" dirty="0"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  <a:p>
            <a:pPr marL="676275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latin typeface="Times New Roman"/>
                <a:cs typeface="Times New Roman"/>
              </a:rPr>
              <a:t>if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candidate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i="1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 better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than candidate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i="1" spc="-20" dirty="0">
                <a:latin typeface="Times New Roman"/>
                <a:cs typeface="Times New Roman"/>
              </a:rPr>
              <a:t>best</a:t>
            </a:r>
            <a:endParaRPr sz="2400">
              <a:latin typeface="Times New Roman"/>
              <a:cs typeface="Times New Roman"/>
            </a:endParaRPr>
          </a:p>
          <a:p>
            <a:pPr marL="981075">
              <a:lnSpc>
                <a:spcPts val="2875"/>
              </a:lnSpc>
              <a:spcBef>
                <a:spcPts val="10"/>
              </a:spcBef>
            </a:pPr>
            <a:r>
              <a:rPr sz="2400" b="1" dirty="0">
                <a:latin typeface="Times New Roman"/>
                <a:cs typeface="Times New Roman"/>
              </a:rPr>
              <a:t>then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best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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i="1" spc="-50" dirty="0"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  <a:p>
            <a:pPr marL="1666875">
              <a:lnSpc>
                <a:spcPts val="2875"/>
              </a:lnSpc>
            </a:pPr>
            <a:r>
              <a:rPr sz="2400" dirty="0">
                <a:latin typeface="Times New Roman"/>
                <a:cs typeface="Times New Roman"/>
              </a:rPr>
              <a:t>hire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candidate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i="1" spc="-50" dirty="0"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1764"/>
              </a:spcBef>
            </a:pPr>
            <a:r>
              <a:rPr sz="2400" u="sng" dirty="0">
                <a:solidFill>
                  <a:srgbClr val="CC0000"/>
                </a:solidFill>
                <a:uFill>
                  <a:solidFill>
                    <a:srgbClr val="CC0000"/>
                  </a:solidFill>
                </a:uFill>
                <a:latin typeface="Times New Roman"/>
                <a:cs typeface="Times New Roman"/>
              </a:rPr>
              <a:t>Cost</a:t>
            </a:r>
            <a:r>
              <a:rPr sz="2400" u="sng" spc="-40" dirty="0">
                <a:solidFill>
                  <a:srgbClr val="CC0000"/>
                </a:solidFill>
                <a:uFill>
                  <a:solidFill>
                    <a:srgbClr val="CC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sng" spc="-10" dirty="0">
                <a:solidFill>
                  <a:srgbClr val="CC0000"/>
                </a:solidFill>
                <a:uFill>
                  <a:solidFill>
                    <a:srgbClr val="CC0000"/>
                  </a:solidFill>
                </a:uFill>
                <a:latin typeface="Times New Roman"/>
                <a:cs typeface="Times New Roman"/>
              </a:rPr>
              <a:t>Model:</a:t>
            </a:r>
            <a:endParaRPr sz="2400">
              <a:latin typeface="Times New Roman"/>
              <a:cs typeface="Times New Roman"/>
            </a:endParaRPr>
          </a:p>
          <a:p>
            <a:pPr marL="156845" indent="-114300">
              <a:lnSpc>
                <a:spcPct val="100000"/>
              </a:lnSpc>
              <a:buSzPct val="95833"/>
              <a:buChar char="•"/>
              <a:tabLst>
                <a:tab pos="156845" algn="l"/>
              </a:tabLst>
            </a:pPr>
            <a:r>
              <a:rPr sz="2400" spc="-60" dirty="0">
                <a:latin typeface="Times New Roman"/>
                <a:cs typeface="Times New Roman"/>
              </a:rPr>
              <a:t>We</a:t>
            </a:r>
            <a:r>
              <a:rPr sz="2400" dirty="0">
                <a:latin typeface="Times New Roman"/>
                <a:cs typeface="Times New Roman"/>
              </a:rPr>
              <a:t> are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concerned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running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time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Hire-Assistant.</a:t>
            </a:r>
            <a:endParaRPr sz="2400">
              <a:latin typeface="Times New Roman"/>
              <a:cs typeface="Times New Roman"/>
            </a:endParaRPr>
          </a:p>
          <a:p>
            <a:pPr marL="156845" indent="-114300">
              <a:lnSpc>
                <a:spcPct val="100000"/>
              </a:lnSpc>
              <a:buSzPct val="95833"/>
              <a:buChar char="•"/>
              <a:tabLst>
                <a:tab pos="156845" algn="l"/>
              </a:tabLst>
            </a:pPr>
            <a:r>
              <a:rPr sz="2400" spc="-65" dirty="0">
                <a:latin typeface="Times New Roman"/>
                <a:cs typeface="Times New Roman"/>
              </a:rPr>
              <a:t>We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want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determine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9999"/>
                </a:solidFill>
                <a:latin typeface="Times New Roman"/>
                <a:cs typeface="Times New Roman"/>
              </a:rPr>
              <a:t>total</a:t>
            </a:r>
            <a:r>
              <a:rPr sz="2400" spc="-45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9999"/>
                </a:solidFill>
                <a:latin typeface="Times New Roman"/>
                <a:cs typeface="Times New Roman"/>
              </a:rPr>
              <a:t>cost</a:t>
            </a:r>
            <a:r>
              <a:rPr sz="2400" spc="-10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9999"/>
                </a:solidFill>
                <a:latin typeface="Times New Roman"/>
                <a:cs typeface="Times New Roman"/>
              </a:rPr>
              <a:t>of</a:t>
            </a:r>
            <a:r>
              <a:rPr sz="2400" spc="-20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9999"/>
                </a:solidFill>
                <a:latin typeface="Times New Roman"/>
                <a:cs typeface="Times New Roman"/>
              </a:rPr>
              <a:t>hiring</a:t>
            </a:r>
            <a:r>
              <a:rPr sz="2400" spc="-40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9999"/>
                </a:solidFill>
                <a:latin typeface="Times New Roman"/>
                <a:cs typeface="Times New Roman"/>
              </a:rPr>
              <a:t>the</a:t>
            </a:r>
            <a:r>
              <a:rPr sz="2400" spc="-20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9999"/>
                </a:solidFill>
                <a:latin typeface="Times New Roman"/>
                <a:cs typeface="Times New Roman"/>
              </a:rPr>
              <a:t>best</a:t>
            </a:r>
            <a:r>
              <a:rPr sz="2400" spc="-10" dirty="0">
                <a:solidFill>
                  <a:srgbClr val="009999"/>
                </a:solidFill>
                <a:latin typeface="Times New Roman"/>
                <a:cs typeface="Times New Roman"/>
              </a:rPr>
              <a:t> candidate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309245" indent="-258445">
              <a:lnSpc>
                <a:spcPct val="100000"/>
              </a:lnSpc>
              <a:spcBef>
                <a:spcPts val="5"/>
              </a:spcBef>
              <a:buSzPct val="95833"/>
              <a:buChar char="•"/>
              <a:tabLst>
                <a:tab pos="309245" algn="l"/>
              </a:tabLst>
            </a:pP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CC0000"/>
                </a:solidFill>
                <a:latin typeface="Times New Roman"/>
                <a:cs typeface="Times New Roman"/>
              </a:rPr>
              <a:t>n</a:t>
            </a:r>
            <a:r>
              <a:rPr sz="2400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CC0000"/>
                </a:solidFill>
                <a:latin typeface="Times New Roman"/>
                <a:cs typeface="Times New Roman"/>
              </a:rPr>
              <a:t>candidates</a:t>
            </a:r>
            <a:r>
              <a:rPr sz="2400" spc="-35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CC0000"/>
                </a:solidFill>
                <a:latin typeface="Times New Roman"/>
                <a:cs typeface="Times New Roman"/>
              </a:rPr>
              <a:t>interviewed</a:t>
            </a:r>
            <a:r>
              <a:rPr sz="2400" spc="-15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CC0000"/>
                </a:solidFill>
                <a:latin typeface="Times New Roman"/>
                <a:cs typeface="Times New Roman"/>
              </a:rPr>
              <a:t>m </a:t>
            </a:r>
            <a:r>
              <a:rPr sz="2400" dirty="0">
                <a:solidFill>
                  <a:srgbClr val="CC0000"/>
                </a:solidFill>
                <a:latin typeface="Times New Roman"/>
                <a:cs typeface="Times New Roman"/>
              </a:rPr>
              <a:t>hired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9999"/>
                </a:solidFill>
                <a:latin typeface="Times New Roman"/>
                <a:cs typeface="Times New Roman"/>
              </a:rPr>
              <a:t>cost</a:t>
            </a:r>
            <a:r>
              <a:rPr sz="2400" spc="-5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9999"/>
                </a:solidFill>
                <a:latin typeface="Times New Roman"/>
                <a:cs typeface="Times New Roman"/>
              </a:rPr>
              <a:t>is</a:t>
            </a:r>
            <a:r>
              <a:rPr sz="2400" spc="-10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2400" i="1" spc="-10" dirty="0">
                <a:solidFill>
                  <a:srgbClr val="009999"/>
                </a:solidFill>
                <a:latin typeface="Times New Roman"/>
                <a:cs typeface="Times New Roman"/>
              </a:rPr>
              <a:t>nc</a:t>
            </a:r>
            <a:r>
              <a:rPr sz="2400" i="1" spc="-15" baseline="-20833" dirty="0">
                <a:solidFill>
                  <a:srgbClr val="009999"/>
                </a:solidFill>
                <a:latin typeface="Times New Roman"/>
                <a:cs typeface="Times New Roman"/>
              </a:rPr>
              <a:t>i</a:t>
            </a:r>
            <a:r>
              <a:rPr sz="2400" i="1" spc="-10" dirty="0">
                <a:solidFill>
                  <a:srgbClr val="009999"/>
                </a:solidFill>
                <a:latin typeface="Times New Roman"/>
                <a:cs typeface="Times New Roman"/>
              </a:rPr>
              <a:t>+mc</a:t>
            </a:r>
            <a:r>
              <a:rPr sz="2400" i="1" spc="-15" baseline="-20833" dirty="0">
                <a:solidFill>
                  <a:srgbClr val="009999"/>
                </a:solidFill>
                <a:latin typeface="Times New Roman"/>
                <a:cs typeface="Times New Roman"/>
              </a:rPr>
              <a:t>h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309245" indent="-258445">
              <a:lnSpc>
                <a:spcPct val="100000"/>
              </a:lnSpc>
              <a:buSzPct val="95833"/>
              <a:buChar char="•"/>
              <a:tabLst>
                <a:tab pos="309245" algn="l"/>
              </a:tabLst>
            </a:pPr>
            <a:r>
              <a:rPr sz="2400" dirty="0">
                <a:latin typeface="Times New Roman"/>
                <a:cs typeface="Times New Roman"/>
              </a:rPr>
              <a:t>Have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nc</a:t>
            </a:r>
            <a:r>
              <a:rPr sz="2400" i="1" baseline="-20833" dirty="0">
                <a:latin typeface="Times New Roman"/>
                <a:cs typeface="Times New Roman"/>
              </a:rPr>
              <a:t>i</a:t>
            </a:r>
            <a:r>
              <a:rPr sz="2400" i="1" spc="270" baseline="-2083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interview,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matter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how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many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hire.</a:t>
            </a:r>
            <a:endParaRPr sz="2400">
              <a:latin typeface="Times New Roman"/>
              <a:cs typeface="Times New Roman"/>
            </a:endParaRPr>
          </a:p>
          <a:p>
            <a:pPr marL="309245" indent="-258445">
              <a:lnSpc>
                <a:spcPct val="100000"/>
              </a:lnSpc>
              <a:buSzPct val="95833"/>
              <a:buChar char="•"/>
              <a:tabLst>
                <a:tab pos="309245" algn="l"/>
              </a:tabLst>
            </a:pPr>
            <a:r>
              <a:rPr sz="2400" dirty="0">
                <a:latin typeface="Times New Roman"/>
                <a:cs typeface="Times New Roman"/>
              </a:rPr>
              <a:t>So,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focus on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analyzing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hiring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cost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i="1" spc="-20" dirty="0">
                <a:latin typeface="Times New Roman"/>
                <a:cs typeface="Times New Roman"/>
              </a:rPr>
              <a:t>mc</a:t>
            </a:r>
            <a:r>
              <a:rPr sz="2400" i="1" spc="-30" baseline="-20833" dirty="0">
                <a:latin typeface="Times New Roman"/>
                <a:cs typeface="Times New Roman"/>
              </a:rPr>
              <a:t>h</a:t>
            </a:r>
            <a:r>
              <a:rPr sz="2400" spc="-2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309245" indent="-258445">
              <a:lnSpc>
                <a:spcPct val="100000"/>
              </a:lnSpc>
              <a:buSzPct val="95833"/>
              <a:buFont typeface="Times New Roman"/>
              <a:buChar char="•"/>
              <a:tabLst>
                <a:tab pos="309245" algn="l"/>
              </a:tabLst>
            </a:pPr>
            <a:r>
              <a:rPr sz="2400" i="1" dirty="0">
                <a:latin typeface="Times New Roman"/>
                <a:cs typeface="Times New Roman"/>
              </a:rPr>
              <a:t>m </a:t>
            </a:r>
            <a:r>
              <a:rPr sz="2400" dirty="0">
                <a:latin typeface="Times New Roman"/>
                <a:cs typeface="Times New Roman"/>
              </a:rPr>
              <a:t>varies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order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candidates.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2687" rIns="0" bIns="0" rtlCol="0">
            <a:spAutoFit/>
          </a:bodyPr>
          <a:lstStyle/>
          <a:p>
            <a:pPr marL="1610360">
              <a:lnSpc>
                <a:spcPct val="100000"/>
              </a:lnSpc>
              <a:spcBef>
                <a:spcPts val="105"/>
              </a:spcBef>
            </a:pPr>
            <a:r>
              <a:rPr sz="4400" b="0" spc="-25" dirty="0">
                <a:solidFill>
                  <a:srgbClr val="000000"/>
                </a:solidFill>
                <a:latin typeface="Arial MT"/>
                <a:cs typeface="Arial MT"/>
              </a:rPr>
              <a:t>Best-</a:t>
            </a:r>
            <a:r>
              <a:rPr sz="4400" b="0" dirty="0">
                <a:solidFill>
                  <a:srgbClr val="000000"/>
                </a:solidFill>
                <a:latin typeface="Arial MT"/>
                <a:cs typeface="Arial MT"/>
              </a:rPr>
              <a:t>Case</a:t>
            </a:r>
            <a:r>
              <a:rPr sz="4400" b="0" spc="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4400" b="0" spc="-10" dirty="0">
                <a:solidFill>
                  <a:srgbClr val="000000"/>
                </a:solidFill>
                <a:latin typeface="Arial MT"/>
                <a:cs typeface="Arial MT"/>
              </a:rPr>
              <a:t>Analysis</a:t>
            </a:r>
            <a:endParaRPr sz="4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3240" y="1624329"/>
            <a:ext cx="7421880" cy="1462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8300" marR="1778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68300" algn="l"/>
              </a:tabLst>
            </a:pPr>
            <a:r>
              <a:rPr sz="2800" dirty="0">
                <a:latin typeface="Arial MT"/>
                <a:cs typeface="Arial MT"/>
              </a:rPr>
              <a:t>Best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case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when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agency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sends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you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the </a:t>
            </a:r>
            <a:r>
              <a:rPr sz="2800" dirty="0">
                <a:latin typeface="Arial MT"/>
                <a:cs typeface="Arial MT"/>
              </a:rPr>
              <a:t>best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applicant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on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first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day.</a:t>
            </a:r>
            <a:endParaRPr sz="2800">
              <a:latin typeface="Arial MT"/>
              <a:cs typeface="Arial MT"/>
            </a:endParaRPr>
          </a:p>
          <a:p>
            <a:pPr marL="367665" indent="-342265">
              <a:lnSpc>
                <a:spcPct val="100000"/>
              </a:lnSpc>
              <a:spcBef>
                <a:spcPts val="755"/>
              </a:spcBef>
              <a:buChar char="•"/>
              <a:tabLst>
                <a:tab pos="367665" algn="l"/>
              </a:tabLst>
            </a:pPr>
            <a:r>
              <a:rPr sz="3200" dirty="0">
                <a:latin typeface="Arial MT"/>
                <a:cs typeface="Arial MT"/>
              </a:rPr>
              <a:t>Cost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is </a:t>
            </a:r>
            <a:r>
              <a:rPr sz="3200" i="1" spc="-10" dirty="0">
                <a:solidFill>
                  <a:srgbClr val="009999"/>
                </a:solidFill>
                <a:latin typeface="Arial"/>
                <a:cs typeface="Arial"/>
              </a:rPr>
              <a:t>nc</a:t>
            </a:r>
            <a:r>
              <a:rPr sz="3150" i="1" spc="-15" baseline="-21164" dirty="0">
                <a:solidFill>
                  <a:srgbClr val="009999"/>
                </a:solidFill>
                <a:latin typeface="Arial"/>
                <a:cs typeface="Arial"/>
              </a:rPr>
              <a:t>i</a:t>
            </a:r>
            <a:r>
              <a:rPr sz="3200" spc="-10" dirty="0">
                <a:solidFill>
                  <a:srgbClr val="009999"/>
                </a:solidFill>
                <a:latin typeface="Arial MT"/>
                <a:cs typeface="Arial MT"/>
              </a:rPr>
              <a:t>+</a:t>
            </a:r>
            <a:r>
              <a:rPr sz="3200" i="1" spc="-10" dirty="0">
                <a:solidFill>
                  <a:srgbClr val="009999"/>
                </a:solidFill>
                <a:latin typeface="Arial"/>
                <a:cs typeface="Arial"/>
              </a:rPr>
              <a:t>c</a:t>
            </a:r>
            <a:r>
              <a:rPr sz="3150" i="1" spc="-15" baseline="-21164" dirty="0">
                <a:solidFill>
                  <a:srgbClr val="009999"/>
                </a:solidFill>
                <a:latin typeface="Arial"/>
                <a:cs typeface="Arial"/>
              </a:rPr>
              <a:t>h</a:t>
            </a:r>
            <a:r>
              <a:rPr sz="3200" spc="-10" dirty="0">
                <a:latin typeface="Arial MT"/>
                <a:cs typeface="Arial MT"/>
              </a:rPr>
              <a:t>.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2687" rIns="0" bIns="0" rtlCol="0">
            <a:spAutoFit/>
          </a:bodyPr>
          <a:lstStyle/>
          <a:p>
            <a:pPr marL="1502410">
              <a:lnSpc>
                <a:spcPct val="100000"/>
              </a:lnSpc>
              <a:spcBef>
                <a:spcPts val="105"/>
              </a:spcBef>
            </a:pPr>
            <a:r>
              <a:rPr sz="4400" b="0" spc="-10" dirty="0">
                <a:solidFill>
                  <a:srgbClr val="000000"/>
                </a:solidFill>
                <a:latin typeface="Arial MT"/>
                <a:cs typeface="Arial MT"/>
              </a:rPr>
              <a:t>Worst-</a:t>
            </a:r>
            <a:r>
              <a:rPr sz="4400" b="0" dirty="0">
                <a:solidFill>
                  <a:srgbClr val="000000"/>
                </a:solidFill>
                <a:latin typeface="Arial MT"/>
                <a:cs typeface="Arial MT"/>
              </a:rPr>
              <a:t>case</a:t>
            </a:r>
            <a:r>
              <a:rPr sz="4400" b="0" spc="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4400" b="0" spc="-10" dirty="0">
                <a:solidFill>
                  <a:srgbClr val="000000"/>
                </a:solidFill>
                <a:latin typeface="Arial MT"/>
                <a:cs typeface="Arial MT"/>
              </a:rPr>
              <a:t>Analysis</a:t>
            </a:r>
            <a:endParaRPr sz="4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0840" y="1476120"/>
            <a:ext cx="8325484" cy="295275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67665" indent="-342265">
              <a:lnSpc>
                <a:spcPct val="100000"/>
              </a:lnSpc>
              <a:spcBef>
                <a:spcPts val="675"/>
              </a:spcBef>
              <a:buChar char="•"/>
              <a:tabLst>
                <a:tab pos="367665" algn="l"/>
              </a:tabLst>
            </a:pPr>
            <a:r>
              <a:rPr sz="2400" dirty="0">
                <a:latin typeface="Arial MT"/>
                <a:cs typeface="Arial MT"/>
              </a:rPr>
              <a:t>In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worst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case,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u="sng" dirty="0">
                <a:solidFill>
                  <a:srgbClr val="CC0000"/>
                </a:solidFill>
                <a:uFill>
                  <a:solidFill>
                    <a:srgbClr val="CC0000"/>
                  </a:solidFill>
                </a:uFill>
                <a:latin typeface="Arial MT"/>
                <a:cs typeface="Arial MT"/>
              </a:rPr>
              <a:t>hire</a:t>
            </a:r>
            <a:r>
              <a:rPr sz="2400" u="sng" spc="-20" dirty="0">
                <a:solidFill>
                  <a:srgbClr val="CC0000"/>
                </a:solidFill>
                <a:uFill>
                  <a:solidFill>
                    <a:srgbClr val="CC0000"/>
                  </a:solidFill>
                </a:uFill>
                <a:latin typeface="Arial MT"/>
                <a:cs typeface="Arial MT"/>
              </a:rPr>
              <a:t> </a:t>
            </a:r>
            <a:r>
              <a:rPr sz="2400" u="sng" dirty="0">
                <a:solidFill>
                  <a:srgbClr val="CC0000"/>
                </a:solidFill>
                <a:uFill>
                  <a:solidFill>
                    <a:srgbClr val="CC0000"/>
                  </a:solidFill>
                </a:uFill>
                <a:latin typeface="Arial MT"/>
                <a:cs typeface="Arial MT"/>
              </a:rPr>
              <a:t>all</a:t>
            </a:r>
            <a:r>
              <a:rPr sz="2400" u="sng" spc="-30" dirty="0">
                <a:solidFill>
                  <a:srgbClr val="CC0000"/>
                </a:solidFill>
                <a:uFill>
                  <a:solidFill>
                    <a:srgbClr val="CC0000"/>
                  </a:solidFill>
                </a:uFill>
                <a:latin typeface="Arial MT"/>
                <a:cs typeface="Arial MT"/>
              </a:rPr>
              <a:t> </a:t>
            </a:r>
            <a:r>
              <a:rPr sz="2400" i="1" u="sng" dirty="0">
                <a:solidFill>
                  <a:srgbClr val="CC0000"/>
                </a:solidFill>
                <a:uFill>
                  <a:solidFill>
                    <a:srgbClr val="CC0000"/>
                  </a:solidFill>
                </a:uFill>
                <a:latin typeface="Arial"/>
                <a:cs typeface="Arial"/>
              </a:rPr>
              <a:t>n</a:t>
            </a:r>
            <a:r>
              <a:rPr sz="2400" i="1" u="sng" spc="-35" dirty="0">
                <a:solidFill>
                  <a:srgbClr val="CC0000"/>
                </a:solidFill>
                <a:uFill>
                  <a:solidFill>
                    <a:srgbClr val="CC0000"/>
                  </a:solidFill>
                </a:uFill>
                <a:latin typeface="Arial"/>
                <a:cs typeface="Arial"/>
              </a:rPr>
              <a:t> </a:t>
            </a:r>
            <a:r>
              <a:rPr sz="2400" u="sng" spc="-10" dirty="0">
                <a:solidFill>
                  <a:srgbClr val="CC0000"/>
                </a:solidFill>
                <a:uFill>
                  <a:solidFill>
                    <a:srgbClr val="CC0000"/>
                  </a:solidFill>
                </a:uFill>
                <a:latin typeface="Arial MT"/>
                <a:cs typeface="Arial MT"/>
              </a:rPr>
              <a:t>candidates</a:t>
            </a:r>
            <a:r>
              <a:rPr sz="2400" spc="-10" dirty="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 marL="368300" marR="17780" indent="-342900">
              <a:lnSpc>
                <a:spcPct val="100000"/>
              </a:lnSpc>
              <a:spcBef>
                <a:spcPts val="580"/>
              </a:spcBef>
              <a:buChar char="•"/>
              <a:tabLst>
                <a:tab pos="368300" algn="l"/>
              </a:tabLst>
            </a:pP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happens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each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candidate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better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all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those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who </a:t>
            </a:r>
            <a:r>
              <a:rPr sz="2400" dirty="0">
                <a:latin typeface="Arial MT"/>
                <a:cs typeface="Arial MT"/>
              </a:rPr>
              <a:t>came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before.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Candidates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increasing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order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of </a:t>
            </a:r>
            <a:r>
              <a:rPr sz="2400" spc="-10" dirty="0">
                <a:latin typeface="Arial MT"/>
                <a:cs typeface="Arial MT"/>
              </a:rPr>
              <a:t>quality.</a:t>
            </a:r>
            <a:endParaRPr sz="2400">
              <a:latin typeface="Arial MT"/>
              <a:cs typeface="Arial MT"/>
            </a:endParaRPr>
          </a:p>
          <a:p>
            <a:pPr marL="367665" indent="-342265">
              <a:lnSpc>
                <a:spcPct val="100000"/>
              </a:lnSpc>
              <a:spcBef>
                <a:spcPts val="575"/>
              </a:spcBef>
              <a:buChar char="•"/>
              <a:tabLst>
                <a:tab pos="367665" algn="l"/>
              </a:tabLst>
            </a:pPr>
            <a:r>
              <a:rPr sz="2400" dirty="0">
                <a:latin typeface="Arial MT"/>
                <a:cs typeface="Arial MT"/>
              </a:rPr>
              <a:t>Cost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i="1" spc="-10" dirty="0">
                <a:solidFill>
                  <a:srgbClr val="009999"/>
                </a:solidFill>
                <a:latin typeface="Arial"/>
                <a:cs typeface="Arial"/>
              </a:rPr>
              <a:t>nc</a:t>
            </a:r>
            <a:r>
              <a:rPr sz="2400" i="1" spc="-15" baseline="-20833" dirty="0">
                <a:solidFill>
                  <a:srgbClr val="009999"/>
                </a:solidFill>
                <a:latin typeface="Arial"/>
                <a:cs typeface="Arial"/>
              </a:rPr>
              <a:t>i</a:t>
            </a:r>
            <a:r>
              <a:rPr sz="2400" spc="-10" dirty="0">
                <a:solidFill>
                  <a:srgbClr val="009999"/>
                </a:solidFill>
                <a:latin typeface="Arial MT"/>
                <a:cs typeface="Arial MT"/>
              </a:rPr>
              <a:t>+</a:t>
            </a:r>
            <a:r>
              <a:rPr sz="2400" i="1" spc="-10" dirty="0">
                <a:solidFill>
                  <a:srgbClr val="009999"/>
                </a:solidFill>
                <a:latin typeface="Arial"/>
                <a:cs typeface="Arial"/>
              </a:rPr>
              <a:t>nc</a:t>
            </a:r>
            <a:r>
              <a:rPr sz="2400" i="1" spc="-15" baseline="-20833" dirty="0">
                <a:solidFill>
                  <a:srgbClr val="009999"/>
                </a:solidFill>
                <a:latin typeface="Arial"/>
                <a:cs typeface="Arial"/>
              </a:rPr>
              <a:t>h</a:t>
            </a:r>
            <a:r>
              <a:rPr sz="2400" spc="-10" dirty="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 marL="367665" indent="-342265">
              <a:lnSpc>
                <a:spcPct val="100000"/>
              </a:lnSpc>
              <a:spcBef>
                <a:spcPts val="580"/>
              </a:spcBef>
              <a:buChar char="•"/>
              <a:tabLst>
                <a:tab pos="367665" algn="l"/>
              </a:tabLst>
            </a:pPr>
            <a:r>
              <a:rPr sz="2400" dirty="0">
                <a:latin typeface="Arial MT"/>
                <a:cs typeface="Arial MT"/>
              </a:rPr>
              <a:t>If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happens,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fire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agency.</a:t>
            </a:r>
            <a:endParaRPr sz="2400">
              <a:latin typeface="Arial MT"/>
              <a:cs typeface="Arial MT"/>
            </a:endParaRPr>
          </a:p>
          <a:p>
            <a:pPr marL="367665" indent="-342265">
              <a:lnSpc>
                <a:spcPct val="100000"/>
              </a:lnSpc>
              <a:spcBef>
                <a:spcPts val="575"/>
              </a:spcBef>
              <a:buChar char="•"/>
              <a:tabLst>
                <a:tab pos="367665" algn="l"/>
              </a:tabLst>
            </a:pPr>
            <a:r>
              <a:rPr sz="2400" dirty="0">
                <a:solidFill>
                  <a:srgbClr val="FF3399"/>
                </a:solidFill>
                <a:latin typeface="Arial MT"/>
                <a:cs typeface="Arial MT"/>
              </a:rPr>
              <a:t>What</a:t>
            </a:r>
            <a:r>
              <a:rPr sz="2400" spc="-6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399"/>
                </a:solidFill>
                <a:latin typeface="Arial MT"/>
                <a:cs typeface="Arial MT"/>
              </a:rPr>
              <a:t>should</a:t>
            </a:r>
            <a:r>
              <a:rPr sz="2400" spc="-5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399"/>
                </a:solidFill>
                <a:latin typeface="Arial MT"/>
                <a:cs typeface="Arial MT"/>
              </a:rPr>
              <a:t>happen</a:t>
            </a:r>
            <a:r>
              <a:rPr sz="2400" spc="-5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399"/>
                </a:solidFill>
                <a:latin typeface="Arial MT"/>
                <a:cs typeface="Arial MT"/>
              </a:rPr>
              <a:t>in</a:t>
            </a:r>
            <a:r>
              <a:rPr sz="2400" spc="-7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399"/>
                </a:solidFill>
                <a:latin typeface="Arial MT"/>
                <a:cs typeface="Arial MT"/>
              </a:rPr>
              <a:t>the</a:t>
            </a:r>
            <a:r>
              <a:rPr sz="2400" spc="-7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399"/>
                </a:solidFill>
                <a:latin typeface="Arial MT"/>
                <a:cs typeface="Arial MT"/>
              </a:rPr>
              <a:t>average</a:t>
            </a:r>
            <a:r>
              <a:rPr sz="2400" spc="-5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3399"/>
                </a:solidFill>
                <a:latin typeface="Arial MT"/>
                <a:cs typeface="Arial MT"/>
              </a:rPr>
              <a:t>case?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3421" rIns="0" bIns="0" rtlCol="0">
            <a:spAutoFit/>
          </a:bodyPr>
          <a:lstStyle/>
          <a:p>
            <a:pPr marL="1677670">
              <a:lnSpc>
                <a:spcPct val="100000"/>
              </a:lnSpc>
              <a:spcBef>
                <a:spcPts val="95"/>
              </a:spcBef>
            </a:pPr>
            <a:r>
              <a:rPr sz="4000" b="0" dirty="0">
                <a:solidFill>
                  <a:srgbClr val="000000"/>
                </a:solidFill>
                <a:latin typeface="Arial MT"/>
                <a:cs typeface="Arial MT"/>
              </a:rPr>
              <a:t>Probabilistic</a:t>
            </a:r>
            <a:r>
              <a:rPr sz="4000" b="0" spc="-204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4000" b="0" spc="-10" dirty="0">
                <a:solidFill>
                  <a:srgbClr val="000000"/>
                </a:solidFill>
                <a:latin typeface="Arial MT"/>
                <a:cs typeface="Arial MT"/>
              </a:rPr>
              <a:t>analysis</a:t>
            </a:r>
            <a:endParaRPr sz="40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1473453"/>
            <a:ext cx="7678420" cy="2367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44577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Probabilistic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analysis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i="1" dirty="0">
                <a:solidFill>
                  <a:srgbClr val="FF3399"/>
                </a:solidFill>
                <a:latin typeface="Arial"/>
                <a:cs typeface="Arial"/>
              </a:rPr>
              <a:t>probability</a:t>
            </a:r>
            <a:r>
              <a:rPr sz="2400" i="1" spc="-30" dirty="0">
                <a:solidFill>
                  <a:srgbClr val="FF3399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</a:t>
            </a:r>
            <a:r>
              <a:rPr sz="2400" dirty="0">
                <a:latin typeface="Arial MT"/>
                <a:cs typeface="Arial MT"/>
              </a:rPr>
              <a:t>analysis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problems.</a:t>
            </a:r>
            <a:endParaRPr sz="24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580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Generally,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probabilistic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analysis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i="1" dirty="0">
                <a:solidFill>
                  <a:srgbClr val="FF3399"/>
                </a:solidFill>
                <a:latin typeface="Arial"/>
                <a:cs typeface="Arial"/>
              </a:rPr>
              <a:t>analyze</a:t>
            </a:r>
            <a:r>
              <a:rPr sz="2400" i="1" spc="-70" dirty="0">
                <a:solidFill>
                  <a:srgbClr val="FF3399"/>
                </a:solidFill>
                <a:latin typeface="Arial"/>
                <a:cs typeface="Arial"/>
              </a:rPr>
              <a:t> </a:t>
            </a:r>
            <a:r>
              <a:rPr sz="2400" i="1" spc="-25" dirty="0">
                <a:solidFill>
                  <a:srgbClr val="FF3399"/>
                </a:solidFill>
                <a:latin typeface="Arial"/>
                <a:cs typeface="Arial"/>
              </a:rPr>
              <a:t>the </a:t>
            </a:r>
            <a:r>
              <a:rPr sz="2400" i="1" dirty="0">
                <a:solidFill>
                  <a:srgbClr val="FF3399"/>
                </a:solidFill>
                <a:latin typeface="Arial"/>
                <a:cs typeface="Arial"/>
              </a:rPr>
              <a:t>running</a:t>
            </a:r>
            <a:r>
              <a:rPr sz="2400" i="1" spc="-40" dirty="0">
                <a:solidFill>
                  <a:srgbClr val="FF3399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FF3399"/>
                </a:solidFill>
                <a:latin typeface="Arial"/>
                <a:cs typeface="Arial"/>
              </a:rPr>
              <a:t>time</a:t>
            </a:r>
            <a:r>
              <a:rPr sz="2400" i="1" spc="-40" dirty="0">
                <a:solidFill>
                  <a:srgbClr val="FF3399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algorithm.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Sometimes,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also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analyze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i="1" spc="-10" dirty="0">
                <a:solidFill>
                  <a:srgbClr val="FF3399"/>
                </a:solidFill>
                <a:latin typeface="Arial"/>
                <a:cs typeface="Arial"/>
              </a:rPr>
              <a:t>quantities</a:t>
            </a:r>
            <a:endParaRPr sz="24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such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i="1" dirty="0">
                <a:solidFill>
                  <a:srgbClr val="FF3399"/>
                </a:solidFill>
                <a:latin typeface="Arial"/>
                <a:cs typeface="Arial"/>
              </a:rPr>
              <a:t>hiring</a:t>
            </a:r>
            <a:r>
              <a:rPr sz="2400" i="1" spc="-35" dirty="0">
                <a:solidFill>
                  <a:srgbClr val="FF3399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FF3399"/>
                </a:solidFill>
                <a:latin typeface="Arial"/>
                <a:cs typeface="Arial"/>
              </a:rPr>
              <a:t>cost</a:t>
            </a:r>
            <a:r>
              <a:rPr sz="2400" i="1" spc="-55" dirty="0">
                <a:solidFill>
                  <a:srgbClr val="FF3399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procedure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Hire-</a:t>
            </a:r>
            <a:r>
              <a:rPr sz="2400" spc="-10" dirty="0">
                <a:latin typeface="Arial MT"/>
                <a:cs typeface="Arial MT"/>
              </a:rPr>
              <a:t>Assistant.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175" rIns="0" bIns="0" rtlCol="0">
            <a:spAutoFit/>
          </a:bodyPr>
          <a:lstStyle/>
          <a:p>
            <a:pPr marL="481330">
              <a:lnSpc>
                <a:spcPct val="100000"/>
              </a:lnSpc>
              <a:spcBef>
                <a:spcPts val="105"/>
              </a:spcBef>
            </a:pPr>
            <a:r>
              <a:rPr sz="3200" b="0" dirty="0">
                <a:solidFill>
                  <a:srgbClr val="000000"/>
                </a:solidFill>
                <a:latin typeface="Arial MT"/>
                <a:cs typeface="Arial MT"/>
              </a:rPr>
              <a:t>Hiring</a:t>
            </a:r>
            <a:r>
              <a:rPr sz="3200" b="0" spc="-4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200" b="0" spc="-10" dirty="0">
                <a:solidFill>
                  <a:srgbClr val="000000"/>
                </a:solidFill>
                <a:latin typeface="Arial MT"/>
                <a:cs typeface="Arial MT"/>
              </a:rPr>
              <a:t>problem-</a:t>
            </a:r>
            <a:r>
              <a:rPr sz="3200" b="0" dirty="0">
                <a:solidFill>
                  <a:srgbClr val="000000"/>
                </a:solidFill>
                <a:latin typeface="Arial MT"/>
                <a:cs typeface="Arial MT"/>
              </a:rPr>
              <a:t>Average</a:t>
            </a:r>
            <a:r>
              <a:rPr sz="3200" b="0" spc="-6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200" b="0" dirty="0">
                <a:solidFill>
                  <a:srgbClr val="000000"/>
                </a:solidFill>
                <a:latin typeface="Arial MT"/>
                <a:cs typeface="Arial MT"/>
              </a:rPr>
              <a:t>–case</a:t>
            </a:r>
            <a:r>
              <a:rPr sz="3200" b="0" spc="-3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200" b="0" spc="-10" dirty="0">
                <a:solidFill>
                  <a:srgbClr val="000000"/>
                </a:solidFill>
                <a:latin typeface="Arial MT"/>
                <a:cs typeface="Arial MT"/>
              </a:rPr>
              <a:t>Analysis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4540" y="1565843"/>
            <a:ext cx="7932420" cy="258635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335"/>
              </a:spcBef>
              <a:buChar char="•"/>
              <a:tabLst>
                <a:tab pos="355600" algn="l"/>
              </a:tabLst>
            </a:pPr>
            <a:r>
              <a:rPr sz="2000" dirty="0">
                <a:latin typeface="Arial MT"/>
                <a:cs typeface="Arial MT"/>
              </a:rPr>
              <a:t>An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input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hiring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problem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ordering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applicants.</a:t>
            </a:r>
            <a:endParaRPr sz="20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240"/>
              </a:spcBef>
              <a:buChar char="•"/>
              <a:tabLst>
                <a:tab pos="355600" algn="l"/>
              </a:tabLst>
            </a:pPr>
            <a:r>
              <a:rPr sz="2000" dirty="0">
                <a:latin typeface="Arial MT"/>
                <a:cs typeface="Arial MT"/>
              </a:rPr>
              <a:t>There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n!</a:t>
            </a:r>
            <a:r>
              <a:rPr sz="2000" spc="-35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different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inputs.</a:t>
            </a:r>
            <a:endParaRPr sz="2000">
              <a:latin typeface="Arial MT"/>
              <a:cs typeface="Arial MT"/>
            </a:endParaRPr>
          </a:p>
          <a:p>
            <a:pPr marL="355600" marR="47625" indent="-343535">
              <a:lnSpc>
                <a:spcPts val="2160"/>
              </a:lnSpc>
              <a:spcBef>
                <a:spcPts val="515"/>
              </a:spcBef>
              <a:buChar char="•"/>
              <a:tabLst>
                <a:tab pos="355600" algn="l"/>
              </a:tabLst>
            </a:pPr>
            <a:r>
              <a:rPr sz="2000" dirty="0">
                <a:latin typeface="Arial MT"/>
                <a:cs typeface="Arial MT"/>
              </a:rPr>
              <a:t>To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probabilistic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analysis,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assume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candidates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arrive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random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order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50" dirty="0">
                <a:latin typeface="Arial MT"/>
                <a:cs typeface="Arial MT"/>
              </a:rPr>
              <a:t>.</a:t>
            </a:r>
            <a:endParaRPr sz="2000">
              <a:latin typeface="Arial MT"/>
              <a:cs typeface="Arial MT"/>
            </a:endParaRPr>
          </a:p>
          <a:p>
            <a:pPr marL="355600" marR="144145" indent="-343535">
              <a:lnSpc>
                <a:spcPts val="2160"/>
              </a:lnSpc>
              <a:spcBef>
                <a:spcPts val="480"/>
              </a:spcBef>
              <a:buChar char="•"/>
              <a:tabLst>
                <a:tab pos="355600" algn="l"/>
              </a:tabLst>
            </a:pPr>
            <a:r>
              <a:rPr sz="2000" dirty="0">
                <a:latin typeface="Arial MT"/>
                <a:cs typeface="Arial MT"/>
              </a:rPr>
              <a:t>Then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analyze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our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algorithm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computing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expected</a:t>
            </a:r>
            <a:r>
              <a:rPr sz="2000" spc="-4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FF3399"/>
                </a:solidFill>
                <a:latin typeface="Arial MT"/>
                <a:cs typeface="Arial MT"/>
              </a:rPr>
              <a:t>running </a:t>
            </a:r>
            <a:r>
              <a:rPr sz="2000" spc="-10" dirty="0">
                <a:latin typeface="Arial MT"/>
                <a:cs typeface="Arial MT"/>
              </a:rPr>
              <a:t>time.</a:t>
            </a:r>
            <a:endParaRPr sz="20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209"/>
              </a:spcBef>
              <a:buChar char="•"/>
              <a:tabLst>
                <a:tab pos="355600" algn="l"/>
              </a:tabLst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expectation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taken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over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distribution</a:t>
            </a:r>
            <a:r>
              <a:rPr sz="2000" spc="-5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possible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inputs.</a:t>
            </a:r>
            <a:endParaRPr sz="20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240"/>
              </a:spcBef>
              <a:buChar char="•"/>
              <a:tabLst>
                <a:tab pos="355600" algn="l"/>
              </a:tabLst>
            </a:pPr>
            <a:r>
              <a:rPr sz="2000" dirty="0">
                <a:latin typeface="Arial MT"/>
                <a:cs typeface="Arial MT"/>
              </a:rPr>
              <a:t>Thus,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399"/>
                </a:solidFill>
                <a:latin typeface="Arial MT"/>
                <a:cs typeface="Arial MT"/>
              </a:rPr>
              <a:t>averaging</a:t>
            </a:r>
            <a:r>
              <a:rPr sz="2000" spc="-40" dirty="0">
                <a:solidFill>
                  <a:srgbClr val="FF3399"/>
                </a:solidFill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running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time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over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all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possible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inputs.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6841" y="325882"/>
            <a:ext cx="483108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0" dirty="0">
                <a:solidFill>
                  <a:srgbClr val="000000"/>
                </a:solidFill>
                <a:latin typeface="Arial MT"/>
                <a:cs typeface="Arial MT"/>
              </a:rPr>
              <a:t>Indicator</a:t>
            </a:r>
            <a:r>
              <a:rPr sz="3200" b="0" spc="-6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200" b="0" dirty="0">
                <a:solidFill>
                  <a:srgbClr val="000000"/>
                </a:solidFill>
                <a:latin typeface="Arial MT"/>
                <a:cs typeface="Arial MT"/>
              </a:rPr>
              <a:t>Random</a:t>
            </a:r>
            <a:r>
              <a:rPr sz="3200" b="0" spc="-6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200" b="0" spc="-10" dirty="0">
                <a:solidFill>
                  <a:srgbClr val="000000"/>
                </a:solidFill>
                <a:latin typeface="Arial MT"/>
                <a:cs typeface="Arial MT"/>
              </a:rPr>
              <a:t>Variable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640" y="903478"/>
            <a:ext cx="7916545" cy="258635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68300" marR="118745" indent="-342900">
              <a:lnSpc>
                <a:spcPts val="2590"/>
              </a:lnSpc>
              <a:spcBef>
                <a:spcPts val="425"/>
              </a:spcBef>
              <a:buChar char="•"/>
              <a:tabLst>
                <a:tab pos="368300" algn="l"/>
              </a:tabLst>
            </a:pPr>
            <a:r>
              <a:rPr sz="2400" dirty="0">
                <a:latin typeface="Arial MT"/>
                <a:cs typeface="Arial MT"/>
              </a:rPr>
              <a:t>A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powerful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technique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computing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expected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value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random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variable.</a:t>
            </a:r>
            <a:endParaRPr sz="2400">
              <a:latin typeface="Arial MT"/>
              <a:cs typeface="Arial MT"/>
            </a:endParaRPr>
          </a:p>
          <a:p>
            <a:pPr marL="368300" marR="17780" indent="-342900">
              <a:lnSpc>
                <a:spcPts val="2590"/>
              </a:lnSpc>
              <a:spcBef>
                <a:spcPts val="580"/>
              </a:spcBef>
              <a:buChar char="•"/>
              <a:tabLst>
                <a:tab pos="368300" algn="l"/>
              </a:tabLst>
            </a:pPr>
            <a:r>
              <a:rPr sz="2400" dirty="0">
                <a:latin typeface="Arial MT"/>
                <a:cs typeface="Arial MT"/>
              </a:rPr>
              <a:t>Convenient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method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converting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between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probabilities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expectations.</a:t>
            </a:r>
            <a:endParaRPr sz="2400">
              <a:latin typeface="Arial MT"/>
              <a:cs typeface="Arial MT"/>
            </a:endParaRPr>
          </a:p>
          <a:p>
            <a:pPr marL="367665" indent="-342265">
              <a:lnSpc>
                <a:spcPct val="100000"/>
              </a:lnSpc>
              <a:spcBef>
                <a:spcPts val="254"/>
              </a:spcBef>
              <a:buChar char="•"/>
              <a:tabLst>
                <a:tab pos="367665" algn="l"/>
              </a:tabLst>
            </a:pPr>
            <a:r>
              <a:rPr sz="2400" dirty="0">
                <a:latin typeface="Arial MT"/>
                <a:cs typeface="Arial MT"/>
              </a:rPr>
              <a:t>Takes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only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values,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0.</a:t>
            </a:r>
            <a:endParaRPr sz="2400">
              <a:latin typeface="Arial MT"/>
              <a:cs typeface="Arial MT"/>
            </a:endParaRPr>
          </a:p>
          <a:p>
            <a:pPr marL="368300" marR="177165" indent="-342900">
              <a:lnSpc>
                <a:spcPts val="2590"/>
              </a:lnSpc>
              <a:spcBef>
                <a:spcPts val="615"/>
              </a:spcBef>
              <a:buChar char="•"/>
              <a:tabLst>
                <a:tab pos="368300" algn="l"/>
                <a:tab pos="5241290" algn="l"/>
              </a:tabLst>
            </a:pPr>
            <a:r>
              <a:rPr sz="2400" dirty="0">
                <a:solidFill>
                  <a:srgbClr val="CC0000"/>
                </a:solidFill>
                <a:latin typeface="Arial MT"/>
                <a:cs typeface="Arial MT"/>
              </a:rPr>
              <a:t>Indicator</a:t>
            </a:r>
            <a:r>
              <a:rPr sz="2400" spc="-114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CC0000"/>
                </a:solidFill>
                <a:latin typeface="Arial MT"/>
                <a:cs typeface="Arial MT"/>
              </a:rPr>
              <a:t>Random</a:t>
            </a:r>
            <a:r>
              <a:rPr sz="2400" spc="-100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CC0000"/>
                </a:solidFill>
                <a:latin typeface="Arial MT"/>
                <a:cs typeface="Arial MT"/>
              </a:rPr>
              <a:t>Variable</a:t>
            </a:r>
            <a:r>
              <a:rPr sz="2400" spc="-85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CC0000"/>
                </a:solidFill>
                <a:latin typeface="Arial MT"/>
                <a:cs typeface="Arial MT"/>
              </a:rPr>
              <a:t>X</a:t>
            </a:r>
            <a:r>
              <a:rPr sz="2400" spc="-15" baseline="-20833" dirty="0">
                <a:solidFill>
                  <a:srgbClr val="CC0000"/>
                </a:solidFill>
                <a:latin typeface="Arial MT"/>
                <a:cs typeface="Arial MT"/>
              </a:rPr>
              <a:t>A</a:t>
            </a:r>
            <a:r>
              <a:rPr sz="2400" spc="-10" dirty="0">
                <a:solidFill>
                  <a:srgbClr val="CC0000"/>
                </a:solidFill>
                <a:latin typeface="Arial MT"/>
                <a:cs typeface="Arial MT"/>
              </a:rPr>
              <a:t>=I{A}</a:t>
            </a:r>
            <a:r>
              <a:rPr sz="2400" dirty="0">
                <a:solidFill>
                  <a:srgbClr val="CC0000"/>
                </a:solidFill>
                <a:latin typeface="Arial MT"/>
                <a:cs typeface="Arial MT"/>
              </a:rPr>
              <a:t>	for</a:t>
            </a:r>
            <a:r>
              <a:rPr sz="2400" spc="-50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9999"/>
                </a:solidFill>
                <a:latin typeface="Arial MT"/>
                <a:cs typeface="Arial MT"/>
              </a:rPr>
              <a:t>event</a:t>
            </a:r>
            <a:r>
              <a:rPr sz="2400" spc="-30" dirty="0">
                <a:solidFill>
                  <a:srgbClr val="0099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9999"/>
                </a:solidFill>
                <a:latin typeface="Arial MT"/>
                <a:cs typeface="Arial MT"/>
              </a:rPr>
              <a:t>A</a:t>
            </a:r>
            <a:r>
              <a:rPr sz="2400" spc="-25" dirty="0">
                <a:solidFill>
                  <a:srgbClr val="009999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a </a:t>
            </a:r>
            <a:r>
              <a:rPr sz="2400" dirty="0">
                <a:latin typeface="Arial MT"/>
                <a:cs typeface="Arial MT"/>
              </a:rPr>
              <a:t>sample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space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defined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as: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7340" y="5110733"/>
            <a:ext cx="7468234" cy="104965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3060" marR="5080" indent="-340360" algn="just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i="1" dirty="0">
                <a:latin typeface="Arial"/>
                <a:cs typeface="Arial"/>
              </a:rPr>
              <a:t>The</a:t>
            </a:r>
            <a:r>
              <a:rPr sz="2400" i="1" spc="-80" dirty="0"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CC0000"/>
                </a:solidFill>
                <a:latin typeface="Arial"/>
                <a:cs typeface="Arial"/>
              </a:rPr>
              <a:t>expected</a:t>
            </a:r>
            <a:r>
              <a:rPr sz="2400" i="1" spc="-70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value</a:t>
            </a:r>
            <a:r>
              <a:rPr sz="2400" i="1" spc="-6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of</a:t>
            </a:r>
            <a:r>
              <a:rPr sz="2400" i="1" spc="-8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an</a:t>
            </a:r>
            <a:r>
              <a:rPr sz="2400" i="1" spc="-7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indicator</a:t>
            </a:r>
            <a:r>
              <a:rPr sz="2400" i="1" spc="-5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Random</a:t>
            </a:r>
            <a:r>
              <a:rPr sz="2400" i="1" spc="-60" dirty="0">
                <a:latin typeface="Arial"/>
                <a:cs typeface="Arial"/>
              </a:rPr>
              <a:t> </a:t>
            </a:r>
            <a:r>
              <a:rPr sz="2400" i="1" spc="-10" dirty="0">
                <a:latin typeface="Arial"/>
                <a:cs typeface="Arial"/>
              </a:rPr>
              <a:t>Variable 	</a:t>
            </a:r>
            <a:r>
              <a:rPr sz="2400" i="1" dirty="0">
                <a:latin typeface="Arial"/>
                <a:cs typeface="Arial"/>
              </a:rPr>
              <a:t>associated</a:t>
            </a:r>
            <a:r>
              <a:rPr sz="2400" i="1" spc="-4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with</a:t>
            </a:r>
            <a:r>
              <a:rPr sz="2400" i="1" spc="-2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an</a:t>
            </a:r>
            <a:r>
              <a:rPr sz="2400" i="1" spc="-45" dirty="0"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009999"/>
                </a:solidFill>
                <a:latin typeface="Arial"/>
                <a:cs typeface="Arial"/>
              </a:rPr>
              <a:t>event</a:t>
            </a:r>
            <a:r>
              <a:rPr sz="2400" i="1" spc="-5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009999"/>
                </a:solidFill>
                <a:latin typeface="Arial"/>
                <a:cs typeface="Arial"/>
              </a:rPr>
              <a:t>A</a:t>
            </a:r>
            <a:r>
              <a:rPr sz="2400" i="1" spc="-6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is</a:t>
            </a:r>
            <a:r>
              <a:rPr sz="2400" i="1" spc="-5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equal</a:t>
            </a:r>
            <a:r>
              <a:rPr sz="2400" i="1" spc="-3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to</a:t>
            </a:r>
            <a:r>
              <a:rPr sz="2400" i="1" spc="-5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the</a:t>
            </a:r>
            <a:r>
              <a:rPr sz="2400" i="1" spc="-65" dirty="0">
                <a:latin typeface="Arial"/>
                <a:cs typeface="Arial"/>
              </a:rPr>
              <a:t> </a:t>
            </a:r>
            <a:r>
              <a:rPr sz="2400" i="1" spc="-10" dirty="0">
                <a:latin typeface="Arial"/>
                <a:cs typeface="Arial"/>
              </a:rPr>
              <a:t>probability 	</a:t>
            </a:r>
            <a:r>
              <a:rPr sz="2400" i="1" dirty="0">
                <a:latin typeface="Arial"/>
                <a:cs typeface="Arial"/>
              </a:rPr>
              <a:t>that A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i="1" spc="-10" dirty="0">
                <a:latin typeface="Arial"/>
                <a:cs typeface="Arial"/>
              </a:rPr>
              <a:t>occurs.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142744" y="3986784"/>
            <a:ext cx="3202940" cy="673100"/>
            <a:chOff x="2142744" y="3986784"/>
            <a:chExt cx="3202940" cy="6731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05228" y="4049268"/>
              <a:ext cx="3140202" cy="61036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142744" y="3986784"/>
              <a:ext cx="3115310" cy="585470"/>
            </a:xfrm>
            <a:custGeom>
              <a:avLst/>
              <a:gdLst/>
              <a:ahLst/>
              <a:cxnLst/>
              <a:rect l="l" t="t" r="r" b="b"/>
              <a:pathLst>
                <a:path w="3115310" h="585470">
                  <a:moveTo>
                    <a:pt x="3115056" y="0"/>
                  </a:moveTo>
                  <a:lnTo>
                    <a:pt x="0" y="0"/>
                  </a:lnTo>
                  <a:lnTo>
                    <a:pt x="0" y="585215"/>
                  </a:lnTo>
                  <a:lnTo>
                    <a:pt x="3115056" y="585215"/>
                  </a:lnTo>
                  <a:lnTo>
                    <a:pt x="3115056" y="0"/>
                  </a:lnTo>
                  <a:close/>
                </a:path>
              </a:pathLst>
            </a:custGeom>
            <a:solidFill>
              <a:srgbClr val="CCE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888726" y="4142863"/>
            <a:ext cx="137795" cy="2813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650" spc="110" dirty="0">
                <a:latin typeface="Symbol"/>
                <a:cs typeface="Symbol"/>
              </a:rPr>
              <a:t></a:t>
            </a:r>
            <a:endParaRPr sz="1650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50626" y="3887103"/>
            <a:ext cx="2458720" cy="66294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R="77470" algn="r">
              <a:lnSpc>
                <a:spcPct val="100000"/>
              </a:lnSpc>
              <a:spcBef>
                <a:spcPts val="620"/>
              </a:spcBef>
            </a:pPr>
            <a:r>
              <a:rPr sz="1650" spc="75" dirty="0">
                <a:latin typeface="Times New Roman"/>
                <a:cs typeface="Times New Roman"/>
              </a:rPr>
              <a:t>if</a:t>
            </a:r>
            <a:r>
              <a:rPr sz="1650" spc="459" dirty="0">
                <a:latin typeface="Times New Roman"/>
                <a:cs typeface="Times New Roman"/>
              </a:rPr>
              <a:t> </a:t>
            </a:r>
            <a:r>
              <a:rPr sz="1650" i="1" spc="200" dirty="0">
                <a:latin typeface="Times New Roman"/>
                <a:cs typeface="Times New Roman"/>
              </a:rPr>
              <a:t>A</a:t>
            </a:r>
            <a:r>
              <a:rPr sz="1650" i="1" spc="-105" dirty="0">
                <a:latin typeface="Times New Roman"/>
                <a:cs typeface="Times New Roman"/>
              </a:rPr>
              <a:t> </a:t>
            </a:r>
            <a:r>
              <a:rPr sz="1650" spc="125" dirty="0">
                <a:latin typeface="Times New Roman"/>
                <a:cs typeface="Times New Roman"/>
              </a:rPr>
              <a:t>occurs,</a:t>
            </a:r>
            <a:endParaRPr sz="1650">
              <a:latin typeface="Times New Roman"/>
              <a:cs typeface="Times New Roman"/>
            </a:endParaRPr>
          </a:p>
          <a:p>
            <a:pPr marR="30480" algn="r">
              <a:lnSpc>
                <a:spcPct val="100000"/>
              </a:lnSpc>
              <a:spcBef>
                <a:spcPts val="530"/>
              </a:spcBef>
              <a:tabLst>
                <a:tab pos="412750" algn="l"/>
              </a:tabLst>
            </a:pPr>
            <a:r>
              <a:rPr sz="2475" spc="187" baseline="-11784" dirty="0">
                <a:latin typeface="Symbol"/>
                <a:cs typeface="Symbol"/>
              </a:rPr>
              <a:t></a:t>
            </a:r>
            <a:r>
              <a:rPr sz="1650" spc="125" dirty="0">
                <a:latin typeface="Times New Roman"/>
                <a:cs typeface="Times New Roman"/>
              </a:rPr>
              <a:t>0</a:t>
            </a:r>
            <a:r>
              <a:rPr sz="1650" dirty="0">
                <a:latin typeface="Times New Roman"/>
                <a:cs typeface="Times New Roman"/>
              </a:rPr>
              <a:t>	</a:t>
            </a:r>
            <a:r>
              <a:rPr sz="1650" spc="75" dirty="0">
                <a:latin typeface="Times New Roman"/>
                <a:cs typeface="Times New Roman"/>
              </a:rPr>
              <a:t>if</a:t>
            </a:r>
            <a:r>
              <a:rPr sz="1650" spc="470" dirty="0">
                <a:latin typeface="Times New Roman"/>
                <a:cs typeface="Times New Roman"/>
              </a:rPr>
              <a:t> </a:t>
            </a:r>
            <a:r>
              <a:rPr sz="1650" i="1" spc="200" dirty="0">
                <a:latin typeface="Times New Roman"/>
                <a:cs typeface="Times New Roman"/>
              </a:rPr>
              <a:t>A</a:t>
            </a:r>
            <a:r>
              <a:rPr sz="1650" i="1" spc="-110" dirty="0">
                <a:latin typeface="Times New Roman"/>
                <a:cs typeface="Times New Roman"/>
              </a:rPr>
              <a:t> </a:t>
            </a:r>
            <a:r>
              <a:rPr sz="1650" spc="150" dirty="0">
                <a:latin typeface="Times New Roman"/>
                <a:cs typeface="Times New Roman"/>
              </a:rPr>
              <a:t>does</a:t>
            </a:r>
            <a:r>
              <a:rPr sz="1650" spc="-50" dirty="0">
                <a:latin typeface="Times New Roman"/>
                <a:cs typeface="Times New Roman"/>
              </a:rPr>
              <a:t> </a:t>
            </a:r>
            <a:r>
              <a:rPr sz="1650" spc="130" dirty="0">
                <a:latin typeface="Times New Roman"/>
                <a:cs typeface="Times New Roman"/>
              </a:rPr>
              <a:t>not</a:t>
            </a:r>
            <a:r>
              <a:rPr sz="1650" spc="40" dirty="0">
                <a:latin typeface="Times New Roman"/>
                <a:cs typeface="Times New Roman"/>
              </a:rPr>
              <a:t> </a:t>
            </a:r>
            <a:r>
              <a:rPr sz="1650" spc="125" dirty="0">
                <a:latin typeface="Times New Roman"/>
                <a:cs typeface="Times New Roman"/>
              </a:rPr>
              <a:t>occur.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42151" y="4106274"/>
            <a:ext cx="1043305" cy="2813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sz="1650" i="1" spc="165" dirty="0">
                <a:latin typeface="Times New Roman"/>
                <a:cs typeface="Times New Roman"/>
              </a:rPr>
              <a:t>I</a:t>
            </a:r>
            <a:r>
              <a:rPr sz="1650" spc="165" dirty="0">
                <a:latin typeface="Times New Roman"/>
                <a:cs typeface="Times New Roman"/>
              </a:rPr>
              <a:t>{</a:t>
            </a:r>
            <a:r>
              <a:rPr sz="1650" i="1" spc="165" dirty="0">
                <a:latin typeface="Times New Roman"/>
                <a:cs typeface="Times New Roman"/>
              </a:rPr>
              <a:t>A</a:t>
            </a:r>
            <a:r>
              <a:rPr sz="1650" spc="165" dirty="0">
                <a:latin typeface="Times New Roman"/>
                <a:cs typeface="Times New Roman"/>
              </a:rPr>
              <a:t>}</a:t>
            </a:r>
            <a:r>
              <a:rPr sz="1650" spc="-100" dirty="0">
                <a:latin typeface="Times New Roman"/>
                <a:cs typeface="Times New Roman"/>
              </a:rPr>
              <a:t> </a:t>
            </a:r>
            <a:r>
              <a:rPr sz="1650" spc="185" dirty="0">
                <a:latin typeface="Symbol"/>
                <a:cs typeface="Symbol"/>
              </a:rPr>
              <a:t></a:t>
            </a:r>
            <a:r>
              <a:rPr sz="1650" spc="45" dirty="0">
                <a:latin typeface="Times New Roman"/>
                <a:cs typeface="Times New Roman"/>
              </a:rPr>
              <a:t> </a:t>
            </a:r>
            <a:r>
              <a:rPr sz="2475" spc="247" baseline="35353" dirty="0">
                <a:latin typeface="Symbol"/>
                <a:cs typeface="Symbol"/>
              </a:rPr>
              <a:t></a:t>
            </a:r>
            <a:r>
              <a:rPr sz="2475" spc="247" baseline="42087" dirty="0">
                <a:latin typeface="Times New Roman"/>
                <a:cs typeface="Times New Roman"/>
              </a:rPr>
              <a:t>1</a:t>
            </a:r>
            <a:endParaRPr sz="2475" baseline="42087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136648" y="3980688"/>
            <a:ext cx="3127375" cy="597535"/>
          </a:xfrm>
          <a:custGeom>
            <a:avLst/>
            <a:gdLst/>
            <a:ahLst/>
            <a:cxnLst/>
            <a:rect l="l" t="t" r="r" b="b"/>
            <a:pathLst>
              <a:path w="3127375" h="597535">
                <a:moveTo>
                  <a:pt x="0" y="597407"/>
                </a:moveTo>
                <a:lnTo>
                  <a:pt x="3127248" y="597407"/>
                </a:lnTo>
                <a:lnTo>
                  <a:pt x="3127248" y="0"/>
                </a:lnTo>
                <a:lnTo>
                  <a:pt x="0" y="0"/>
                </a:lnTo>
                <a:lnTo>
                  <a:pt x="0" y="59740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dirty="0">
                <a:solidFill>
                  <a:srgbClr val="000000"/>
                </a:solidFill>
                <a:latin typeface="Arial MT"/>
                <a:cs typeface="Arial MT"/>
              </a:rPr>
              <a:t>Indicator</a:t>
            </a:r>
            <a:r>
              <a:rPr sz="3200" b="0" spc="-3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200" b="0" dirty="0">
                <a:solidFill>
                  <a:srgbClr val="000000"/>
                </a:solidFill>
                <a:latin typeface="Arial MT"/>
                <a:cs typeface="Arial MT"/>
              </a:rPr>
              <a:t>RV</a:t>
            </a:r>
            <a:r>
              <a:rPr sz="3200" b="0" spc="-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200" b="0" dirty="0">
                <a:solidFill>
                  <a:srgbClr val="000000"/>
                </a:solidFill>
                <a:latin typeface="Arial MT"/>
                <a:cs typeface="Arial MT"/>
              </a:rPr>
              <a:t>–</a:t>
            </a:r>
            <a:r>
              <a:rPr sz="3200" b="0" spc="-3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200" b="0" spc="-10" dirty="0">
                <a:solidFill>
                  <a:srgbClr val="000000"/>
                </a:solidFill>
                <a:latin typeface="Arial MT"/>
                <a:cs typeface="Arial MT"/>
              </a:rPr>
              <a:t>Example1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</a:pPr>
            <a:r>
              <a:rPr u="sng" dirty="0">
                <a:solidFill>
                  <a:srgbClr val="CC0000"/>
                </a:solidFill>
                <a:uFill>
                  <a:solidFill>
                    <a:srgbClr val="CC0000"/>
                  </a:solidFill>
                </a:uFill>
              </a:rPr>
              <a:t>Problem:</a:t>
            </a:r>
            <a:r>
              <a:rPr spc="-65" dirty="0">
                <a:solidFill>
                  <a:srgbClr val="CC0000"/>
                </a:solidFill>
              </a:rPr>
              <a:t> </a:t>
            </a:r>
            <a:r>
              <a:rPr dirty="0"/>
              <a:t>Determine</a:t>
            </a:r>
            <a:r>
              <a:rPr spc="-65" dirty="0"/>
              <a:t> </a:t>
            </a:r>
            <a:r>
              <a:rPr dirty="0"/>
              <a:t>the</a:t>
            </a:r>
            <a:r>
              <a:rPr spc="-70" dirty="0"/>
              <a:t> </a:t>
            </a:r>
            <a:r>
              <a:rPr dirty="0"/>
              <a:t>expected</a:t>
            </a:r>
            <a:r>
              <a:rPr spc="-65" dirty="0"/>
              <a:t> </a:t>
            </a:r>
            <a:r>
              <a:rPr dirty="0"/>
              <a:t>number</a:t>
            </a:r>
            <a:r>
              <a:rPr spc="-60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dirty="0"/>
              <a:t>heads</a:t>
            </a:r>
            <a:r>
              <a:rPr spc="-60" dirty="0"/>
              <a:t> </a:t>
            </a:r>
            <a:r>
              <a:rPr dirty="0"/>
              <a:t>in</a:t>
            </a:r>
            <a:r>
              <a:rPr spc="-55" dirty="0"/>
              <a:t> </a:t>
            </a:r>
            <a:r>
              <a:rPr i="1" spc="-25" dirty="0">
                <a:solidFill>
                  <a:srgbClr val="CC0000"/>
                </a:solidFill>
                <a:latin typeface="Arial"/>
                <a:cs typeface="Arial"/>
              </a:rPr>
              <a:t>one</a:t>
            </a:r>
          </a:p>
          <a:p>
            <a:pPr marL="406400">
              <a:lnSpc>
                <a:spcPct val="100000"/>
              </a:lnSpc>
            </a:pPr>
            <a:r>
              <a:rPr dirty="0"/>
              <a:t>coin</a:t>
            </a:r>
            <a:r>
              <a:rPr spc="-50" dirty="0"/>
              <a:t> </a:t>
            </a:r>
            <a:r>
              <a:rPr spc="-10" dirty="0"/>
              <a:t>flip.</a:t>
            </a:r>
          </a:p>
          <a:p>
            <a:pPr marL="405765" indent="-342265">
              <a:lnSpc>
                <a:spcPct val="100000"/>
              </a:lnSpc>
              <a:spcBef>
                <a:spcPts val="580"/>
              </a:spcBef>
              <a:buChar char="•"/>
              <a:tabLst>
                <a:tab pos="405765" algn="l"/>
                <a:tab pos="2815590" algn="l"/>
              </a:tabLst>
            </a:pPr>
            <a:r>
              <a:rPr dirty="0"/>
              <a:t>Sample</a:t>
            </a:r>
            <a:r>
              <a:rPr spc="-85" dirty="0"/>
              <a:t> </a:t>
            </a:r>
            <a:r>
              <a:rPr dirty="0"/>
              <a:t>space</a:t>
            </a:r>
            <a:r>
              <a:rPr spc="-85" dirty="0"/>
              <a:t> </a:t>
            </a:r>
            <a:r>
              <a:rPr spc="-25" dirty="0"/>
              <a:t>is</a:t>
            </a:r>
            <a:r>
              <a:rPr dirty="0"/>
              <a:t>	s{</a:t>
            </a:r>
            <a:r>
              <a:rPr spc="-10" dirty="0"/>
              <a:t> </a:t>
            </a:r>
            <a:r>
              <a:rPr spc="-20" dirty="0"/>
              <a:t>H,T}</a:t>
            </a:r>
          </a:p>
          <a:p>
            <a:pPr marL="405765" indent="-342265">
              <a:lnSpc>
                <a:spcPct val="100000"/>
              </a:lnSpc>
              <a:spcBef>
                <a:spcPts val="575"/>
              </a:spcBef>
              <a:buChar char="•"/>
              <a:tabLst>
                <a:tab pos="405765" algn="l"/>
              </a:tabLst>
            </a:pPr>
            <a:r>
              <a:rPr dirty="0">
                <a:solidFill>
                  <a:srgbClr val="CC0000"/>
                </a:solidFill>
              </a:rPr>
              <a:t>Indicator</a:t>
            </a:r>
            <a:r>
              <a:rPr spc="-75" dirty="0">
                <a:solidFill>
                  <a:srgbClr val="CC0000"/>
                </a:solidFill>
              </a:rPr>
              <a:t> </a:t>
            </a:r>
            <a:r>
              <a:rPr dirty="0">
                <a:solidFill>
                  <a:srgbClr val="CC0000"/>
                </a:solidFill>
              </a:rPr>
              <a:t>random</a:t>
            </a:r>
            <a:r>
              <a:rPr spc="-80" dirty="0">
                <a:solidFill>
                  <a:srgbClr val="CC0000"/>
                </a:solidFill>
              </a:rPr>
              <a:t> </a:t>
            </a:r>
            <a:r>
              <a:rPr spc="-10" dirty="0">
                <a:solidFill>
                  <a:srgbClr val="CC0000"/>
                </a:solidFill>
              </a:rPr>
              <a:t>variable</a:t>
            </a:r>
          </a:p>
          <a:p>
            <a:pPr marL="401320">
              <a:lnSpc>
                <a:spcPct val="100000"/>
              </a:lnSpc>
              <a:spcBef>
                <a:spcPts val="575"/>
              </a:spcBef>
            </a:pPr>
            <a:r>
              <a:rPr dirty="0">
                <a:solidFill>
                  <a:srgbClr val="CC0000"/>
                </a:solidFill>
              </a:rPr>
              <a:t>X</a:t>
            </a:r>
            <a:r>
              <a:rPr sz="2400" baseline="-20833" dirty="0">
                <a:solidFill>
                  <a:srgbClr val="CC0000"/>
                </a:solidFill>
              </a:rPr>
              <a:t>A</a:t>
            </a:r>
            <a:r>
              <a:rPr sz="2400" dirty="0">
                <a:solidFill>
                  <a:srgbClr val="CC0000"/>
                </a:solidFill>
              </a:rPr>
              <a:t>=</a:t>
            </a:r>
            <a:r>
              <a:rPr sz="2400" spc="-65" dirty="0">
                <a:solidFill>
                  <a:srgbClr val="CC0000"/>
                </a:solidFill>
              </a:rPr>
              <a:t> </a:t>
            </a:r>
            <a:r>
              <a:rPr sz="2400" dirty="0"/>
              <a:t>I{</a:t>
            </a:r>
            <a:r>
              <a:rPr sz="2400" spc="-55" dirty="0"/>
              <a:t> </a:t>
            </a:r>
            <a:r>
              <a:rPr sz="2400" dirty="0"/>
              <a:t>coin</a:t>
            </a:r>
            <a:r>
              <a:rPr sz="2400" spc="-30" dirty="0"/>
              <a:t> </a:t>
            </a:r>
            <a:r>
              <a:rPr sz="2400" dirty="0"/>
              <a:t>coming</a:t>
            </a:r>
            <a:r>
              <a:rPr sz="2400" spc="-40" dirty="0"/>
              <a:t> </a:t>
            </a:r>
            <a:r>
              <a:rPr sz="2400" dirty="0"/>
              <a:t>up</a:t>
            </a:r>
            <a:r>
              <a:rPr sz="2400" spc="-50" dirty="0"/>
              <a:t> </a:t>
            </a:r>
            <a:r>
              <a:rPr sz="2400" dirty="0"/>
              <a:t>with</a:t>
            </a:r>
            <a:r>
              <a:rPr sz="2400" spc="-45" dirty="0"/>
              <a:t> </a:t>
            </a:r>
            <a:r>
              <a:rPr sz="2400" spc="-10" dirty="0"/>
              <a:t>heads}=1/2</a:t>
            </a:r>
            <a:endParaRPr sz="2400"/>
          </a:p>
          <a:p>
            <a:pPr marL="406400" marR="292735" indent="-342900">
              <a:lnSpc>
                <a:spcPct val="100000"/>
              </a:lnSpc>
              <a:spcBef>
                <a:spcPts val="580"/>
              </a:spcBef>
              <a:buChar char="•"/>
              <a:tabLst>
                <a:tab pos="406400" algn="l"/>
              </a:tabLst>
            </a:pPr>
            <a:r>
              <a:rPr dirty="0"/>
              <a:t>The</a:t>
            </a:r>
            <a:r>
              <a:rPr spc="-65" dirty="0"/>
              <a:t> </a:t>
            </a:r>
            <a:r>
              <a:rPr dirty="0"/>
              <a:t>expected</a:t>
            </a:r>
            <a:r>
              <a:rPr spc="-40" dirty="0"/>
              <a:t> </a:t>
            </a:r>
            <a:r>
              <a:rPr dirty="0"/>
              <a:t>number</a:t>
            </a:r>
            <a:r>
              <a:rPr spc="-6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heads</a:t>
            </a:r>
            <a:r>
              <a:rPr spc="-55" dirty="0"/>
              <a:t> </a:t>
            </a:r>
            <a:r>
              <a:rPr dirty="0"/>
              <a:t>obtained</a:t>
            </a:r>
            <a:r>
              <a:rPr spc="-40" dirty="0"/>
              <a:t> </a:t>
            </a:r>
            <a:r>
              <a:rPr dirty="0"/>
              <a:t>in</a:t>
            </a:r>
            <a:r>
              <a:rPr spc="-60" dirty="0"/>
              <a:t> </a:t>
            </a:r>
            <a:r>
              <a:rPr dirty="0"/>
              <a:t>one</a:t>
            </a:r>
            <a:r>
              <a:rPr spc="-55" dirty="0"/>
              <a:t> </a:t>
            </a:r>
            <a:r>
              <a:rPr dirty="0"/>
              <a:t>flip</a:t>
            </a:r>
            <a:r>
              <a:rPr spc="-65" dirty="0"/>
              <a:t> </a:t>
            </a:r>
            <a:r>
              <a:rPr spc="-25" dirty="0"/>
              <a:t>of </a:t>
            </a:r>
            <a:r>
              <a:rPr dirty="0"/>
              <a:t>the</a:t>
            </a:r>
            <a:r>
              <a:rPr spc="-55" dirty="0"/>
              <a:t> </a:t>
            </a:r>
            <a:r>
              <a:rPr dirty="0"/>
              <a:t>coin</a:t>
            </a:r>
            <a:r>
              <a:rPr spc="-45" dirty="0"/>
              <a:t> </a:t>
            </a:r>
            <a:r>
              <a:rPr dirty="0"/>
              <a:t>is</a:t>
            </a:r>
            <a:r>
              <a:rPr spc="-50" dirty="0"/>
              <a:t> </a:t>
            </a:r>
            <a:r>
              <a:rPr dirty="0"/>
              <a:t>equal</a:t>
            </a:r>
            <a:r>
              <a:rPr spc="-35" dirty="0"/>
              <a:t> </a:t>
            </a:r>
            <a:r>
              <a:rPr dirty="0"/>
              <a:t>to</a:t>
            </a:r>
            <a:r>
              <a:rPr spc="-50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dirty="0"/>
              <a:t>expected</a:t>
            </a:r>
            <a:r>
              <a:rPr spc="-20" dirty="0"/>
              <a:t> </a:t>
            </a:r>
            <a:r>
              <a:rPr dirty="0"/>
              <a:t>value</a:t>
            </a:r>
            <a:r>
              <a:rPr spc="-4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spc="-10" dirty="0"/>
              <a:t>indicator </a:t>
            </a:r>
            <a:r>
              <a:rPr dirty="0"/>
              <a:t>random</a:t>
            </a:r>
            <a:r>
              <a:rPr spc="-75" dirty="0"/>
              <a:t> </a:t>
            </a:r>
            <a:r>
              <a:rPr spc="-10" dirty="0"/>
              <a:t>variable.</a:t>
            </a:r>
          </a:p>
          <a:p>
            <a:pPr marL="401320">
              <a:lnSpc>
                <a:spcPct val="100000"/>
              </a:lnSpc>
              <a:spcBef>
                <a:spcPts val="575"/>
              </a:spcBef>
              <a:tabLst>
                <a:tab pos="1976755" algn="l"/>
              </a:tabLst>
            </a:pPr>
            <a:r>
              <a:rPr spc="-10" dirty="0"/>
              <a:t>Therefore,</a:t>
            </a:r>
            <a:r>
              <a:rPr dirty="0"/>
              <a:t>	E[</a:t>
            </a:r>
            <a:r>
              <a:rPr dirty="0">
                <a:solidFill>
                  <a:srgbClr val="CC0000"/>
                </a:solidFill>
              </a:rPr>
              <a:t>X</a:t>
            </a:r>
            <a:r>
              <a:rPr sz="2400" baseline="-20833" dirty="0">
                <a:solidFill>
                  <a:srgbClr val="CC0000"/>
                </a:solidFill>
              </a:rPr>
              <a:t>A</a:t>
            </a:r>
            <a:r>
              <a:rPr sz="2400" dirty="0"/>
              <a:t>]</a:t>
            </a:r>
            <a:r>
              <a:rPr sz="2400" spc="-40" dirty="0"/>
              <a:t> </a:t>
            </a:r>
            <a:r>
              <a:rPr sz="2400" dirty="0"/>
              <a:t>=</a:t>
            </a:r>
            <a:r>
              <a:rPr sz="2400" spc="-10" dirty="0"/>
              <a:t> </a:t>
            </a:r>
            <a:r>
              <a:rPr sz="2400" spc="-25" dirty="0"/>
              <a:t>1/2</a:t>
            </a:r>
            <a:endParaRPr sz="240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3813" y="402082"/>
            <a:ext cx="451802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dirty="0">
                <a:solidFill>
                  <a:srgbClr val="000000"/>
                </a:solidFill>
                <a:latin typeface="Arial MT"/>
                <a:cs typeface="Arial MT"/>
              </a:rPr>
              <a:t>Indicator</a:t>
            </a:r>
            <a:r>
              <a:rPr sz="3200" b="0" spc="-3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200" b="0" dirty="0">
                <a:solidFill>
                  <a:srgbClr val="000000"/>
                </a:solidFill>
                <a:latin typeface="Arial MT"/>
                <a:cs typeface="Arial MT"/>
              </a:rPr>
              <a:t>RV</a:t>
            </a:r>
            <a:r>
              <a:rPr sz="3200" b="0" spc="-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200" b="0" dirty="0">
                <a:solidFill>
                  <a:srgbClr val="000000"/>
                </a:solidFill>
                <a:latin typeface="Arial MT"/>
                <a:cs typeface="Arial MT"/>
              </a:rPr>
              <a:t>–</a:t>
            </a:r>
            <a:r>
              <a:rPr sz="3200" b="0" spc="-3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200" b="0" spc="-10" dirty="0">
                <a:solidFill>
                  <a:srgbClr val="000000"/>
                </a:solidFill>
                <a:latin typeface="Arial MT"/>
                <a:cs typeface="Arial MT"/>
              </a:rPr>
              <a:t>Example2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81451" y="3927729"/>
            <a:ext cx="1104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baseline="13888" dirty="0">
                <a:solidFill>
                  <a:srgbClr val="009999"/>
                </a:solidFill>
                <a:latin typeface="Arial MT"/>
                <a:cs typeface="Arial MT"/>
              </a:rPr>
              <a:t>=</a:t>
            </a:r>
            <a:r>
              <a:rPr sz="2700" spc="-37" baseline="13888" dirty="0">
                <a:solidFill>
                  <a:srgbClr val="009999"/>
                </a:solidFill>
                <a:latin typeface="Arial MT"/>
                <a:cs typeface="Arial MT"/>
              </a:rPr>
              <a:t> </a:t>
            </a:r>
            <a:r>
              <a:rPr sz="2700" baseline="13888" dirty="0">
                <a:solidFill>
                  <a:srgbClr val="009999"/>
                </a:solidFill>
                <a:latin typeface="Symbol"/>
                <a:cs typeface="Symbol"/>
              </a:rPr>
              <a:t></a:t>
            </a:r>
            <a:r>
              <a:rPr sz="1200" dirty="0">
                <a:solidFill>
                  <a:srgbClr val="009999"/>
                </a:solidFill>
                <a:latin typeface="Arial MT"/>
                <a:cs typeface="Arial MT"/>
              </a:rPr>
              <a:t>i=1..</a:t>
            </a:r>
            <a:r>
              <a:rPr sz="1200" i="1" dirty="0">
                <a:solidFill>
                  <a:srgbClr val="009999"/>
                </a:solidFill>
                <a:latin typeface="Arial"/>
                <a:cs typeface="Arial"/>
              </a:rPr>
              <a:t>n</a:t>
            </a:r>
            <a:r>
              <a:rPr sz="1200" i="1" spc="-2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2700" i="1" spc="-37" baseline="13888" dirty="0">
                <a:solidFill>
                  <a:srgbClr val="009999"/>
                </a:solidFill>
                <a:latin typeface="Arial"/>
                <a:cs typeface="Arial"/>
              </a:rPr>
              <a:t>X</a:t>
            </a:r>
            <a:r>
              <a:rPr sz="1200" spc="-25" dirty="0">
                <a:solidFill>
                  <a:srgbClr val="009999"/>
                </a:solidFill>
                <a:latin typeface="Arial MT"/>
                <a:cs typeface="Arial MT"/>
              </a:rPr>
              <a:t>i</a:t>
            </a:r>
            <a:r>
              <a:rPr sz="2700" spc="-37" baseline="13888" dirty="0">
                <a:latin typeface="Arial MT"/>
                <a:cs typeface="Arial MT"/>
              </a:rPr>
              <a:t>.</a:t>
            </a:r>
            <a:endParaRPr sz="2700" baseline="13888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0840" y="1016253"/>
            <a:ext cx="8212455" cy="4472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76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67665" algn="l"/>
              </a:tabLst>
            </a:pPr>
            <a:r>
              <a:rPr sz="2400" u="sng" dirty="0">
                <a:solidFill>
                  <a:srgbClr val="CC0000"/>
                </a:solidFill>
                <a:uFill>
                  <a:solidFill>
                    <a:srgbClr val="CC0000"/>
                  </a:solidFill>
                </a:uFill>
                <a:latin typeface="Arial MT"/>
                <a:cs typeface="Arial MT"/>
              </a:rPr>
              <a:t>Problem:</a:t>
            </a:r>
            <a:r>
              <a:rPr sz="2400" spc="-65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Determine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expected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number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heads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i="1" spc="-50" dirty="0">
                <a:solidFill>
                  <a:srgbClr val="CC0000"/>
                </a:solidFill>
                <a:latin typeface="Arial"/>
                <a:cs typeface="Arial"/>
              </a:rPr>
              <a:t>n</a:t>
            </a:r>
            <a:endParaRPr sz="2400">
              <a:latin typeface="Arial"/>
              <a:cs typeface="Arial"/>
            </a:endParaRPr>
          </a:p>
          <a:p>
            <a:pPr marL="36830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coin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flips.</a:t>
            </a:r>
            <a:endParaRPr sz="2400">
              <a:latin typeface="Arial MT"/>
              <a:cs typeface="Arial MT"/>
            </a:endParaRPr>
          </a:p>
          <a:p>
            <a:pPr marL="367665" indent="-342265">
              <a:lnSpc>
                <a:spcPct val="100000"/>
              </a:lnSpc>
              <a:spcBef>
                <a:spcPts val="575"/>
              </a:spcBef>
              <a:buChar char="•"/>
              <a:tabLst>
                <a:tab pos="367665" algn="l"/>
              </a:tabLst>
            </a:pPr>
            <a:r>
              <a:rPr sz="2400" dirty="0">
                <a:latin typeface="Arial MT"/>
                <a:cs typeface="Arial MT"/>
              </a:rPr>
              <a:t>Let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i="1" dirty="0">
                <a:solidFill>
                  <a:srgbClr val="009999"/>
                </a:solidFill>
                <a:latin typeface="Arial"/>
                <a:cs typeface="Arial"/>
              </a:rPr>
              <a:t>X</a:t>
            </a:r>
            <a:r>
              <a:rPr sz="2400" i="1" spc="-65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random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variable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denoting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total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number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of</a:t>
            </a:r>
            <a:endParaRPr sz="2400">
              <a:latin typeface="Arial MT"/>
              <a:cs typeface="Arial MT"/>
            </a:endParaRPr>
          </a:p>
          <a:p>
            <a:pPr marL="3683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 MT"/>
                <a:cs typeface="Arial MT"/>
              </a:rPr>
              <a:t>heads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i="1" dirty="0">
                <a:solidFill>
                  <a:srgbClr val="009999"/>
                </a:solidFill>
                <a:latin typeface="Arial"/>
                <a:cs typeface="Arial"/>
              </a:rPr>
              <a:t>n</a:t>
            </a:r>
            <a:r>
              <a:rPr sz="2400" i="1" spc="-45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coin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flips.</a:t>
            </a:r>
            <a:endParaRPr sz="2400">
              <a:latin typeface="Arial MT"/>
              <a:cs typeface="Arial MT"/>
            </a:endParaRPr>
          </a:p>
          <a:p>
            <a:pPr marL="367665" indent="-342265">
              <a:lnSpc>
                <a:spcPct val="100000"/>
              </a:lnSpc>
              <a:spcBef>
                <a:spcPts val="440"/>
              </a:spcBef>
              <a:buChar char="•"/>
              <a:tabLst>
                <a:tab pos="367665" algn="l"/>
              </a:tabLst>
            </a:pPr>
            <a:r>
              <a:rPr sz="1800" dirty="0">
                <a:latin typeface="Arial MT"/>
                <a:cs typeface="Arial MT"/>
              </a:rPr>
              <a:t>Define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i="1" dirty="0">
                <a:latin typeface="Arial"/>
                <a:cs typeface="Arial"/>
              </a:rPr>
              <a:t>n</a:t>
            </a:r>
            <a:r>
              <a:rPr sz="1800" i="1" spc="-2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indicator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random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variables,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i="1" dirty="0">
                <a:latin typeface="Arial"/>
                <a:cs typeface="Arial"/>
              </a:rPr>
              <a:t>X</a:t>
            </a:r>
            <a:r>
              <a:rPr sz="1800" baseline="-20833" dirty="0">
                <a:latin typeface="Arial MT"/>
                <a:cs typeface="Arial MT"/>
              </a:rPr>
              <a:t>i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1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Symbol"/>
                <a:cs typeface="Symbol"/>
              </a:rPr>
              <a:t>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Arial"/>
                <a:cs typeface="Arial"/>
              </a:rPr>
              <a:t>i</a:t>
            </a:r>
            <a:r>
              <a:rPr sz="1800" i="1" spc="-20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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i="1" spc="-25" dirty="0">
                <a:latin typeface="Arial"/>
                <a:cs typeface="Arial"/>
              </a:rPr>
              <a:t>n</a:t>
            </a:r>
            <a:r>
              <a:rPr sz="1800" spc="-25" dirty="0"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  <a:p>
            <a:pPr marL="368300" marR="17780" indent="-342900">
              <a:lnSpc>
                <a:spcPct val="100000"/>
              </a:lnSpc>
              <a:spcBef>
                <a:spcPts val="434"/>
              </a:spcBef>
              <a:buChar char="•"/>
              <a:tabLst>
                <a:tab pos="368300" algn="l"/>
              </a:tabLst>
            </a:pPr>
            <a:r>
              <a:rPr sz="1800" dirty="0">
                <a:latin typeface="Arial MT"/>
                <a:cs typeface="Arial MT"/>
              </a:rPr>
              <a:t>Let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i="1" dirty="0">
                <a:solidFill>
                  <a:srgbClr val="009999"/>
                </a:solidFill>
                <a:latin typeface="Arial"/>
                <a:cs typeface="Arial"/>
              </a:rPr>
              <a:t>X</a:t>
            </a:r>
            <a:r>
              <a:rPr sz="1800" baseline="-20833" dirty="0">
                <a:solidFill>
                  <a:srgbClr val="009999"/>
                </a:solidFill>
                <a:latin typeface="Arial MT"/>
                <a:cs typeface="Arial MT"/>
              </a:rPr>
              <a:t>i</a:t>
            </a:r>
            <a:r>
              <a:rPr sz="1800" spc="225" baseline="-20833" dirty="0">
                <a:solidFill>
                  <a:srgbClr val="009999"/>
                </a:solidFill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indicator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random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variable for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event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i="1" dirty="0">
                <a:solidFill>
                  <a:srgbClr val="009999"/>
                </a:solidFill>
                <a:latin typeface="Arial"/>
                <a:cs typeface="Arial"/>
              </a:rPr>
              <a:t>i</a:t>
            </a:r>
            <a:r>
              <a:rPr sz="1800" baseline="25462" dirty="0">
                <a:solidFill>
                  <a:srgbClr val="009999"/>
                </a:solidFill>
                <a:latin typeface="Arial MT"/>
                <a:cs typeface="Arial MT"/>
              </a:rPr>
              <a:t>th</a:t>
            </a:r>
            <a:r>
              <a:rPr sz="1800" spc="217" baseline="25462" dirty="0">
                <a:solidFill>
                  <a:srgbClr val="0099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9999"/>
                </a:solidFill>
                <a:latin typeface="Arial MT"/>
                <a:cs typeface="Arial MT"/>
              </a:rPr>
              <a:t>flip</a:t>
            </a:r>
            <a:r>
              <a:rPr sz="1800" spc="-25" dirty="0">
                <a:solidFill>
                  <a:srgbClr val="0099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9999"/>
                </a:solidFill>
                <a:latin typeface="Arial MT"/>
                <a:cs typeface="Arial MT"/>
              </a:rPr>
              <a:t>results</a:t>
            </a:r>
            <a:r>
              <a:rPr sz="1800" spc="-10" dirty="0">
                <a:solidFill>
                  <a:srgbClr val="0099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9999"/>
                </a:solidFill>
                <a:latin typeface="Arial MT"/>
                <a:cs typeface="Arial MT"/>
              </a:rPr>
              <a:t>in</a:t>
            </a:r>
            <a:r>
              <a:rPr sz="1800" spc="-25" dirty="0">
                <a:solidFill>
                  <a:srgbClr val="009999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solidFill>
                  <a:srgbClr val="009999"/>
                </a:solidFill>
                <a:latin typeface="Arial MT"/>
                <a:cs typeface="Arial MT"/>
              </a:rPr>
              <a:t>a </a:t>
            </a:r>
            <a:r>
              <a:rPr sz="1800" spc="-10" dirty="0">
                <a:solidFill>
                  <a:srgbClr val="009999"/>
                </a:solidFill>
                <a:latin typeface="Arial MT"/>
                <a:cs typeface="Arial MT"/>
              </a:rPr>
              <a:t>Head</a:t>
            </a:r>
            <a:r>
              <a:rPr sz="1800" spc="-10" dirty="0"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  <a:p>
            <a:pPr marL="367665" indent="-342265">
              <a:lnSpc>
                <a:spcPct val="100000"/>
              </a:lnSpc>
              <a:spcBef>
                <a:spcPts val="430"/>
              </a:spcBef>
              <a:buFont typeface="Arial MT"/>
              <a:buChar char="•"/>
              <a:tabLst>
                <a:tab pos="367665" algn="l"/>
              </a:tabLst>
            </a:pPr>
            <a:r>
              <a:rPr sz="1800" i="1" dirty="0">
                <a:solidFill>
                  <a:srgbClr val="CC0000"/>
                </a:solidFill>
                <a:latin typeface="Arial"/>
                <a:cs typeface="Arial"/>
              </a:rPr>
              <a:t>X</a:t>
            </a:r>
            <a:r>
              <a:rPr sz="1800" baseline="-20833" dirty="0">
                <a:solidFill>
                  <a:srgbClr val="CC0000"/>
                </a:solidFill>
                <a:latin typeface="Arial MT"/>
                <a:cs typeface="Arial MT"/>
              </a:rPr>
              <a:t>i</a:t>
            </a:r>
            <a:r>
              <a:rPr sz="1800" spc="232" baseline="-20833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CC0000"/>
                </a:solidFill>
                <a:latin typeface="Arial MT"/>
                <a:cs typeface="Arial MT"/>
              </a:rPr>
              <a:t>=</a:t>
            </a:r>
            <a:r>
              <a:rPr sz="1800" spc="-15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CC0000"/>
                </a:solidFill>
                <a:latin typeface="Arial MT"/>
                <a:cs typeface="Arial MT"/>
              </a:rPr>
              <a:t>I{the</a:t>
            </a:r>
            <a:r>
              <a:rPr sz="1800" spc="-30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800" i="1" dirty="0">
                <a:solidFill>
                  <a:srgbClr val="CC0000"/>
                </a:solidFill>
                <a:latin typeface="Arial"/>
                <a:cs typeface="Arial"/>
              </a:rPr>
              <a:t>i</a:t>
            </a:r>
            <a:r>
              <a:rPr sz="1800" baseline="25462" dirty="0">
                <a:solidFill>
                  <a:srgbClr val="CC0000"/>
                </a:solidFill>
                <a:latin typeface="Arial MT"/>
                <a:cs typeface="Arial MT"/>
              </a:rPr>
              <a:t>th</a:t>
            </a:r>
            <a:r>
              <a:rPr sz="1800" spc="247" baseline="25462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CC0000"/>
                </a:solidFill>
                <a:latin typeface="Arial MT"/>
                <a:cs typeface="Arial MT"/>
              </a:rPr>
              <a:t>flip</a:t>
            </a:r>
            <a:r>
              <a:rPr sz="1800" spc="-30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CC0000"/>
                </a:solidFill>
                <a:latin typeface="Arial MT"/>
                <a:cs typeface="Arial MT"/>
              </a:rPr>
              <a:t>results</a:t>
            </a:r>
            <a:r>
              <a:rPr sz="1800" spc="-10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CC0000"/>
                </a:solidFill>
                <a:latin typeface="Arial MT"/>
                <a:cs typeface="Arial MT"/>
              </a:rPr>
              <a:t>in</a:t>
            </a:r>
            <a:r>
              <a:rPr sz="1800" spc="-5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800" i="1" spc="-25" dirty="0">
                <a:solidFill>
                  <a:srgbClr val="CC0000"/>
                </a:solidFill>
                <a:latin typeface="Arial"/>
                <a:cs typeface="Arial"/>
              </a:rPr>
              <a:t>H</a:t>
            </a:r>
            <a:r>
              <a:rPr sz="1800" spc="-25" dirty="0">
                <a:solidFill>
                  <a:srgbClr val="CC0000"/>
                </a:solidFill>
                <a:latin typeface="Arial MT"/>
                <a:cs typeface="Arial MT"/>
              </a:rPr>
              <a:t>}</a:t>
            </a:r>
            <a:endParaRPr sz="1800">
              <a:latin typeface="Arial MT"/>
              <a:cs typeface="Arial MT"/>
            </a:endParaRPr>
          </a:p>
          <a:p>
            <a:pPr marL="367665" indent="-342265">
              <a:lnSpc>
                <a:spcPct val="100000"/>
              </a:lnSpc>
              <a:spcBef>
                <a:spcPts val="434"/>
              </a:spcBef>
              <a:buChar char="•"/>
              <a:tabLst>
                <a:tab pos="367665" algn="l"/>
              </a:tabLst>
            </a:pPr>
            <a:r>
              <a:rPr sz="1800" dirty="0">
                <a:latin typeface="Arial MT"/>
                <a:cs typeface="Arial MT"/>
              </a:rPr>
              <a:t>Then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i="1" dirty="0">
                <a:solidFill>
                  <a:srgbClr val="009999"/>
                </a:solidFill>
                <a:latin typeface="Arial"/>
                <a:cs typeface="Arial"/>
              </a:rPr>
              <a:t>X</a:t>
            </a:r>
            <a:r>
              <a:rPr sz="1800" i="1" spc="-5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9999"/>
                </a:solidFill>
                <a:latin typeface="Arial MT"/>
                <a:cs typeface="Arial MT"/>
              </a:rPr>
              <a:t>=</a:t>
            </a:r>
            <a:r>
              <a:rPr sz="1800" spc="-5" dirty="0">
                <a:solidFill>
                  <a:srgbClr val="009999"/>
                </a:solidFill>
                <a:latin typeface="Arial MT"/>
                <a:cs typeface="Arial MT"/>
              </a:rPr>
              <a:t> </a:t>
            </a:r>
            <a:r>
              <a:rPr sz="1800" i="1" dirty="0">
                <a:solidFill>
                  <a:srgbClr val="009999"/>
                </a:solidFill>
                <a:latin typeface="Arial"/>
                <a:cs typeface="Arial"/>
              </a:rPr>
              <a:t>X</a:t>
            </a:r>
            <a:r>
              <a:rPr sz="1800" baseline="-20833" dirty="0">
                <a:solidFill>
                  <a:srgbClr val="009999"/>
                </a:solidFill>
                <a:latin typeface="Arial MT"/>
                <a:cs typeface="Arial MT"/>
              </a:rPr>
              <a:t>1</a:t>
            </a:r>
            <a:r>
              <a:rPr sz="1800" spc="232" baseline="-20833" dirty="0">
                <a:solidFill>
                  <a:srgbClr val="0099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9999"/>
                </a:solidFill>
                <a:latin typeface="Arial MT"/>
                <a:cs typeface="Arial MT"/>
              </a:rPr>
              <a:t>+</a:t>
            </a:r>
            <a:r>
              <a:rPr sz="1800" spc="-10" dirty="0">
                <a:solidFill>
                  <a:srgbClr val="009999"/>
                </a:solidFill>
                <a:latin typeface="Arial MT"/>
                <a:cs typeface="Arial MT"/>
              </a:rPr>
              <a:t> </a:t>
            </a:r>
            <a:r>
              <a:rPr sz="1800" i="1" dirty="0">
                <a:solidFill>
                  <a:srgbClr val="009999"/>
                </a:solidFill>
                <a:latin typeface="Arial"/>
                <a:cs typeface="Arial"/>
              </a:rPr>
              <a:t>X</a:t>
            </a:r>
            <a:r>
              <a:rPr sz="1800" baseline="-20833" dirty="0">
                <a:solidFill>
                  <a:srgbClr val="009999"/>
                </a:solidFill>
                <a:latin typeface="Arial MT"/>
                <a:cs typeface="Arial MT"/>
              </a:rPr>
              <a:t>2</a:t>
            </a:r>
            <a:r>
              <a:rPr sz="1800" spc="240" baseline="-20833" dirty="0">
                <a:solidFill>
                  <a:srgbClr val="0099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9999"/>
                </a:solidFill>
                <a:latin typeface="Arial MT"/>
                <a:cs typeface="Arial MT"/>
              </a:rPr>
              <a:t>+</a:t>
            </a:r>
            <a:r>
              <a:rPr sz="1800" spc="-5" dirty="0">
                <a:solidFill>
                  <a:srgbClr val="0099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9999"/>
                </a:solidFill>
                <a:latin typeface="Arial MT"/>
                <a:cs typeface="Arial MT"/>
              </a:rPr>
              <a:t>…+</a:t>
            </a:r>
            <a:r>
              <a:rPr sz="1800" spc="-10" dirty="0">
                <a:solidFill>
                  <a:srgbClr val="009999"/>
                </a:solidFill>
                <a:latin typeface="Arial MT"/>
                <a:cs typeface="Arial MT"/>
              </a:rPr>
              <a:t> </a:t>
            </a:r>
            <a:r>
              <a:rPr sz="1800" i="1" spc="-25" dirty="0">
                <a:solidFill>
                  <a:srgbClr val="009999"/>
                </a:solidFill>
                <a:latin typeface="Arial"/>
                <a:cs typeface="Arial"/>
              </a:rPr>
              <a:t>X</a:t>
            </a:r>
            <a:r>
              <a:rPr sz="1800" i="1" spc="-37" baseline="-20833" dirty="0">
                <a:solidFill>
                  <a:srgbClr val="009999"/>
                </a:solidFill>
                <a:latin typeface="Arial"/>
                <a:cs typeface="Arial"/>
              </a:rPr>
              <a:t>n</a:t>
            </a:r>
            <a:endParaRPr sz="1800" baseline="-20833">
              <a:latin typeface="Arial"/>
              <a:cs typeface="Arial"/>
            </a:endParaRPr>
          </a:p>
          <a:p>
            <a:pPr marL="367665" indent="-342265">
              <a:lnSpc>
                <a:spcPct val="100000"/>
              </a:lnSpc>
              <a:spcBef>
                <a:spcPts val="430"/>
              </a:spcBef>
              <a:buChar char="•"/>
              <a:tabLst>
                <a:tab pos="367665" algn="l"/>
              </a:tabLst>
            </a:pPr>
            <a:r>
              <a:rPr sz="1800" dirty="0">
                <a:latin typeface="Arial MT"/>
                <a:cs typeface="Arial MT"/>
              </a:rPr>
              <a:t>E[</a:t>
            </a:r>
            <a:r>
              <a:rPr sz="1800" i="1" dirty="0">
                <a:latin typeface="Arial"/>
                <a:cs typeface="Arial"/>
              </a:rPr>
              <a:t>X</a:t>
            </a:r>
            <a:r>
              <a:rPr sz="1800" baseline="-20833" dirty="0">
                <a:latin typeface="Arial MT"/>
                <a:cs typeface="Arial MT"/>
              </a:rPr>
              <a:t>i</a:t>
            </a:r>
            <a:r>
              <a:rPr sz="1800" dirty="0">
                <a:latin typeface="Arial MT"/>
                <a:cs typeface="Arial MT"/>
              </a:rPr>
              <a:t>]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Pr{H}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½, 1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Symbol"/>
                <a:cs typeface="Symbol"/>
              </a:rPr>
              <a:t>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Arial"/>
                <a:cs typeface="Arial"/>
              </a:rPr>
              <a:t>i</a:t>
            </a:r>
            <a:r>
              <a:rPr sz="1800" i="1" spc="-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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i="1" spc="-25" dirty="0">
                <a:latin typeface="Arial"/>
                <a:cs typeface="Arial"/>
              </a:rPr>
              <a:t>n</a:t>
            </a:r>
            <a:r>
              <a:rPr sz="1800" spc="-25" dirty="0"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  <a:p>
            <a:pPr marL="342265" marR="4878070" indent="-317500">
              <a:lnSpc>
                <a:spcPct val="120000"/>
              </a:lnSpc>
              <a:buChar char="•"/>
              <a:tabLst>
                <a:tab pos="342265" algn="l"/>
                <a:tab pos="367665" algn="l"/>
                <a:tab pos="965200" algn="l"/>
              </a:tabLst>
            </a:pPr>
            <a:r>
              <a:rPr sz="1800" dirty="0">
                <a:latin typeface="Arial MT"/>
                <a:cs typeface="Arial MT"/>
              </a:rPr>
              <a:t>	Expected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number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heads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is </a:t>
            </a:r>
            <a:r>
              <a:rPr sz="1800" spc="-20" dirty="0">
                <a:latin typeface="Arial MT"/>
                <a:cs typeface="Arial MT"/>
              </a:rPr>
              <a:t>E[</a:t>
            </a:r>
            <a:r>
              <a:rPr sz="1800" i="1" spc="-20" dirty="0">
                <a:latin typeface="Arial"/>
                <a:cs typeface="Arial"/>
              </a:rPr>
              <a:t>X</a:t>
            </a:r>
            <a:r>
              <a:rPr sz="1800" spc="-20" dirty="0">
                <a:latin typeface="Arial MT"/>
                <a:cs typeface="Arial MT"/>
              </a:rPr>
              <a:t>]</a:t>
            </a:r>
            <a:r>
              <a:rPr sz="1800" dirty="0">
                <a:latin typeface="Arial MT"/>
                <a:cs typeface="Arial MT"/>
              </a:rPr>
              <a:t>	=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E[</a:t>
            </a:r>
            <a:r>
              <a:rPr sz="1800" dirty="0">
                <a:latin typeface="Symbol"/>
                <a:cs typeface="Symbol"/>
              </a:rPr>
              <a:t></a:t>
            </a:r>
            <a:r>
              <a:rPr sz="1800" i="1" baseline="-20833" dirty="0">
                <a:latin typeface="Arial"/>
                <a:cs typeface="Arial"/>
              </a:rPr>
              <a:t>i</a:t>
            </a:r>
            <a:r>
              <a:rPr sz="1800" baseline="-20833" dirty="0">
                <a:latin typeface="Arial MT"/>
                <a:cs typeface="Arial MT"/>
              </a:rPr>
              <a:t>=1..</a:t>
            </a:r>
            <a:r>
              <a:rPr sz="1800" i="1" baseline="-20833" dirty="0">
                <a:latin typeface="Arial"/>
                <a:cs typeface="Arial"/>
              </a:rPr>
              <a:t>n</a:t>
            </a:r>
            <a:r>
              <a:rPr sz="1800" i="1" spc="-22" baseline="-20833" dirty="0">
                <a:latin typeface="Arial"/>
                <a:cs typeface="Arial"/>
              </a:rPr>
              <a:t> </a:t>
            </a:r>
            <a:r>
              <a:rPr sz="1800" i="1" spc="-20" dirty="0">
                <a:latin typeface="Arial"/>
                <a:cs typeface="Arial"/>
              </a:rPr>
              <a:t>X</a:t>
            </a:r>
            <a:r>
              <a:rPr sz="1800" spc="-30" baseline="-20833" dirty="0">
                <a:latin typeface="Arial MT"/>
                <a:cs typeface="Arial MT"/>
              </a:rPr>
              <a:t>i</a:t>
            </a:r>
            <a:r>
              <a:rPr sz="1800" spc="-20" dirty="0">
                <a:latin typeface="Arial MT"/>
                <a:cs typeface="Arial MT"/>
              </a:rPr>
              <a:t>].</a:t>
            </a:r>
            <a:endParaRPr sz="1800">
              <a:latin typeface="Arial MT"/>
              <a:cs typeface="Arial MT"/>
            </a:endParaRPr>
          </a:p>
          <a:p>
            <a:pPr marL="939800">
              <a:lnSpc>
                <a:spcPct val="100000"/>
              </a:lnSpc>
              <a:spcBef>
                <a:spcPts val="434"/>
              </a:spcBef>
            </a:pPr>
            <a:r>
              <a:rPr sz="1800" dirty="0">
                <a:latin typeface="Arial MT"/>
                <a:cs typeface="Arial MT"/>
              </a:rPr>
              <a:t>=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Symbol"/>
                <a:cs typeface="Symbol"/>
              </a:rPr>
              <a:t></a:t>
            </a:r>
            <a:r>
              <a:rPr sz="1800" i="1" baseline="-20833" dirty="0">
                <a:latin typeface="Arial"/>
                <a:cs typeface="Arial"/>
              </a:rPr>
              <a:t>i</a:t>
            </a:r>
            <a:r>
              <a:rPr sz="1800" baseline="-20833" dirty="0">
                <a:latin typeface="Arial MT"/>
                <a:cs typeface="Arial MT"/>
              </a:rPr>
              <a:t>=1..</a:t>
            </a:r>
            <a:r>
              <a:rPr sz="1800" i="1" baseline="-20833" dirty="0">
                <a:latin typeface="Arial"/>
                <a:cs typeface="Arial"/>
              </a:rPr>
              <a:t>n</a:t>
            </a:r>
            <a:r>
              <a:rPr sz="1800" i="1" spc="-15" baseline="-20833" dirty="0">
                <a:latin typeface="Arial"/>
                <a:cs typeface="Arial"/>
              </a:rPr>
              <a:t> </a:t>
            </a:r>
            <a:r>
              <a:rPr sz="1800" spc="-10" dirty="0">
                <a:latin typeface="Arial MT"/>
                <a:cs typeface="Arial MT"/>
              </a:rPr>
              <a:t>E[</a:t>
            </a:r>
            <a:r>
              <a:rPr sz="1800" spc="-165" dirty="0">
                <a:latin typeface="Arial MT"/>
                <a:cs typeface="Arial MT"/>
              </a:rPr>
              <a:t> </a:t>
            </a:r>
            <a:r>
              <a:rPr sz="1800" i="1" dirty="0">
                <a:latin typeface="Arial"/>
                <a:cs typeface="Arial"/>
              </a:rPr>
              <a:t>X</a:t>
            </a:r>
            <a:r>
              <a:rPr sz="1800" baseline="-20833" dirty="0">
                <a:latin typeface="Arial MT"/>
                <a:cs typeface="Arial MT"/>
              </a:rPr>
              <a:t>i</a:t>
            </a:r>
            <a:r>
              <a:rPr sz="1800" dirty="0">
                <a:latin typeface="Arial MT"/>
                <a:cs typeface="Arial MT"/>
              </a:rPr>
              <a:t>]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Symbol"/>
                <a:cs typeface="Symbol"/>
              </a:rPr>
              <a:t></a:t>
            </a:r>
            <a:r>
              <a:rPr sz="1800" i="1" baseline="-20833" dirty="0">
                <a:latin typeface="Arial"/>
                <a:cs typeface="Arial"/>
              </a:rPr>
              <a:t>i</a:t>
            </a:r>
            <a:r>
              <a:rPr sz="1800" baseline="-20833" dirty="0">
                <a:latin typeface="Arial MT"/>
                <a:cs typeface="Arial MT"/>
              </a:rPr>
              <a:t>=1..</a:t>
            </a:r>
            <a:r>
              <a:rPr sz="1800" i="1" baseline="-20833" dirty="0">
                <a:latin typeface="Arial"/>
                <a:cs typeface="Arial"/>
              </a:rPr>
              <a:t>n</a:t>
            </a:r>
            <a:r>
              <a:rPr sz="1800" i="1" spc="-15" baseline="-20833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½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i="1" spc="-20" dirty="0">
                <a:latin typeface="Arial"/>
                <a:cs typeface="Arial"/>
              </a:rPr>
              <a:t>n</a:t>
            </a:r>
            <a:r>
              <a:rPr sz="1800" spc="-20" dirty="0">
                <a:latin typeface="Arial MT"/>
                <a:cs typeface="Arial MT"/>
              </a:rPr>
              <a:t>/2.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2687" rIns="0" bIns="0" rtlCol="0">
            <a:spAutoFit/>
          </a:bodyPr>
          <a:lstStyle/>
          <a:p>
            <a:pPr marL="70993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solidFill>
                  <a:srgbClr val="000000"/>
                </a:solidFill>
                <a:latin typeface="Arial MT"/>
                <a:cs typeface="Arial MT"/>
              </a:rPr>
              <a:t>Back</a:t>
            </a:r>
            <a:r>
              <a:rPr sz="4400" b="0" spc="-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4400" b="0" dirty="0">
                <a:solidFill>
                  <a:srgbClr val="000000"/>
                </a:solidFill>
                <a:latin typeface="Arial MT"/>
                <a:cs typeface="Arial MT"/>
              </a:rPr>
              <a:t>to</a:t>
            </a:r>
            <a:r>
              <a:rPr sz="4400" b="0" spc="-4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4400" b="0" dirty="0">
                <a:solidFill>
                  <a:srgbClr val="000000"/>
                </a:solidFill>
                <a:latin typeface="Arial MT"/>
                <a:cs typeface="Arial MT"/>
              </a:rPr>
              <a:t>the</a:t>
            </a:r>
            <a:r>
              <a:rPr sz="4400" b="0" spc="-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4400" b="0" dirty="0">
                <a:solidFill>
                  <a:srgbClr val="000000"/>
                </a:solidFill>
                <a:latin typeface="Arial MT"/>
                <a:cs typeface="Arial MT"/>
              </a:rPr>
              <a:t>Hiring</a:t>
            </a:r>
            <a:r>
              <a:rPr sz="4400" b="0" spc="-5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4400" b="0" spc="-10" dirty="0">
                <a:solidFill>
                  <a:srgbClr val="000000"/>
                </a:solidFill>
                <a:latin typeface="Arial MT"/>
                <a:cs typeface="Arial MT"/>
              </a:rPr>
              <a:t>Problem</a:t>
            </a:r>
            <a:endParaRPr sz="4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3240" y="1625853"/>
            <a:ext cx="7673975" cy="3171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8300" marR="667385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68300" algn="l"/>
              </a:tabLst>
            </a:pPr>
            <a:r>
              <a:rPr sz="2400" dirty="0">
                <a:latin typeface="Arial MT"/>
                <a:cs typeface="Arial MT"/>
              </a:rPr>
              <a:t>We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want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know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expected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cost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our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hiring </a:t>
            </a:r>
            <a:r>
              <a:rPr sz="2400" dirty="0">
                <a:latin typeface="Arial MT"/>
                <a:cs typeface="Arial MT"/>
              </a:rPr>
              <a:t>algorithm,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terms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how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many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times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hire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an </a:t>
            </a:r>
            <a:r>
              <a:rPr sz="2400" spc="-10" dirty="0">
                <a:latin typeface="Arial MT"/>
                <a:cs typeface="Arial MT"/>
              </a:rPr>
              <a:t>applicant.</a:t>
            </a:r>
            <a:endParaRPr sz="2400">
              <a:latin typeface="Arial MT"/>
              <a:cs typeface="Arial MT"/>
            </a:endParaRPr>
          </a:p>
          <a:p>
            <a:pPr marL="368300" marR="17780" indent="-342900">
              <a:lnSpc>
                <a:spcPct val="100000"/>
              </a:lnSpc>
              <a:spcBef>
                <a:spcPts val="580"/>
              </a:spcBef>
              <a:buChar char="•"/>
              <a:tabLst>
                <a:tab pos="368300" algn="l"/>
              </a:tabLst>
            </a:pPr>
            <a:r>
              <a:rPr sz="2400" dirty="0">
                <a:latin typeface="Arial MT"/>
                <a:cs typeface="Arial MT"/>
              </a:rPr>
              <a:t>Random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variable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X(s)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number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applicants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that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hired,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given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input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sequence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s.</a:t>
            </a:r>
            <a:endParaRPr sz="2400">
              <a:latin typeface="Arial MT"/>
              <a:cs typeface="Arial MT"/>
            </a:endParaRPr>
          </a:p>
          <a:p>
            <a:pPr marL="368300" marR="77216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68300" algn="l"/>
                <a:tab pos="6487795" algn="l"/>
              </a:tabLst>
            </a:pPr>
            <a:r>
              <a:rPr sz="2400" dirty="0">
                <a:latin typeface="Arial MT"/>
                <a:cs typeface="Arial MT"/>
              </a:rPr>
              <a:t>Indicator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random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variable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X</a:t>
            </a:r>
            <a:r>
              <a:rPr sz="2400" baseline="-20833" dirty="0">
                <a:latin typeface="Arial MT"/>
                <a:cs typeface="Arial MT"/>
              </a:rPr>
              <a:t>i</a:t>
            </a:r>
            <a:r>
              <a:rPr sz="2400" spc="217" baseline="-2083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applicant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=</a:t>
            </a:r>
            <a:r>
              <a:rPr sz="2400" dirty="0">
                <a:latin typeface="Arial MT"/>
                <a:cs typeface="Arial MT"/>
              </a:rPr>
              <a:t>	1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if </a:t>
            </a:r>
            <a:r>
              <a:rPr sz="2400" dirty="0">
                <a:latin typeface="Arial MT"/>
                <a:cs typeface="Arial MT"/>
              </a:rPr>
              <a:t>applicant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hired,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0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otherwise.</a:t>
            </a:r>
            <a:endParaRPr sz="2400">
              <a:latin typeface="Arial MT"/>
              <a:cs typeface="Arial MT"/>
            </a:endParaRPr>
          </a:p>
          <a:p>
            <a:pPr marL="367665" indent="-342265">
              <a:lnSpc>
                <a:spcPct val="100000"/>
              </a:lnSpc>
              <a:spcBef>
                <a:spcPts val="575"/>
              </a:spcBef>
              <a:buChar char="•"/>
              <a:tabLst>
                <a:tab pos="367665" algn="l"/>
              </a:tabLst>
            </a:pPr>
            <a:r>
              <a:rPr sz="2400" dirty="0">
                <a:latin typeface="Arial MT"/>
                <a:cs typeface="Arial MT"/>
              </a:rPr>
              <a:t>What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E[X]?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70100" y="440182"/>
            <a:ext cx="60051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dirty="0">
                <a:solidFill>
                  <a:srgbClr val="000000"/>
                </a:solidFill>
                <a:latin typeface="Arial MT"/>
                <a:cs typeface="Arial MT"/>
              </a:rPr>
              <a:t>Probability</a:t>
            </a:r>
            <a:r>
              <a:rPr sz="3200" b="0" spc="-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200" b="0" dirty="0">
                <a:solidFill>
                  <a:srgbClr val="000000"/>
                </a:solidFill>
                <a:latin typeface="Arial MT"/>
                <a:cs typeface="Arial MT"/>
              </a:rPr>
              <a:t>of</a:t>
            </a:r>
            <a:r>
              <a:rPr sz="3200" b="0" spc="-4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200" b="0" dirty="0">
                <a:solidFill>
                  <a:srgbClr val="000000"/>
                </a:solidFill>
                <a:latin typeface="Arial MT"/>
                <a:cs typeface="Arial MT"/>
              </a:rPr>
              <a:t>Hiring</a:t>
            </a:r>
            <a:r>
              <a:rPr sz="3200" b="0" spc="-6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200" b="0" spc="-10" dirty="0">
                <a:solidFill>
                  <a:srgbClr val="000000"/>
                </a:solidFill>
                <a:latin typeface="Arial MT"/>
                <a:cs typeface="Arial MT"/>
              </a:rPr>
              <a:t>i-</a:t>
            </a:r>
            <a:r>
              <a:rPr sz="3200" b="0" dirty="0">
                <a:solidFill>
                  <a:srgbClr val="000000"/>
                </a:solidFill>
                <a:latin typeface="Arial MT"/>
                <a:cs typeface="Arial MT"/>
              </a:rPr>
              <a:t>th</a:t>
            </a:r>
            <a:r>
              <a:rPr sz="3200" b="0" spc="-4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200" b="0" spc="-10" dirty="0">
                <a:solidFill>
                  <a:srgbClr val="000000"/>
                </a:solidFill>
                <a:latin typeface="Arial MT"/>
                <a:cs typeface="Arial MT"/>
              </a:rPr>
              <a:t>Applicant</a:t>
            </a:r>
            <a:endParaRPr sz="3200">
              <a:latin typeface="Arial MT"/>
              <a:cs typeface="Arial MT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636394" y="4373755"/>
          <a:ext cx="3637278" cy="18313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12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9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74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31750">
                        <a:lnSpc>
                          <a:spcPts val="2785"/>
                        </a:lnSpc>
                      </a:pPr>
                      <a:r>
                        <a:rPr sz="2400" b="1" spc="-20" dirty="0">
                          <a:latin typeface="Arial"/>
                          <a:cs typeface="Arial"/>
                        </a:rPr>
                        <a:t>1243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85"/>
                        </a:lnSpc>
                      </a:pPr>
                      <a:r>
                        <a:rPr sz="2400" b="1" spc="-20" dirty="0">
                          <a:latin typeface="Arial"/>
                          <a:cs typeface="Arial"/>
                        </a:rPr>
                        <a:t>2143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ts val="2785"/>
                        </a:lnSpc>
                      </a:pPr>
                      <a:r>
                        <a:rPr sz="2400" spc="-20" dirty="0">
                          <a:latin typeface="Tahoma"/>
                          <a:cs typeface="Tahoma"/>
                        </a:rPr>
                        <a:t>3142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6995" algn="ctr">
                        <a:lnSpc>
                          <a:spcPts val="2785"/>
                        </a:lnSpc>
                      </a:pPr>
                      <a:r>
                        <a:rPr sz="2400" spc="-20" dirty="0">
                          <a:latin typeface="Tahoma"/>
                          <a:cs typeface="Tahoma"/>
                        </a:rPr>
                        <a:t>4132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31750">
                        <a:lnSpc>
                          <a:spcPts val="2780"/>
                        </a:lnSpc>
                      </a:pPr>
                      <a:r>
                        <a:rPr sz="2400" b="1" spc="-20" dirty="0">
                          <a:latin typeface="Arial"/>
                          <a:cs typeface="Arial"/>
                        </a:rPr>
                        <a:t>1324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80"/>
                        </a:lnSpc>
                      </a:pPr>
                      <a:r>
                        <a:rPr sz="2400" b="1" spc="-20" dirty="0">
                          <a:latin typeface="Arial"/>
                          <a:cs typeface="Arial"/>
                        </a:rPr>
                        <a:t>2314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ts val="2780"/>
                        </a:lnSpc>
                      </a:pPr>
                      <a:r>
                        <a:rPr sz="2400" spc="-20" dirty="0">
                          <a:latin typeface="Tahoma"/>
                          <a:cs typeface="Tahoma"/>
                        </a:rPr>
                        <a:t>3214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6995" algn="ctr">
                        <a:lnSpc>
                          <a:spcPts val="2780"/>
                        </a:lnSpc>
                      </a:pPr>
                      <a:r>
                        <a:rPr sz="2400" spc="-20" dirty="0">
                          <a:latin typeface="Tahoma"/>
                          <a:cs typeface="Tahoma"/>
                        </a:rPr>
                        <a:t>4213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31750">
                        <a:lnSpc>
                          <a:spcPts val="2780"/>
                        </a:lnSpc>
                      </a:pPr>
                      <a:r>
                        <a:rPr sz="2400" b="1" spc="-20" dirty="0">
                          <a:latin typeface="Arial"/>
                          <a:cs typeface="Arial"/>
                        </a:rPr>
                        <a:t>1342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80"/>
                        </a:lnSpc>
                      </a:pPr>
                      <a:r>
                        <a:rPr sz="2400" b="1" spc="-20" dirty="0">
                          <a:latin typeface="Arial"/>
                          <a:cs typeface="Arial"/>
                        </a:rPr>
                        <a:t>2341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ts val="2780"/>
                        </a:lnSpc>
                      </a:pPr>
                      <a:r>
                        <a:rPr sz="2400" spc="-20" dirty="0">
                          <a:latin typeface="Tahoma"/>
                          <a:cs typeface="Tahoma"/>
                        </a:rPr>
                        <a:t>3241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6995" algn="ctr">
                        <a:lnSpc>
                          <a:spcPts val="2780"/>
                        </a:lnSpc>
                      </a:pPr>
                      <a:r>
                        <a:rPr sz="2400" spc="-20" dirty="0">
                          <a:latin typeface="Tahoma"/>
                          <a:cs typeface="Tahoma"/>
                        </a:rPr>
                        <a:t>4231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31750">
                        <a:lnSpc>
                          <a:spcPts val="2780"/>
                        </a:lnSpc>
                      </a:pPr>
                      <a:r>
                        <a:rPr sz="2400" b="1" spc="-20" dirty="0">
                          <a:latin typeface="Arial"/>
                          <a:cs typeface="Arial"/>
                        </a:rPr>
                        <a:t>1423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80"/>
                        </a:lnSpc>
                      </a:pPr>
                      <a:r>
                        <a:rPr sz="2400" b="1" spc="-20" dirty="0">
                          <a:latin typeface="Arial"/>
                          <a:cs typeface="Arial"/>
                        </a:rPr>
                        <a:t>2413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ts val="2780"/>
                        </a:lnSpc>
                      </a:pPr>
                      <a:r>
                        <a:rPr sz="2400" spc="-20" dirty="0">
                          <a:latin typeface="Tahoma"/>
                          <a:cs typeface="Tahoma"/>
                        </a:rPr>
                        <a:t>3412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6995" algn="ctr">
                        <a:lnSpc>
                          <a:spcPts val="2780"/>
                        </a:lnSpc>
                      </a:pPr>
                      <a:r>
                        <a:rPr sz="2400" spc="-20" dirty="0">
                          <a:latin typeface="Tahoma"/>
                          <a:cs typeface="Tahoma"/>
                        </a:rPr>
                        <a:t>4312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570">
                <a:tc>
                  <a:txBody>
                    <a:bodyPr/>
                    <a:lstStyle/>
                    <a:p>
                      <a:pPr marL="31750">
                        <a:lnSpc>
                          <a:spcPts val="2815"/>
                        </a:lnSpc>
                      </a:pPr>
                      <a:r>
                        <a:rPr sz="2400" b="1" spc="-20" dirty="0">
                          <a:latin typeface="Arial"/>
                          <a:cs typeface="Arial"/>
                        </a:rPr>
                        <a:t>1432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15"/>
                        </a:lnSpc>
                      </a:pPr>
                      <a:r>
                        <a:rPr sz="2400" b="1" spc="-20" dirty="0">
                          <a:latin typeface="Arial"/>
                          <a:cs typeface="Arial"/>
                        </a:rPr>
                        <a:t>2431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ts val="2815"/>
                        </a:lnSpc>
                      </a:pPr>
                      <a:r>
                        <a:rPr sz="2400" spc="-20" dirty="0">
                          <a:latin typeface="Tahoma"/>
                          <a:cs typeface="Tahoma"/>
                        </a:rPr>
                        <a:t>3421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6995" algn="ctr">
                        <a:lnSpc>
                          <a:spcPts val="2815"/>
                        </a:lnSpc>
                      </a:pPr>
                      <a:r>
                        <a:rPr sz="2400" spc="-20" dirty="0">
                          <a:latin typeface="Tahoma"/>
                          <a:cs typeface="Tahoma"/>
                        </a:rPr>
                        <a:t>4321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1652777" y="3966209"/>
            <a:ext cx="838200" cy="381000"/>
          </a:xfrm>
          <a:custGeom>
            <a:avLst/>
            <a:gdLst/>
            <a:ahLst/>
            <a:cxnLst/>
            <a:rect l="l" t="t" r="r" b="b"/>
            <a:pathLst>
              <a:path w="838200" h="381000">
                <a:moveTo>
                  <a:pt x="0" y="63500"/>
                </a:moveTo>
                <a:lnTo>
                  <a:pt x="4992" y="38790"/>
                </a:lnTo>
                <a:lnTo>
                  <a:pt x="18605" y="18605"/>
                </a:lnTo>
                <a:lnTo>
                  <a:pt x="38790" y="4992"/>
                </a:lnTo>
                <a:lnTo>
                  <a:pt x="63500" y="0"/>
                </a:lnTo>
                <a:lnTo>
                  <a:pt x="774700" y="0"/>
                </a:lnTo>
                <a:lnTo>
                  <a:pt x="799409" y="4992"/>
                </a:lnTo>
                <a:lnTo>
                  <a:pt x="819594" y="18605"/>
                </a:lnTo>
                <a:lnTo>
                  <a:pt x="833207" y="38790"/>
                </a:lnTo>
                <a:lnTo>
                  <a:pt x="838200" y="63500"/>
                </a:lnTo>
                <a:lnTo>
                  <a:pt x="838200" y="317500"/>
                </a:lnTo>
                <a:lnTo>
                  <a:pt x="833207" y="342209"/>
                </a:lnTo>
                <a:lnTo>
                  <a:pt x="819594" y="362394"/>
                </a:lnTo>
                <a:lnTo>
                  <a:pt x="799409" y="376007"/>
                </a:lnTo>
                <a:lnTo>
                  <a:pt x="774700" y="381000"/>
                </a:lnTo>
                <a:lnTo>
                  <a:pt x="63500" y="381000"/>
                </a:lnTo>
                <a:lnTo>
                  <a:pt x="38790" y="376007"/>
                </a:lnTo>
                <a:lnTo>
                  <a:pt x="18605" y="362394"/>
                </a:lnTo>
                <a:lnTo>
                  <a:pt x="4992" y="342209"/>
                </a:lnTo>
                <a:lnTo>
                  <a:pt x="0" y="317500"/>
                </a:lnTo>
                <a:lnTo>
                  <a:pt x="0" y="63500"/>
                </a:lnTo>
                <a:close/>
              </a:path>
            </a:pathLst>
          </a:custGeom>
          <a:ln w="38100">
            <a:solidFill>
              <a:srgbClr val="FFBD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52777" y="4347209"/>
            <a:ext cx="838200" cy="381000"/>
          </a:xfrm>
          <a:custGeom>
            <a:avLst/>
            <a:gdLst/>
            <a:ahLst/>
            <a:cxnLst/>
            <a:rect l="l" t="t" r="r" b="b"/>
            <a:pathLst>
              <a:path w="838200" h="381000">
                <a:moveTo>
                  <a:pt x="0" y="63500"/>
                </a:moveTo>
                <a:lnTo>
                  <a:pt x="4992" y="38790"/>
                </a:lnTo>
                <a:lnTo>
                  <a:pt x="18605" y="18605"/>
                </a:lnTo>
                <a:lnTo>
                  <a:pt x="38790" y="4992"/>
                </a:lnTo>
                <a:lnTo>
                  <a:pt x="63500" y="0"/>
                </a:lnTo>
                <a:lnTo>
                  <a:pt x="774700" y="0"/>
                </a:lnTo>
                <a:lnTo>
                  <a:pt x="799409" y="4992"/>
                </a:lnTo>
                <a:lnTo>
                  <a:pt x="819594" y="18605"/>
                </a:lnTo>
                <a:lnTo>
                  <a:pt x="833207" y="38790"/>
                </a:lnTo>
                <a:lnTo>
                  <a:pt x="838200" y="63500"/>
                </a:lnTo>
                <a:lnTo>
                  <a:pt x="838200" y="317500"/>
                </a:lnTo>
                <a:lnTo>
                  <a:pt x="833207" y="342209"/>
                </a:lnTo>
                <a:lnTo>
                  <a:pt x="819594" y="362394"/>
                </a:lnTo>
                <a:lnTo>
                  <a:pt x="799409" y="376007"/>
                </a:lnTo>
                <a:lnTo>
                  <a:pt x="774700" y="381000"/>
                </a:lnTo>
                <a:lnTo>
                  <a:pt x="63500" y="381000"/>
                </a:lnTo>
                <a:lnTo>
                  <a:pt x="38790" y="376007"/>
                </a:lnTo>
                <a:lnTo>
                  <a:pt x="18605" y="362394"/>
                </a:lnTo>
                <a:lnTo>
                  <a:pt x="4992" y="342209"/>
                </a:lnTo>
                <a:lnTo>
                  <a:pt x="0" y="317500"/>
                </a:lnTo>
                <a:lnTo>
                  <a:pt x="0" y="63500"/>
                </a:lnTo>
                <a:close/>
              </a:path>
            </a:pathLst>
          </a:custGeom>
          <a:ln w="38100">
            <a:solidFill>
              <a:srgbClr val="FFBD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52777" y="5033009"/>
            <a:ext cx="1752600" cy="381000"/>
          </a:xfrm>
          <a:custGeom>
            <a:avLst/>
            <a:gdLst/>
            <a:ahLst/>
            <a:cxnLst/>
            <a:rect l="l" t="t" r="r" b="b"/>
            <a:pathLst>
              <a:path w="1752600" h="381000">
                <a:moveTo>
                  <a:pt x="0" y="63500"/>
                </a:moveTo>
                <a:lnTo>
                  <a:pt x="4992" y="38790"/>
                </a:lnTo>
                <a:lnTo>
                  <a:pt x="18605" y="18605"/>
                </a:lnTo>
                <a:lnTo>
                  <a:pt x="38790" y="4992"/>
                </a:lnTo>
                <a:lnTo>
                  <a:pt x="63500" y="0"/>
                </a:lnTo>
                <a:lnTo>
                  <a:pt x="774700" y="0"/>
                </a:lnTo>
                <a:lnTo>
                  <a:pt x="799409" y="4992"/>
                </a:lnTo>
                <a:lnTo>
                  <a:pt x="819594" y="18605"/>
                </a:lnTo>
                <a:lnTo>
                  <a:pt x="833207" y="38790"/>
                </a:lnTo>
                <a:lnTo>
                  <a:pt x="838200" y="63500"/>
                </a:lnTo>
                <a:lnTo>
                  <a:pt x="838200" y="317499"/>
                </a:lnTo>
                <a:lnTo>
                  <a:pt x="833207" y="342209"/>
                </a:lnTo>
                <a:lnTo>
                  <a:pt x="819594" y="362394"/>
                </a:lnTo>
                <a:lnTo>
                  <a:pt x="799409" y="376007"/>
                </a:lnTo>
                <a:lnTo>
                  <a:pt x="774700" y="380999"/>
                </a:lnTo>
                <a:lnTo>
                  <a:pt x="63500" y="380999"/>
                </a:lnTo>
                <a:lnTo>
                  <a:pt x="38790" y="376007"/>
                </a:lnTo>
                <a:lnTo>
                  <a:pt x="18605" y="362394"/>
                </a:lnTo>
                <a:lnTo>
                  <a:pt x="4992" y="342209"/>
                </a:lnTo>
                <a:lnTo>
                  <a:pt x="0" y="317499"/>
                </a:lnTo>
                <a:lnTo>
                  <a:pt x="0" y="63500"/>
                </a:lnTo>
                <a:close/>
              </a:path>
              <a:path w="1752600" h="381000">
                <a:moveTo>
                  <a:pt x="914400" y="63500"/>
                </a:moveTo>
                <a:lnTo>
                  <a:pt x="919392" y="38790"/>
                </a:lnTo>
                <a:lnTo>
                  <a:pt x="933005" y="18605"/>
                </a:lnTo>
                <a:lnTo>
                  <a:pt x="953190" y="4992"/>
                </a:lnTo>
                <a:lnTo>
                  <a:pt x="977900" y="0"/>
                </a:lnTo>
                <a:lnTo>
                  <a:pt x="1689100" y="0"/>
                </a:lnTo>
                <a:lnTo>
                  <a:pt x="1713809" y="4992"/>
                </a:lnTo>
                <a:lnTo>
                  <a:pt x="1733994" y="18605"/>
                </a:lnTo>
                <a:lnTo>
                  <a:pt x="1747607" y="38790"/>
                </a:lnTo>
                <a:lnTo>
                  <a:pt x="1752600" y="63500"/>
                </a:lnTo>
                <a:lnTo>
                  <a:pt x="1752600" y="317499"/>
                </a:lnTo>
                <a:lnTo>
                  <a:pt x="1747607" y="342209"/>
                </a:lnTo>
                <a:lnTo>
                  <a:pt x="1733994" y="362394"/>
                </a:lnTo>
                <a:lnTo>
                  <a:pt x="1713809" y="376007"/>
                </a:lnTo>
                <a:lnTo>
                  <a:pt x="1689100" y="380999"/>
                </a:lnTo>
                <a:lnTo>
                  <a:pt x="977900" y="380999"/>
                </a:lnTo>
                <a:lnTo>
                  <a:pt x="953190" y="376007"/>
                </a:lnTo>
                <a:lnTo>
                  <a:pt x="933005" y="362394"/>
                </a:lnTo>
                <a:lnTo>
                  <a:pt x="919392" y="342209"/>
                </a:lnTo>
                <a:lnTo>
                  <a:pt x="914400" y="317499"/>
                </a:lnTo>
                <a:lnTo>
                  <a:pt x="914400" y="63500"/>
                </a:lnTo>
                <a:close/>
              </a:path>
            </a:pathLst>
          </a:custGeom>
          <a:ln w="38100">
            <a:solidFill>
              <a:srgbClr val="FFBD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85140" y="1321053"/>
            <a:ext cx="8128634" cy="36722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6400" marR="8128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406400" algn="l"/>
              </a:tabLst>
            </a:pPr>
            <a:r>
              <a:rPr sz="2400" dirty="0">
                <a:latin typeface="Arial MT"/>
                <a:cs typeface="Arial MT"/>
              </a:rPr>
              <a:t>Probability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hiring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probability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better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</a:t>
            </a:r>
            <a:r>
              <a:rPr sz="2400" dirty="0">
                <a:latin typeface="Arial MT"/>
                <a:cs typeface="Arial MT"/>
              </a:rPr>
              <a:t>previous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i-</a:t>
            </a:r>
            <a:r>
              <a:rPr sz="2400" dirty="0">
                <a:latin typeface="Arial MT"/>
                <a:cs typeface="Arial MT"/>
              </a:rPr>
              <a:t>1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applicants…</a:t>
            </a:r>
            <a:endParaRPr sz="2400">
              <a:latin typeface="Arial MT"/>
              <a:cs typeface="Arial MT"/>
            </a:endParaRPr>
          </a:p>
          <a:p>
            <a:pPr marL="520700">
              <a:lnSpc>
                <a:spcPct val="100000"/>
              </a:lnSpc>
              <a:spcBef>
                <a:spcPts val="484"/>
              </a:spcBef>
            </a:pPr>
            <a:r>
              <a:rPr sz="2000" dirty="0">
                <a:latin typeface="Arial MT"/>
                <a:cs typeface="Arial MT"/>
              </a:rPr>
              <a:t>Pr[X</a:t>
            </a:r>
            <a:r>
              <a:rPr sz="1950" baseline="-21367" dirty="0">
                <a:latin typeface="Arial MT"/>
                <a:cs typeface="Arial MT"/>
              </a:rPr>
              <a:t>i</a:t>
            </a:r>
            <a:r>
              <a:rPr sz="1950" spc="277" baseline="-21367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=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1]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=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1/i.</a:t>
            </a:r>
            <a:endParaRPr sz="2000">
              <a:latin typeface="Arial MT"/>
              <a:cs typeface="Arial MT"/>
            </a:endParaRPr>
          </a:p>
          <a:p>
            <a:pPr marL="405765" indent="-342265">
              <a:lnSpc>
                <a:spcPct val="100000"/>
              </a:lnSpc>
              <a:spcBef>
                <a:spcPts val="575"/>
              </a:spcBef>
              <a:buChar char="•"/>
              <a:tabLst>
                <a:tab pos="405765" algn="l"/>
              </a:tabLst>
            </a:pPr>
            <a:r>
              <a:rPr sz="2400" dirty="0">
                <a:latin typeface="Arial MT"/>
                <a:cs typeface="Arial MT"/>
              </a:rPr>
              <a:t>Suppose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4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3.</a:t>
            </a:r>
            <a:endParaRPr sz="2400">
              <a:latin typeface="Arial MT"/>
              <a:cs typeface="Arial MT"/>
            </a:endParaRPr>
          </a:p>
          <a:p>
            <a:pPr marL="406400" marR="806450" indent="-90170">
              <a:lnSpc>
                <a:spcPct val="100000"/>
              </a:lnSpc>
              <a:spcBef>
                <a:spcPts val="575"/>
              </a:spcBef>
            </a:pPr>
            <a:r>
              <a:rPr sz="2400" spc="-10" dirty="0">
                <a:latin typeface="Arial MT"/>
                <a:cs typeface="Arial MT"/>
              </a:rPr>
              <a:t>Ex:-</a:t>
            </a:r>
            <a:r>
              <a:rPr sz="2400" dirty="0">
                <a:latin typeface="Arial MT"/>
                <a:cs typeface="Arial MT"/>
              </a:rPr>
              <a:t>Probability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3rd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applicant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better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2 </a:t>
            </a:r>
            <a:r>
              <a:rPr sz="2400" dirty="0">
                <a:latin typeface="Arial MT"/>
                <a:cs typeface="Arial MT"/>
              </a:rPr>
              <a:t>previous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ones.</a:t>
            </a:r>
            <a:endParaRPr sz="2400">
              <a:latin typeface="Arial MT"/>
              <a:cs typeface="Arial MT"/>
            </a:endParaRPr>
          </a:p>
          <a:p>
            <a:pPr marL="1182370">
              <a:lnSpc>
                <a:spcPct val="100000"/>
              </a:lnSpc>
              <a:spcBef>
                <a:spcPts val="2605"/>
              </a:spcBef>
              <a:tabLst>
                <a:tab pos="2172970" algn="l"/>
                <a:tab pos="3164205" algn="l"/>
                <a:tab pos="4078604" algn="l"/>
              </a:tabLst>
            </a:pPr>
            <a:r>
              <a:rPr sz="2400" b="1" spc="-20" dirty="0">
                <a:latin typeface="Arial"/>
                <a:cs typeface="Arial"/>
              </a:rPr>
              <a:t>1234</a:t>
            </a:r>
            <a:r>
              <a:rPr sz="2400" b="1" dirty="0">
                <a:latin typeface="Arial"/>
                <a:cs typeface="Arial"/>
              </a:rPr>
              <a:t>	</a:t>
            </a:r>
            <a:r>
              <a:rPr sz="2400" spc="-20" dirty="0">
                <a:latin typeface="Tahoma"/>
                <a:cs typeface="Tahoma"/>
              </a:rPr>
              <a:t>2134</a:t>
            </a:r>
            <a:r>
              <a:rPr sz="2400" dirty="0">
                <a:latin typeface="Tahoma"/>
                <a:cs typeface="Tahoma"/>
              </a:rPr>
              <a:t>	</a:t>
            </a:r>
            <a:r>
              <a:rPr sz="2400" spc="-20" dirty="0">
                <a:latin typeface="Tahoma"/>
                <a:cs typeface="Tahoma"/>
              </a:rPr>
              <a:t>3124</a:t>
            </a:r>
            <a:r>
              <a:rPr sz="2400" dirty="0">
                <a:latin typeface="Tahoma"/>
                <a:cs typeface="Tahoma"/>
              </a:rPr>
              <a:t>	</a:t>
            </a:r>
            <a:r>
              <a:rPr sz="2400" spc="-20" dirty="0">
                <a:latin typeface="Tahoma"/>
                <a:cs typeface="Tahoma"/>
              </a:rPr>
              <a:t>4123</a:t>
            </a:r>
            <a:endParaRPr sz="2400">
              <a:latin typeface="Tahoma"/>
              <a:cs typeface="Tahoma"/>
            </a:endParaRPr>
          </a:p>
          <a:p>
            <a:pPr marR="903605" algn="r">
              <a:lnSpc>
                <a:spcPct val="100000"/>
              </a:lnSpc>
              <a:spcBef>
                <a:spcPts val="1910"/>
              </a:spcBef>
            </a:pPr>
            <a:r>
              <a:rPr sz="2400" dirty="0">
                <a:latin typeface="Tahoma"/>
                <a:cs typeface="Tahoma"/>
              </a:rPr>
              <a:t>8/24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spc="-300" dirty="0">
                <a:latin typeface="Tahoma"/>
                <a:cs typeface="Tahoma"/>
              </a:rPr>
              <a:t>=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1/3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643377" y="3966209"/>
            <a:ext cx="838200" cy="381000"/>
          </a:xfrm>
          <a:custGeom>
            <a:avLst/>
            <a:gdLst/>
            <a:ahLst/>
            <a:cxnLst/>
            <a:rect l="l" t="t" r="r" b="b"/>
            <a:pathLst>
              <a:path w="838200" h="381000">
                <a:moveTo>
                  <a:pt x="0" y="63500"/>
                </a:moveTo>
                <a:lnTo>
                  <a:pt x="4992" y="38790"/>
                </a:lnTo>
                <a:lnTo>
                  <a:pt x="18605" y="18605"/>
                </a:lnTo>
                <a:lnTo>
                  <a:pt x="38790" y="4992"/>
                </a:lnTo>
                <a:lnTo>
                  <a:pt x="63500" y="0"/>
                </a:lnTo>
                <a:lnTo>
                  <a:pt x="774700" y="0"/>
                </a:lnTo>
                <a:lnTo>
                  <a:pt x="799409" y="4992"/>
                </a:lnTo>
                <a:lnTo>
                  <a:pt x="819594" y="18605"/>
                </a:lnTo>
                <a:lnTo>
                  <a:pt x="833207" y="38790"/>
                </a:lnTo>
                <a:lnTo>
                  <a:pt x="838200" y="63500"/>
                </a:lnTo>
                <a:lnTo>
                  <a:pt x="838200" y="317500"/>
                </a:lnTo>
                <a:lnTo>
                  <a:pt x="833207" y="342209"/>
                </a:lnTo>
                <a:lnTo>
                  <a:pt x="819594" y="362394"/>
                </a:lnTo>
                <a:lnTo>
                  <a:pt x="799409" y="376007"/>
                </a:lnTo>
                <a:lnTo>
                  <a:pt x="774700" y="381000"/>
                </a:lnTo>
                <a:lnTo>
                  <a:pt x="63500" y="381000"/>
                </a:lnTo>
                <a:lnTo>
                  <a:pt x="38790" y="376007"/>
                </a:lnTo>
                <a:lnTo>
                  <a:pt x="18605" y="362394"/>
                </a:lnTo>
                <a:lnTo>
                  <a:pt x="4992" y="342209"/>
                </a:lnTo>
                <a:lnTo>
                  <a:pt x="0" y="317500"/>
                </a:lnTo>
                <a:lnTo>
                  <a:pt x="0" y="63500"/>
                </a:lnTo>
                <a:close/>
              </a:path>
            </a:pathLst>
          </a:custGeom>
          <a:ln w="38100">
            <a:solidFill>
              <a:srgbClr val="FFBD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643377" y="4347209"/>
            <a:ext cx="1752600" cy="381000"/>
          </a:xfrm>
          <a:custGeom>
            <a:avLst/>
            <a:gdLst/>
            <a:ahLst/>
            <a:cxnLst/>
            <a:rect l="l" t="t" r="r" b="b"/>
            <a:pathLst>
              <a:path w="1752600" h="381000">
                <a:moveTo>
                  <a:pt x="0" y="63500"/>
                </a:moveTo>
                <a:lnTo>
                  <a:pt x="4992" y="38790"/>
                </a:lnTo>
                <a:lnTo>
                  <a:pt x="18605" y="18605"/>
                </a:lnTo>
                <a:lnTo>
                  <a:pt x="38790" y="4992"/>
                </a:lnTo>
                <a:lnTo>
                  <a:pt x="63500" y="0"/>
                </a:lnTo>
                <a:lnTo>
                  <a:pt x="774700" y="0"/>
                </a:lnTo>
                <a:lnTo>
                  <a:pt x="799409" y="4992"/>
                </a:lnTo>
                <a:lnTo>
                  <a:pt x="819594" y="18605"/>
                </a:lnTo>
                <a:lnTo>
                  <a:pt x="833207" y="38790"/>
                </a:lnTo>
                <a:lnTo>
                  <a:pt x="838200" y="63500"/>
                </a:lnTo>
                <a:lnTo>
                  <a:pt x="838200" y="317500"/>
                </a:lnTo>
                <a:lnTo>
                  <a:pt x="833207" y="342209"/>
                </a:lnTo>
                <a:lnTo>
                  <a:pt x="819594" y="362394"/>
                </a:lnTo>
                <a:lnTo>
                  <a:pt x="799409" y="376007"/>
                </a:lnTo>
                <a:lnTo>
                  <a:pt x="774700" y="381000"/>
                </a:lnTo>
                <a:lnTo>
                  <a:pt x="63500" y="381000"/>
                </a:lnTo>
                <a:lnTo>
                  <a:pt x="38790" y="376007"/>
                </a:lnTo>
                <a:lnTo>
                  <a:pt x="18605" y="362394"/>
                </a:lnTo>
                <a:lnTo>
                  <a:pt x="4992" y="342209"/>
                </a:lnTo>
                <a:lnTo>
                  <a:pt x="0" y="317500"/>
                </a:lnTo>
                <a:lnTo>
                  <a:pt x="0" y="63500"/>
                </a:lnTo>
                <a:close/>
              </a:path>
              <a:path w="1752600" h="381000">
                <a:moveTo>
                  <a:pt x="914400" y="63500"/>
                </a:moveTo>
                <a:lnTo>
                  <a:pt x="919392" y="38790"/>
                </a:lnTo>
                <a:lnTo>
                  <a:pt x="933005" y="18605"/>
                </a:lnTo>
                <a:lnTo>
                  <a:pt x="953190" y="4992"/>
                </a:lnTo>
                <a:lnTo>
                  <a:pt x="977900" y="0"/>
                </a:lnTo>
                <a:lnTo>
                  <a:pt x="1689100" y="0"/>
                </a:lnTo>
                <a:lnTo>
                  <a:pt x="1713809" y="4992"/>
                </a:lnTo>
                <a:lnTo>
                  <a:pt x="1733994" y="18605"/>
                </a:lnTo>
                <a:lnTo>
                  <a:pt x="1747607" y="38790"/>
                </a:lnTo>
                <a:lnTo>
                  <a:pt x="1752600" y="63500"/>
                </a:lnTo>
                <a:lnTo>
                  <a:pt x="1752600" y="317500"/>
                </a:lnTo>
                <a:lnTo>
                  <a:pt x="1747607" y="342209"/>
                </a:lnTo>
                <a:lnTo>
                  <a:pt x="1733994" y="362394"/>
                </a:lnTo>
                <a:lnTo>
                  <a:pt x="1713809" y="376007"/>
                </a:lnTo>
                <a:lnTo>
                  <a:pt x="1689100" y="381000"/>
                </a:lnTo>
                <a:lnTo>
                  <a:pt x="977900" y="381000"/>
                </a:lnTo>
                <a:lnTo>
                  <a:pt x="953190" y="376007"/>
                </a:lnTo>
                <a:lnTo>
                  <a:pt x="933005" y="362394"/>
                </a:lnTo>
                <a:lnTo>
                  <a:pt x="919392" y="342209"/>
                </a:lnTo>
                <a:lnTo>
                  <a:pt x="914400" y="317500"/>
                </a:lnTo>
                <a:lnTo>
                  <a:pt x="914400" y="63500"/>
                </a:lnTo>
                <a:close/>
              </a:path>
            </a:pathLst>
          </a:custGeom>
          <a:ln w="38100">
            <a:solidFill>
              <a:srgbClr val="FFBD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633978" y="5109209"/>
            <a:ext cx="838200" cy="381000"/>
          </a:xfrm>
          <a:custGeom>
            <a:avLst/>
            <a:gdLst/>
            <a:ahLst/>
            <a:cxnLst/>
            <a:rect l="l" t="t" r="r" b="b"/>
            <a:pathLst>
              <a:path w="838200" h="381000">
                <a:moveTo>
                  <a:pt x="0" y="63500"/>
                </a:moveTo>
                <a:lnTo>
                  <a:pt x="4992" y="38790"/>
                </a:lnTo>
                <a:lnTo>
                  <a:pt x="18605" y="18605"/>
                </a:lnTo>
                <a:lnTo>
                  <a:pt x="38790" y="4992"/>
                </a:lnTo>
                <a:lnTo>
                  <a:pt x="63500" y="0"/>
                </a:lnTo>
                <a:lnTo>
                  <a:pt x="774700" y="0"/>
                </a:lnTo>
                <a:lnTo>
                  <a:pt x="799409" y="4992"/>
                </a:lnTo>
                <a:lnTo>
                  <a:pt x="819594" y="18605"/>
                </a:lnTo>
                <a:lnTo>
                  <a:pt x="833207" y="38790"/>
                </a:lnTo>
                <a:lnTo>
                  <a:pt x="838200" y="63500"/>
                </a:lnTo>
                <a:lnTo>
                  <a:pt x="838200" y="317499"/>
                </a:lnTo>
                <a:lnTo>
                  <a:pt x="833207" y="342209"/>
                </a:lnTo>
                <a:lnTo>
                  <a:pt x="819594" y="362394"/>
                </a:lnTo>
                <a:lnTo>
                  <a:pt x="799409" y="376007"/>
                </a:lnTo>
                <a:lnTo>
                  <a:pt x="774700" y="380999"/>
                </a:lnTo>
                <a:lnTo>
                  <a:pt x="63500" y="380999"/>
                </a:lnTo>
                <a:lnTo>
                  <a:pt x="38790" y="376007"/>
                </a:lnTo>
                <a:lnTo>
                  <a:pt x="18605" y="362394"/>
                </a:lnTo>
                <a:lnTo>
                  <a:pt x="4992" y="342209"/>
                </a:lnTo>
                <a:lnTo>
                  <a:pt x="0" y="317499"/>
                </a:lnTo>
                <a:lnTo>
                  <a:pt x="0" y="63500"/>
                </a:lnTo>
                <a:close/>
              </a:path>
            </a:pathLst>
          </a:custGeom>
          <a:ln w="38100">
            <a:solidFill>
              <a:srgbClr val="FFBD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2687" rIns="0" bIns="0" rtlCol="0">
            <a:spAutoFit/>
          </a:bodyPr>
          <a:lstStyle/>
          <a:p>
            <a:pPr marL="29083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solidFill>
                  <a:srgbClr val="000000"/>
                </a:solidFill>
                <a:latin typeface="Arial MT"/>
                <a:cs typeface="Arial MT"/>
              </a:rPr>
              <a:t>Analysis</a:t>
            </a:r>
            <a:r>
              <a:rPr sz="4400" b="0" spc="-5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4400" b="0" dirty="0">
                <a:solidFill>
                  <a:srgbClr val="000000"/>
                </a:solidFill>
                <a:latin typeface="Arial MT"/>
                <a:cs typeface="Arial MT"/>
              </a:rPr>
              <a:t>of</a:t>
            </a:r>
            <a:r>
              <a:rPr sz="4400" b="0" spc="-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4400" b="0" dirty="0">
                <a:solidFill>
                  <a:srgbClr val="000000"/>
                </a:solidFill>
                <a:latin typeface="Arial MT"/>
                <a:cs typeface="Arial MT"/>
              </a:rPr>
              <a:t>the</a:t>
            </a:r>
            <a:r>
              <a:rPr sz="4400" b="0" spc="-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4400" b="0" dirty="0">
                <a:solidFill>
                  <a:srgbClr val="000000"/>
                </a:solidFill>
                <a:latin typeface="Arial MT"/>
                <a:cs typeface="Arial MT"/>
              </a:rPr>
              <a:t>Hiring</a:t>
            </a:r>
            <a:r>
              <a:rPr sz="4400" b="0" spc="-5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4400" b="0" spc="-10" dirty="0">
                <a:solidFill>
                  <a:srgbClr val="000000"/>
                </a:solidFill>
                <a:latin typeface="Arial MT"/>
                <a:cs typeface="Arial MT"/>
              </a:rPr>
              <a:t>Problem</a:t>
            </a:r>
            <a:endParaRPr sz="4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340" y="1625853"/>
            <a:ext cx="635000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CC0000"/>
                </a:solidFill>
                <a:latin typeface="Arial MT"/>
                <a:cs typeface="Arial MT"/>
              </a:rPr>
              <a:t>Compute</a:t>
            </a:r>
            <a:r>
              <a:rPr sz="2400" spc="-60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CC0000"/>
                </a:solidFill>
                <a:latin typeface="Arial MT"/>
                <a:cs typeface="Arial MT"/>
              </a:rPr>
              <a:t>E[</a:t>
            </a:r>
            <a:r>
              <a:rPr sz="2400" i="1" dirty="0">
                <a:solidFill>
                  <a:srgbClr val="CC0000"/>
                </a:solidFill>
                <a:latin typeface="Arial"/>
                <a:cs typeface="Arial"/>
              </a:rPr>
              <a:t>X</a:t>
            </a:r>
            <a:r>
              <a:rPr sz="2400" dirty="0">
                <a:solidFill>
                  <a:srgbClr val="CC0000"/>
                </a:solidFill>
                <a:latin typeface="Arial MT"/>
                <a:cs typeface="Arial MT"/>
              </a:rPr>
              <a:t>],</a:t>
            </a:r>
            <a:r>
              <a:rPr sz="2400" spc="-90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number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candidates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we </a:t>
            </a:r>
            <a:r>
              <a:rPr sz="2400" dirty="0">
                <a:latin typeface="Arial MT"/>
                <a:cs typeface="Arial MT"/>
              </a:rPr>
              <a:t>expect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hire.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39809" y="3964407"/>
            <a:ext cx="173990" cy="365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00" u="sng" spc="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99645" y="4812736"/>
            <a:ext cx="522605" cy="314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30"/>
              </a:lnSpc>
            </a:pPr>
            <a:r>
              <a:rPr sz="2200" i="1" spc="-30" dirty="0">
                <a:latin typeface="Times New Roman"/>
                <a:cs typeface="Times New Roman"/>
              </a:rPr>
              <a:t>O</a:t>
            </a:r>
            <a:r>
              <a:rPr sz="2200" spc="-30" dirty="0">
                <a:latin typeface="Times New Roman"/>
                <a:cs typeface="Times New Roman"/>
              </a:rPr>
              <a:t>(1)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77807" y="4769153"/>
            <a:ext cx="889000" cy="365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00" spc="60" dirty="0">
                <a:latin typeface="Symbol"/>
                <a:cs typeface="Symbol"/>
              </a:rPr>
              <a:t>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ln</a:t>
            </a:r>
            <a:r>
              <a:rPr sz="2200" spc="-145" dirty="0">
                <a:latin typeface="Times New Roman"/>
                <a:cs typeface="Times New Roman"/>
              </a:rPr>
              <a:t> </a:t>
            </a:r>
            <a:r>
              <a:rPr sz="2200" i="1" spc="65" dirty="0">
                <a:latin typeface="Times New Roman"/>
                <a:cs typeface="Times New Roman"/>
              </a:rPr>
              <a:t>n</a:t>
            </a:r>
            <a:r>
              <a:rPr sz="2200" i="1" spc="-140" dirty="0">
                <a:latin typeface="Times New Roman"/>
                <a:cs typeface="Times New Roman"/>
              </a:rPr>
              <a:t> </a:t>
            </a:r>
            <a:r>
              <a:rPr sz="2200" spc="10" dirty="0">
                <a:latin typeface="Symbol"/>
                <a:cs typeface="Symbol"/>
              </a:rPr>
              <a:t></a:t>
            </a:r>
            <a:endParaRPr sz="2200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52407" y="3968684"/>
            <a:ext cx="610870" cy="563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2270">
              <a:lnSpc>
                <a:spcPts val="890"/>
              </a:lnSpc>
              <a:spcBef>
                <a:spcPts val="100"/>
              </a:spcBef>
            </a:pPr>
            <a:r>
              <a:rPr sz="1300" i="1" spc="-50" dirty="0">
                <a:latin typeface="Times New Roman"/>
                <a:cs typeface="Times New Roman"/>
              </a:rPr>
              <a:t>n</a:t>
            </a:r>
            <a:endParaRPr sz="1300">
              <a:latin typeface="Times New Roman"/>
              <a:cs typeface="Times New Roman"/>
            </a:endParaRPr>
          </a:p>
          <a:p>
            <a:pPr marL="38100">
              <a:lnSpc>
                <a:spcPts val="3350"/>
              </a:lnSpc>
            </a:pPr>
            <a:r>
              <a:rPr sz="2200" spc="60" dirty="0">
                <a:latin typeface="Symbol"/>
                <a:cs typeface="Symbol"/>
              </a:rPr>
              <a:t>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5025" spc="-2332" baseline="-8291" dirty="0">
                <a:latin typeface="Symbol"/>
                <a:cs typeface="Symbol"/>
              </a:rPr>
              <a:t></a:t>
            </a:r>
            <a:endParaRPr sz="5025" baseline="-8291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32541" y="4408309"/>
            <a:ext cx="469265" cy="365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300" i="1" dirty="0">
                <a:latin typeface="Times New Roman"/>
                <a:cs typeface="Times New Roman"/>
              </a:rPr>
              <a:t>i</a:t>
            </a:r>
            <a:r>
              <a:rPr sz="1300" dirty="0">
                <a:latin typeface="Symbol"/>
                <a:cs typeface="Symbol"/>
              </a:rPr>
              <a:t></a:t>
            </a:r>
            <a:r>
              <a:rPr sz="1300" dirty="0">
                <a:latin typeface="Times New Roman"/>
                <a:cs typeface="Times New Roman"/>
              </a:rPr>
              <a:t>1</a:t>
            </a:r>
            <a:r>
              <a:rPr sz="1300" spc="370" dirty="0">
                <a:latin typeface="Times New Roman"/>
                <a:cs typeface="Times New Roman"/>
              </a:rPr>
              <a:t> </a:t>
            </a:r>
            <a:r>
              <a:rPr sz="3300" i="1" spc="-75" baseline="10101" dirty="0">
                <a:latin typeface="Times New Roman"/>
                <a:cs typeface="Times New Roman"/>
              </a:rPr>
              <a:t>i</a:t>
            </a:r>
            <a:endParaRPr sz="3300" baseline="10101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22247" y="3140635"/>
            <a:ext cx="11239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i="1" spc="-50" dirty="0">
                <a:latin typeface="Times New Roman"/>
                <a:cs typeface="Times New Roman"/>
              </a:rPr>
              <a:t>n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52407" y="3118681"/>
            <a:ext cx="1379220" cy="803910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90"/>
              </a:spcBef>
            </a:pPr>
            <a:r>
              <a:rPr sz="2200" spc="60" dirty="0">
                <a:latin typeface="Symbol"/>
                <a:cs typeface="Symbol"/>
              </a:rPr>
              <a:t>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5025" spc="142" baseline="-8291" dirty="0">
                <a:latin typeface="Symbol"/>
                <a:cs typeface="Symbol"/>
              </a:rPr>
              <a:t></a:t>
            </a:r>
            <a:r>
              <a:rPr sz="5025" spc="-697" baseline="-8291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E</a:t>
            </a:r>
            <a:r>
              <a:rPr sz="2200" dirty="0">
                <a:latin typeface="Times New Roman"/>
                <a:cs typeface="Times New Roman"/>
              </a:rPr>
              <a:t>[</a:t>
            </a:r>
            <a:r>
              <a:rPr sz="2200" spc="-290" dirty="0">
                <a:latin typeface="Times New Roman"/>
                <a:cs typeface="Times New Roman"/>
              </a:rPr>
              <a:t> </a:t>
            </a:r>
            <a:r>
              <a:rPr sz="2200" i="1" spc="160" dirty="0">
                <a:latin typeface="Times New Roman"/>
                <a:cs typeface="Times New Roman"/>
              </a:rPr>
              <a:t>X</a:t>
            </a:r>
            <a:r>
              <a:rPr sz="1950" i="1" spc="240" baseline="-23504" dirty="0">
                <a:latin typeface="Times New Roman"/>
                <a:cs typeface="Times New Roman"/>
              </a:rPr>
              <a:t>i</a:t>
            </a:r>
            <a:r>
              <a:rPr sz="1950" i="1" spc="22" baseline="-23504" dirty="0">
                <a:latin typeface="Times New Roman"/>
                <a:cs typeface="Times New Roman"/>
              </a:rPr>
              <a:t> </a:t>
            </a:r>
            <a:r>
              <a:rPr sz="2200" spc="-50" dirty="0">
                <a:latin typeface="Times New Roman"/>
                <a:cs typeface="Times New Roman"/>
              </a:rPr>
              <a:t>]</a:t>
            </a:r>
            <a:endParaRPr sz="2200">
              <a:latin typeface="Times New Roman"/>
              <a:cs typeface="Times New Roman"/>
            </a:endParaRPr>
          </a:p>
          <a:p>
            <a:pPr marL="318135">
              <a:lnSpc>
                <a:spcPct val="100000"/>
              </a:lnSpc>
              <a:spcBef>
                <a:spcPts val="155"/>
              </a:spcBef>
            </a:pPr>
            <a:r>
              <a:rPr sz="1300" i="1" spc="-25" dirty="0">
                <a:latin typeface="Times New Roman"/>
                <a:cs typeface="Times New Roman"/>
              </a:rPr>
              <a:t>i</a:t>
            </a:r>
            <a:r>
              <a:rPr sz="1300" spc="-25" dirty="0">
                <a:latin typeface="Symbol"/>
                <a:cs typeface="Symbol"/>
              </a:rPr>
              <a:t></a:t>
            </a:r>
            <a:r>
              <a:rPr sz="1300" spc="-25" dirty="0">
                <a:latin typeface="Times New Roman"/>
                <a:cs typeface="Times New Roman"/>
              </a:rPr>
              <a:t>1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47746" y="2540840"/>
            <a:ext cx="283210" cy="365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300" i="1" dirty="0">
                <a:latin typeface="Times New Roman"/>
                <a:cs typeface="Times New Roman"/>
              </a:rPr>
              <a:t>i</a:t>
            </a:r>
            <a:r>
              <a:rPr sz="1300" i="1" spc="35" dirty="0">
                <a:latin typeface="Times New Roman"/>
                <a:cs typeface="Times New Roman"/>
              </a:rPr>
              <a:t> </a:t>
            </a:r>
            <a:r>
              <a:rPr sz="3300" spc="-644" baseline="-8838" dirty="0">
                <a:latin typeface="Symbol"/>
                <a:cs typeface="Symbol"/>
              </a:rPr>
              <a:t></a:t>
            </a:r>
            <a:r>
              <a:rPr sz="3300" spc="-644" baseline="-37878" dirty="0">
                <a:latin typeface="Symbol"/>
                <a:cs typeface="Symbol"/>
              </a:rPr>
              <a:t></a:t>
            </a:r>
            <a:endParaRPr sz="3300" baseline="-37878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60803" y="2304993"/>
            <a:ext cx="445134" cy="365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300" i="1" spc="97" baseline="-32828" dirty="0">
                <a:latin typeface="Times New Roman"/>
                <a:cs typeface="Times New Roman"/>
              </a:rPr>
              <a:t>X</a:t>
            </a:r>
            <a:r>
              <a:rPr sz="3300" i="1" spc="630" baseline="-32828" dirty="0">
                <a:latin typeface="Times New Roman"/>
                <a:cs typeface="Times New Roman"/>
              </a:rPr>
              <a:t> </a:t>
            </a:r>
            <a:r>
              <a:rPr sz="2200" spc="-50" dirty="0">
                <a:latin typeface="Symbol"/>
                <a:cs typeface="Symbol"/>
              </a:rPr>
              <a:t></a:t>
            </a:r>
            <a:endParaRPr sz="220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66332" y="2582204"/>
            <a:ext cx="127000" cy="365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00" spc="-850" dirty="0">
                <a:latin typeface="Symbol"/>
                <a:cs typeface="Symbol"/>
              </a:rPr>
              <a:t></a:t>
            </a:r>
            <a:endParaRPr sz="220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66332" y="2732503"/>
            <a:ext cx="139700" cy="365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00" spc="-50" dirty="0">
                <a:latin typeface="Symbol"/>
                <a:cs typeface="Symbol"/>
              </a:rPr>
              <a:t></a:t>
            </a:r>
            <a:endParaRPr sz="2200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93581" y="2328166"/>
            <a:ext cx="1544320" cy="535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00" i="1" dirty="0">
                <a:latin typeface="Times New Roman"/>
                <a:cs typeface="Times New Roman"/>
              </a:rPr>
              <a:t>E</a:t>
            </a:r>
            <a:r>
              <a:rPr sz="2200" dirty="0">
                <a:latin typeface="Times New Roman"/>
                <a:cs typeface="Times New Roman"/>
              </a:rPr>
              <a:t>[</a:t>
            </a:r>
            <a:r>
              <a:rPr sz="2200" spc="-290" dirty="0">
                <a:latin typeface="Times New Roman"/>
                <a:cs typeface="Times New Roman"/>
              </a:rPr>
              <a:t> </a:t>
            </a:r>
            <a:r>
              <a:rPr sz="2200" i="1" spc="65" dirty="0">
                <a:latin typeface="Times New Roman"/>
                <a:cs typeface="Times New Roman"/>
              </a:rPr>
              <a:t>X</a:t>
            </a:r>
            <a:r>
              <a:rPr sz="2200" i="1" spc="-1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]</a:t>
            </a:r>
            <a:r>
              <a:rPr sz="2200" spc="-95" dirty="0">
                <a:latin typeface="Times New Roman"/>
                <a:cs typeface="Times New Roman"/>
              </a:rPr>
              <a:t> </a:t>
            </a:r>
            <a:r>
              <a:rPr sz="2200" spc="60" dirty="0">
                <a:latin typeface="Symbol"/>
                <a:cs typeface="Symbol"/>
              </a:rPr>
              <a:t></a:t>
            </a:r>
            <a:r>
              <a:rPr sz="2200" spc="114" dirty="0">
                <a:latin typeface="Times New Roman"/>
                <a:cs typeface="Times New Roman"/>
              </a:rPr>
              <a:t> </a:t>
            </a:r>
            <a:r>
              <a:rPr sz="2200" i="1" spc="65" dirty="0">
                <a:latin typeface="Times New Roman"/>
                <a:cs typeface="Times New Roman"/>
              </a:rPr>
              <a:t>E</a:t>
            </a:r>
            <a:r>
              <a:rPr sz="2200" i="1" spc="-320" dirty="0">
                <a:latin typeface="Times New Roman"/>
                <a:cs typeface="Times New Roman"/>
              </a:rPr>
              <a:t> </a:t>
            </a:r>
            <a:r>
              <a:rPr sz="3300" spc="-742" baseline="32828" dirty="0">
                <a:latin typeface="Symbol"/>
                <a:cs typeface="Symbol"/>
              </a:rPr>
              <a:t></a:t>
            </a:r>
            <a:r>
              <a:rPr sz="5025" spc="-742" baseline="-8291" dirty="0">
                <a:latin typeface="Symbol"/>
                <a:cs typeface="Symbol"/>
              </a:rPr>
              <a:t></a:t>
            </a:r>
            <a:r>
              <a:rPr sz="1950" i="1" spc="-742" baseline="96153" dirty="0">
                <a:latin typeface="Times New Roman"/>
                <a:cs typeface="Times New Roman"/>
              </a:rPr>
              <a:t>n</a:t>
            </a:r>
            <a:endParaRPr sz="1950" baseline="96153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35702" y="2858370"/>
            <a:ext cx="25082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i="1" spc="-25" dirty="0">
                <a:latin typeface="Times New Roman"/>
                <a:cs typeface="Times New Roman"/>
              </a:rPr>
              <a:t>i</a:t>
            </a:r>
            <a:r>
              <a:rPr sz="1300" spc="-25" dirty="0">
                <a:latin typeface="Symbol"/>
                <a:cs typeface="Symbol"/>
              </a:rPr>
              <a:t></a:t>
            </a:r>
            <a:r>
              <a:rPr sz="1300" spc="-25" dirty="0">
                <a:latin typeface="Times New Roman"/>
                <a:cs typeface="Times New Roman"/>
              </a:rPr>
              <a:t>1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70890" y="5627319"/>
            <a:ext cx="41059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9999"/>
                </a:solidFill>
                <a:latin typeface="Times New Roman"/>
                <a:cs typeface="Times New Roman"/>
              </a:rPr>
              <a:t>Expected</a:t>
            </a:r>
            <a:r>
              <a:rPr sz="2400" spc="-35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9999"/>
                </a:solidFill>
                <a:latin typeface="Times New Roman"/>
                <a:cs typeface="Times New Roman"/>
              </a:rPr>
              <a:t>hiring</a:t>
            </a:r>
            <a:r>
              <a:rPr sz="2400" spc="-25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9999"/>
                </a:solidFill>
                <a:latin typeface="Times New Roman"/>
                <a:cs typeface="Times New Roman"/>
              </a:rPr>
              <a:t>cost</a:t>
            </a:r>
            <a:r>
              <a:rPr sz="2400" spc="-10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9999"/>
                </a:solidFill>
                <a:latin typeface="Times New Roman"/>
                <a:cs typeface="Times New Roman"/>
              </a:rPr>
              <a:t>=</a:t>
            </a:r>
            <a:r>
              <a:rPr sz="2400" spc="-5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009999"/>
                </a:solidFill>
                <a:latin typeface="Times New Roman"/>
                <a:cs typeface="Times New Roman"/>
              </a:rPr>
              <a:t>O</a:t>
            </a:r>
            <a:r>
              <a:rPr sz="2400" dirty="0">
                <a:solidFill>
                  <a:srgbClr val="009999"/>
                </a:solidFill>
                <a:latin typeface="Times New Roman"/>
                <a:cs typeface="Times New Roman"/>
              </a:rPr>
              <a:t>(</a:t>
            </a:r>
            <a:r>
              <a:rPr sz="2400" i="1" dirty="0">
                <a:solidFill>
                  <a:srgbClr val="009999"/>
                </a:solidFill>
                <a:latin typeface="Times New Roman"/>
                <a:cs typeface="Times New Roman"/>
              </a:rPr>
              <a:t>c</a:t>
            </a:r>
            <a:r>
              <a:rPr sz="2400" i="1" baseline="-20833" dirty="0">
                <a:solidFill>
                  <a:srgbClr val="009999"/>
                </a:solidFill>
                <a:latin typeface="Times New Roman"/>
                <a:cs typeface="Times New Roman"/>
              </a:rPr>
              <a:t>h</a:t>
            </a:r>
            <a:r>
              <a:rPr sz="2400" dirty="0">
                <a:solidFill>
                  <a:srgbClr val="009999"/>
                </a:solidFill>
                <a:latin typeface="Times New Roman"/>
                <a:cs typeface="Times New Roman"/>
              </a:rPr>
              <a:t>ln</a:t>
            </a:r>
            <a:r>
              <a:rPr sz="2400" spc="-15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2400" i="1" spc="-25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r>
              <a:rPr sz="2400" spc="-25" dirty="0">
                <a:solidFill>
                  <a:srgbClr val="009999"/>
                </a:solidFill>
                <a:latin typeface="Times New Roman"/>
                <a:cs typeface="Times New Roman"/>
              </a:rPr>
              <a:t>).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438400" y="4800600"/>
            <a:ext cx="609600" cy="381000"/>
          </a:xfrm>
          <a:custGeom>
            <a:avLst/>
            <a:gdLst/>
            <a:ahLst/>
            <a:cxnLst/>
            <a:rect l="l" t="t" r="r" b="b"/>
            <a:pathLst>
              <a:path w="609600" h="381000">
                <a:moveTo>
                  <a:pt x="609600" y="0"/>
                </a:moveTo>
                <a:lnTo>
                  <a:pt x="0" y="0"/>
                </a:lnTo>
                <a:lnTo>
                  <a:pt x="0" y="381000"/>
                </a:lnTo>
                <a:lnTo>
                  <a:pt x="609600" y="381000"/>
                </a:lnTo>
                <a:lnTo>
                  <a:pt x="609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667380" y="483603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4175" rIns="0" bIns="0" rtlCol="0">
            <a:spAutoFit/>
          </a:bodyPr>
          <a:lstStyle/>
          <a:p>
            <a:pPr marL="1678939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Amortized</a:t>
            </a:r>
            <a:r>
              <a:rPr sz="4000" spc="-145" dirty="0"/>
              <a:t> </a:t>
            </a:r>
            <a:r>
              <a:rPr sz="4000" spc="-10" dirty="0"/>
              <a:t>Analysis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625853"/>
            <a:ext cx="8020684" cy="39039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32969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structures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subjected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sequence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of </a:t>
            </a:r>
            <a:r>
              <a:rPr sz="2400" dirty="0">
                <a:latin typeface="Arial MT"/>
                <a:cs typeface="Arial MT"/>
              </a:rPr>
              <a:t>operations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rather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operation.</a:t>
            </a:r>
            <a:endParaRPr sz="24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580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In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sequence,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operation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possibly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performs</a:t>
            </a:r>
            <a:r>
              <a:rPr sz="2400" spc="6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certain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modifications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have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impact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run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time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next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operation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sequence.</a:t>
            </a:r>
            <a:endParaRPr sz="2400">
              <a:latin typeface="Arial MT"/>
              <a:cs typeface="Arial MT"/>
            </a:endParaRPr>
          </a:p>
          <a:p>
            <a:pPr marL="353060" marR="585470" indent="-340360" algn="just">
              <a:lnSpc>
                <a:spcPct val="100000"/>
              </a:lnSpc>
              <a:spcBef>
                <a:spcPts val="575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One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way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assessing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worst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case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run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time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	</a:t>
            </a:r>
            <a:r>
              <a:rPr sz="2400" dirty="0">
                <a:latin typeface="Arial MT"/>
                <a:cs typeface="Arial MT"/>
              </a:rPr>
              <a:t>entire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sequence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add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worst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case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efficiencies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for 	</a:t>
            </a:r>
            <a:r>
              <a:rPr sz="2400" dirty="0">
                <a:latin typeface="Arial MT"/>
                <a:cs typeface="Arial MT"/>
              </a:rPr>
              <a:t>each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operation.</a:t>
            </a:r>
            <a:endParaRPr sz="2400">
              <a:latin typeface="Arial MT"/>
              <a:cs typeface="Arial MT"/>
            </a:endParaRPr>
          </a:p>
          <a:p>
            <a:pPr marL="353060" marR="377825" indent="-340360" algn="just">
              <a:lnSpc>
                <a:spcPct val="100000"/>
              </a:lnSpc>
              <a:spcBef>
                <a:spcPts val="575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may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result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excessively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large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unrealistic 	</a:t>
            </a:r>
            <a:r>
              <a:rPr sz="2400" dirty="0">
                <a:latin typeface="Arial MT"/>
                <a:cs typeface="Arial MT"/>
              </a:rPr>
              <a:t>time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complexity.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625853"/>
            <a:ext cx="8003540" cy="2538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39065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Amortized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analysis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concentrates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finding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average </a:t>
            </a:r>
            <a:r>
              <a:rPr sz="2400" dirty="0">
                <a:latin typeface="Arial MT"/>
                <a:cs typeface="Arial MT"/>
              </a:rPr>
              <a:t>complexity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worst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case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sequence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operations.</a:t>
            </a:r>
            <a:endParaRPr sz="2400">
              <a:latin typeface="Arial MT"/>
              <a:cs typeface="Arial MT"/>
            </a:endParaRPr>
          </a:p>
          <a:p>
            <a:pPr marL="355600" marR="84455" indent="-342900">
              <a:lnSpc>
                <a:spcPct val="100000"/>
              </a:lnSpc>
              <a:spcBef>
                <a:spcPts val="580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Amortized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analysis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considers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interdependence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between operations.</a:t>
            </a:r>
            <a:endParaRPr sz="2400">
              <a:latin typeface="Arial MT"/>
              <a:cs typeface="Arial MT"/>
            </a:endParaRPr>
          </a:p>
          <a:p>
            <a:pPr marL="756285" marR="5080" indent="-287020">
              <a:lnSpc>
                <a:spcPct val="100000"/>
              </a:lnSpc>
              <a:spcBef>
                <a:spcPts val="480"/>
              </a:spcBef>
              <a:tabLst>
                <a:tab pos="756285" algn="l"/>
              </a:tabLst>
            </a:pPr>
            <a:r>
              <a:rPr sz="2000" spc="-50" dirty="0">
                <a:latin typeface="Arial MT"/>
                <a:cs typeface="Arial MT"/>
              </a:rPr>
              <a:t>–</a:t>
            </a:r>
            <a:r>
              <a:rPr sz="2000" dirty="0">
                <a:latin typeface="Arial MT"/>
                <a:cs typeface="Arial MT"/>
              </a:rPr>
              <a:t>	For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example,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if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array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sorted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only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very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few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new </a:t>
            </a:r>
            <a:r>
              <a:rPr sz="2000" dirty="0">
                <a:latin typeface="Arial MT"/>
                <a:cs typeface="Arial MT"/>
              </a:rPr>
              <a:t>elements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added,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then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re-</a:t>
            </a:r>
            <a:r>
              <a:rPr sz="2000" dirty="0">
                <a:latin typeface="Arial MT"/>
                <a:cs typeface="Arial MT"/>
              </a:rPr>
              <a:t>sorting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this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array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will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must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faster </a:t>
            </a:r>
            <a:r>
              <a:rPr sz="2000" dirty="0">
                <a:latin typeface="Arial MT"/>
                <a:cs typeface="Arial MT"/>
              </a:rPr>
              <a:t>than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sorting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first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time.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1849577"/>
            <a:ext cx="8225155" cy="405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b="1" dirty="0">
                <a:solidFill>
                  <a:srgbClr val="660033"/>
                </a:solidFill>
                <a:latin typeface="Arial"/>
                <a:cs typeface="Arial"/>
              </a:rPr>
              <a:t>AMORTIZED</a:t>
            </a:r>
            <a:r>
              <a:rPr sz="3200" b="1" spc="-40" dirty="0">
                <a:solidFill>
                  <a:srgbClr val="660033"/>
                </a:solidFill>
                <a:latin typeface="Arial"/>
                <a:cs typeface="Arial"/>
              </a:rPr>
              <a:t> </a:t>
            </a:r>
            <a:r>
              <a:rPr sz="3200" b="1" spc="-10" dirty="0">
                <a:solidFill>
                  <a:srgbClr val="660033"/>
                </a:solidFill>
                <a:latin typeface="Arial"/>
                <a:cs typeface="Arial"/>
              </a:rPr>
              <a:t>ANALYSIS:</a:t>
            </a:r>
            <a:endParaRPr sz="3200">
              <a:latin typeface="Arial"/>
              <a:cs typeface="Arial"/>
            </a:endParaRPr>
          </a:p>
          <a:p>
            <a:pPr marL="88900" marR="1376680">
              <a:lnSpc>
                <a:spcPct val="100000"/>
              </a:lnSpc>
              <a:spcBef>
                <a:spcPts val="3365"/>
              </a:spcBef>
            </a:pPr>
            <a:r>
              <a:rPr sz="2500" spc="-60" dirty="0">
                <a:latin typeface="Times New Roman"/>
                <a:cs typeface="Times New Roman"/>
              </a:rPr>
              <a:t>You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try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to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estimate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an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upper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bound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of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b="1" spc="-10" dirty="0">
                <a:latin typeface="Times New Roman"/>
                <a:cs typeface="Times New Roman"/>
              </a:rPr>
              <a:t>total</a:t>
            </a:r>
            <a:r>
              <a:rPr sz="2500" b="1" spc="62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work</a:t>
            </a:r>
            <a:r>
              <a:rPr sz="2500" b="1" spc="-8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T(n)</a:t>
            </a:r>
            <a:r>
              <a:rPr sz="2500" b="1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required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for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sequence</a:t>
            </a:r>
            <a:r>
              <a:rPr sz="2500" spc="-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of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n</a:t>
            </a:r>
            <a:r>
              <a:rPr sz="2500" b="1" spc="-4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operations…</a:t>
            </a:r>
            <a:endParaRPr sz="2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2500">
              <a:latin typeface="Times New Roman"/>
              <a:cs typeface="Times New Roman"/>
            </a:endParaRPr>
          </a:p>
          <a:p>
            <a:pPr marL="88900" marR="5080">
              <a:lnSpc>
                <a:spcPct val="100000"/>
              </a:lnSpc>
            </a:pPr>
            <a:r>
              <a:rPr sz="2500" dirty="0">
                <a:latin typeface="Times New Roman"/>
                <a:cs typeface="Times New Roman"/>
              </a:rPr>
              <a:t>Some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operations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may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be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cheap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some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may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be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expensive. </a:t>
            </a:r>
            <a:r>
              <a:rPr sz="2500" dirty="0">
                <a:latin typeface="Times New Roman"/>
                <a:cs typeface="Times New Roman"/>
              </a:rPr>
              <a:t>Overall,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your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algorithm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does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T(n)</a:t>
            </a:r>
            <a:r>
              <a:rPr sz="2500" b="1" spc="-6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of</a:t>
            </a:r>
            <a:r>
              <a:rPr sz="2500" b="1" spc="-5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work</a:t>
            </a:r>
            <a:r>
              <a:rPr sz="2500" b="1" spc="-5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for</a:t>
            </a:r>
            <a:r>
              <a:rPr sz="2500" b="1" spc="-9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n</a:t>
            </a:r>
            <a:r>
              <a:rPr sz="2500" b="1" spc="-6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operations</a:t>
            </a:r>
            <a:r>
              <a:rPr sz="2500" b="1" spc="-40" dirty="0">
                <a:latin typeface="Times New Roman"/>
                <a:cs typeface="Times New Roman"/>
              </a:rPr>
              <a:t> </a:t>
            </a:r>
            <a:r>
              <a:rPr sz="2500" b="1" spc="-50" dirty="0">
                <a:latin typeface="Times New Roman"/>
                <a:cs typeface="Times New Roman"/>
              </a:rPr>
              <a:t>…</a:t>
            </a:r>
            <a:endParaRPr sz="2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2500">
              <a:latin typeface="Times New Roman"/>
              <a:cs typeface="Times New Roman"/>
            </a:endParaRPr>
          </a:p>
          <a:p>
            <a:pPr marL="88900" marR="346710">
              <a:lnSpc>
                <a:spcPct val="100400"/>
              </a:lnSpc>
              <a:tabLst>
                <a:tab pos="1740535" algn="l"/>
              </a:tabLst>
            </a:pPr>
            <a:r>
              <a:rPr sz="2500" dirty="0">
                <a:latin typeface="Times New Roman"/>
                <a:cs typeface="Times New Roman"/>
              </a:rPr>
              <a:t>Therefore,</a:t>
            </a:r>
            <a:r>
              <a:rPr sz="2500" spc="-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by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simple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reasoning,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900" b="1" i="1" dirty="0">
                <a:latin typeface="Times New Roman"/>
                <a:cs typeface="Times New Roman"/>
              </a:rPr>
              <a:t>amortized</a:t>
            </a:r>
            <a:r>
              <a:rPr sz="2900" b="1" i="1" spc="-90" dirty="0">
                <a:latin typeface="Times New Roman"/>
                <a:cs typeface="Times New Roman"/>
              </a:rPr>
              <a:t> </a:t>
            </a:r>
            <a:r>
              <a:rPr sz="2900" b="1" i="1" dirty="0">
                <a:latin typeface="Times New Roman"/>
                <a:cs typeface="Times New Roman"/>
              </a:rPr>
              <a:t>cost</a:t>
            </a:r>
            <a:r>
              <a:rPr sz="2900" b="1" i="1" spc="-17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of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imes New Roman"/>
                <a:cs typeface="Times New Roman"/>
              </a:rPr>
              <a:t>each </a:t>
            </a:r>
            <a:r>
              <a:rPr sz="2500" dirty="0">
                <a:latin typeface="Times New Roman"/>
                <a:cs typeface="Times New Roman"/>
              </a:rPr>
              <a:t>operation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Times New Roman"/>
                <a:cs typeface="Times New Roman"/>
              </a:rPr>
              <a:t>is</a:t>
            </a:r>
            <a:r>
              <a:rPr sz="2500" dirty="0">
                <a:latin typeface="Times New Roman"/>
                <a:cs typeface="Times New Roman"/>
              </a:rPr>
              <a:t>	</a:t>
            </a:r>
            <a:r>
              <a:rPr sz="2500" b="1" spc="-10" dirty="0">
                <a:latin typeface="Times New Roman"/>
                <a:cs typeface="Times New Roman"/>
              </a:rPr>
              <a:t>T(n)/n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159" rIns="0" bIns="0" rtlCol="0">
            <a:spAutoFit/>
          </a:bodyPr>
          <a:lstStyle/>
          <a:p>
            <a:pPr marL="1761489">
              <a:lnSpc>
                <a:spcPct val="100000"/>
              </a:lnSpc>
              <a:spcBef>
                <a:spcPts val="100"/>
              </a:spcBef>
            </a:pPr>
            <a:r>
              <a:rPr dirty="0"/>
              <a:t>Amortized </a:t>
            </a:r>
            <a:r>
              <a:rPr spc="-10" dirty="0"/>
              <a:t>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1581</TotalTime>
  <Words>7020</Words>
  <Application>Microsoft Office PowerPoint</Application>
  <PresentationFormat>On-screen Show (4:3)</PresentationFormat>
  <Paragraphs>1008</Paragraphs>
  <Slides>90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90</vt:i4>
      </vt:variant>
    </vt:vector>
  </HeadingPairs>
  <TitlesOfParts>
    <vt:vector size="100" baseType="lpstr">
      <vt:lpstr>Arial</vt:lpstr>
      <vt:lpstr>Arial MT</vt:lpstr>
      <vt:lpstr>Calibri</vt:lpstr>
      <vt:lpstr>StarSymbol</vt:lpstr>
      <vt:lpstr>Symbol</vt:lpstr>
      <vt:lpstr>Tahoma</vt:lpstr>
      <vt:lpstr>Times</vt:lpstr>
      <vt:lpstr>Times New Roman</vt:lpstr>
      <vt:lpstr>Wingdings</vt:lpstr>
      <vt:lpstr>Office Theme</vt:lpstr>
      <vt:lpstr>Design and Analysis of Algorithms</vt:lpstr>
      <vt:lpstr>Syllabus:</vt:lpstr>
      <vt:lpstr>PowerPoint Presentation</vt:lpstr>
      <vt:lpstr>PowerPoint Presentation</vt:lpstr>
      <vt:lpstr>PowerPoint Presentation</vt:lpstr>
      <vt:lpstr>Course Outcomes</vt:lpstr>
      <vt:lpstr>Unit-I Chapter-1</vt:lpstr>
      <vt:lpstr>Algorithm</vt:lpstr>
      <vt:lpstr>PowerPoint Presentation</vt:lpstr>
      <vt:lpstr>PowerPoint Presentation</vt:lpstr>
      <vt:lpstr>PowerPoint Presentation</vt:lpstr>
      <vt:lpstr>Pseudo code for expressing algorithms</vt:lpstr>
      <vt:lpstr>node = record</vt:lpstr>
      <vt:lpstr>PowerPoint Presentation</vt:lpstr>
      <vt:lpstr>The general form of a while loop:</vt:lpstr>
      <vt:lpstr>The general form of a for loop:</vt:lpstr>
      <vt:lpstr>The for loop can be implemented as a while loop as follows:</vt:lpstr>
      <vt:lpstr>PowerPoint Presentation</vt:lpstr>
      <vt:lpstr>8. A conditional statement has the following forms:</vt:lpstr>
      <vt:lpstr>10. Procedure or function starts with the word</vt:lpstr>
      <vt:lpstr>Ex:-Algorithm that finds and returns the maximum of n given numbers</vt:lpstr>
      <vt:lpstr>Ex:-Write an algorithm to sort an array of n integers using bubble sort.</vt:lpstr>
      <vt:lpstr>Performance Analysis (machine independent)</vt:lpstr>
      <vt:lpstr>How to achieve them?</vt:lpstr>
      <vt:lpstr>Space Complexity</vt:lpstr>
      <vt:lpstr>PowerPoint Presentation</vt:lpstr>
      <vt:lpstr>PowerPoint Presentation</vt:lpstr>
      <vt:lpstr>PowerPoint Presentation</vt:lpstr>
      <vt:lpstr>Recursive algorithm</vt:lpstr>
      <vt:lpstr>PowerPoint Presentation</vt:lpstr>
      <vt:lpstr>Summary of space complexity</vt:lpstr>
      <vt:lpstr>PowerPoint Presentation</vt:lpstr>
      <vt:lpstr>Contd..</vt:lpstr>
      <vt:lpstr>PowerPoint Presentation</vt:lpstr>
      <vt:lpstr>Example1</vt:lpstr>
      <vt:lpstr>Example2</vt:lpstr>
      <vt:lpstr>Example3</vt:lpstr>
      <vt:lpstr>Example4</vt:lpstr>
      <vt:lpstr>Contd..</vt:lpstr>
      <vt:lpstr>PowerPoint Presentation</vt:lpstr>
      <vt:lpstr>PowerPoint Presentation</vt:lpstr>
      <vt:lpstr>Contd..</vt:lpstr>
      <vt:lpstr>PowerPoint Presentation</vt:lpstr>
      <vt:lpstr>PowerPoint Presentation</vt:lpstr>
      <vt:lpstr>PowerPoint Presentation</vt:lpstr>
      <vt:lpstr>Method-I: Introduce variable count into programs</vt:lpstr>
      <vt:lpstr>Ex:- Addition of two m×n matrices</vt:lpstr>
      <vt:lpstr>EX:- Recursive sum of n numbers</vt:lpstr>
      <vt:lpstr>PowerPoint Presentation</vt:lpstr>
      <vt:lpstr>PowerPoint Presentation</vt:lpstr>
      <vt:lpstr>Method-II: Tabular method</vt:lpstr>
      <vt:lpstr>PowerPoint Presentation</vt:lpstr>
      <vt:lpstr>PowerPoint Presentation</vt:lpstr>
      <vt:lpstr>Best, Worst, Average Cases</vt:lpstr>
      <vt:lpstr>Contd..</vt:lpstr>
      <vt:lpstr>Inexactness of step count.</vt:lpstr>
      <vt:lpstr>Asymptotic efficiency</vt:lpstr>
      <vt:lpstr>Rate of Growth</vt:lpstr>
      <vt:lpstr>PowerPoint Presentation</vt:lpstr>
      <vt:lpstr>Asymptotic Notations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Big-Oh, Theta, Omega and Little-oh</vt:lpstr>
      <vt:lpstr>Functions ordered by growth rate</vt:lpstr>
      <vt:lpstr>PowerPoint Presentation</vt:lpstr>
      <vt:lpstr>PowerPoint Presentation</vt:lpstr>
      <vt:lpstr>PowerPoint Presentation</vt:lpstr>
      <vt:lpstr>PowerPoint Presentation</vt:lpstr>
      <vt:lpstr>Probabilistic analysis</vt:lpstr>
      <vt:lpstr>The Hiring Problem</vt:lpstr>
      <vt:lpstr>Pseudo-code to Model the Scenario</vt:lpstr>
      <vt:lpstr>Best-Case Analysis</vt:lpstr>
      <vt:lpstr>Worst-case Analysis</vt:lpstr>
      <vt:lpstr>Probabilistic analysis</vt:lpstr>
      <vt:lpstr>Hiring problem-Average –case Analysis</vt:lpstr>
      <vt:lpstr>Indicator Random Variable</vt:lpstr>
      <vt:lpstr>Indicator RV – Example1</vt:lpstr>
      <vt:lpstr>Indicator RV – Example2</vt:lpstr>
      <vt:lpstr>Back to the Hiring Problem</vt:lpstr>
      <vt:lpstr>Probability of Hiring i-th Applicant</vt:lpstr>
      <vt:lpstr>Analysis of the Hiring Problem</vt:lpstr>
      <vt:lpstr>Amortized Analysis</vt:lpstr>
      <vt:lpstr>PowerPoint Presentation</vt:lpstr>
      <vt:lpstr>Amortized Analysis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Vijay</dc:creator>
  <cp:lastModifiedBy>Sudha Dubba</cp:lastModifiedBy>
  <cp:revision>2</cp:revision>
  <dcterms:created xsi:type="dcterms:W3CDTF">2025-12-21T22:01:51Z</dcterms:created>
  <dcterms:modified xsi:type="dcterms:W3CDTF">2026-01-03T03:32:49Z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2024-02-08T00:00:00Z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2025-12-21T00:00:00Z</vt:filetime>
  </property>
  <property fmtid="{D5CDD505-2E9C-101B-9397-08002B2CF9AE}" pid="5" name="Producer">
    <vt:lpwstr>Microsoft® PowerPoint® 2019</vt:lpwstr>
  </property>
</Properties>
</file>